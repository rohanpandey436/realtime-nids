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is a real-time network intrusion detection system. It captures live packets, detects attacks with clear rules, and shows alerts instantly on a web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Homes, hostels and college labs have almost no monitoring. Port scans, SYN floods and ARP spoofing leave clear patterns in packets, but nobody watches them. Existing tools are manual, need experts, or cannot explain their alerts. So I need something light, explainable and real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my six objectives. The first three are working today: live capture, port scan detection and the live dashboard. SYN flood and ARP spoofing detection and the testing come in the next round.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Wireshark shows packets but does not warn. Snort and Suricata warn but need an expert. Zeek has no live view, and machine learning cannot explain itself. Mine is small, explains every alert and shows it live. It does not replace Snort; it is built for small networks and learning.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Packets come from the Wi-Fi card and the loopback adapter. The Python sensor captures them with Scapy through Npcap and passes the fields to the detection rules. Alerts go as JSON by HTTP POST to the Node.js server, which saves them in alerts.log and pushes them to the dashboard through Socket.IO.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Npcap lets Windows programs read raw packets. Scapy splits each packet into layers. The rules use only Python's standard library. Node.js with Express receives alerts, Socket.IO pushes them live, and the dashboard is plain HTML, CSS and JavaScript.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follow the incremental model. Round 1, finished today, gives capture, port scan detection, the server and the dashboard. Round 2 adds SYN flood and ARP spoofing. Round 3 is testing and the report. Inside the system, each packet is captured, counted, checked by the rules, delivered to the server and displayed.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0 shows the whole system as one process between the network hosts and the administrator. Level 1 breaks it into capture, count, detect, receive and log, and show dashboard, with two data stores: the SYN history in memory and the alert log file.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administrator starts monitoring and watches counts and alerts. The attacker's traffic triggers detection, which notifies the administrator. I do not use a database yet: recent SYN packets stay in memory for speed, and every alert is saved as a JSON line in alerts.log. SQLite is planned for searching alert history.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source IP I keep the SYN packets of the last 5 seconds in a deque. If they reach more than 15 different ports, I raise an alert and stay quiet about that IP for 30 seconds. Only SYN packets count, because a scanner sends one SYN to each port.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screenshot taken this morning during a test scan. The full path from network card to browser works, with one of the three rules. Now I will show it live: start the server, start the sensor, run the scan script, and the red alert appears.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 or show any part of the 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777240"/>
            <a:ext cx="7315200" cy="365760"/>
          </a:xfrm>
          <a:prstGeom prst="rect">
            <a:avLst/>
          </a:prstGeom>
          <a:noFill/>
        </p:spPr>
        <p:txBody>
          <a:bodyPr wrap="square" lIns="0" rIns="0" tIns="0" bIns="0" anchor="t">
            <a:spAutoFit/>
          </a:bodyPr>
          <a:lstStyle/>
          <a:p>
            <a:pPr algn="l">
              <a:spcAft>
                <a:spcPts val="0"/>
              </a:spcAft>
            </a:pPr>
            <a:r>
              <a:rPr sz="1400" b="1" i="0">
                <a:solidFill>
                  <a:srgbClr val="9FB3D1"/>
                </a:solidFill>
                <a:latin typeface="Calibri"/>
              </a:rPr>
              <a:t>MINI PROJECT  |  EVALUATION 1</a:t>
            </a:r>
          </a:p>
        </p:txBody>
      </p:sp>
      <p:sp>
        <p:nvSpPr>
          <p:cNvPr id="3" name="TextBox 2"/>
          <p:cNvSpPr txBox="1"/>
          <p:nvPr/>
        </p:nvSpPr>
        <p:spPr>
          <a:xfrm>
            <a:off x="731520" y="1280160"/>
            <a:ext cx="7680960" cy="1371600"/>
          </a:xfrm>
          <a:prstGeom prst="rect">
            <a:avLst/>
          </a:prstGeom>
          <a:noFill/>
        </p:spPr>
        <p:txBody>
          <a:bodyPr wrap="square" lIns="0" rIns="0" tIns="0" bIns="0" anchor="t">
            <a:spAutoFit/>
          </a:bodyPr>
          <a:lstStyle/>
          <a:p>
            <a:pPr algn="l">
              <a:lnSpc>
                <a:spcPct val="95000"/>
              </a:lnSpc>
              <a:spcAft>
                <a:spcPts val="0"/>
              </a:spcAft>
            </a:pPr>
            <a:r>
              <a:rPr sz="4000" b="1" i="0">
                <a:solidFill>
                  <a:srgbClr val="FFFFFF"/>
                </a:solidFill>
                <a:latin typeface="Calibri"/>
              </a:rPr>
              <a:t>Real-Time Network Intrusion Detection System</a:t>
            </a:r>
          </a:p>
        </p:txBody>
      </p:sp>
      <p:sp>
        <p:nvSpPr>
          <p:cNvPr id="4" name="TextBox 3"/>
          <p:cNvSpPr txBox="1"/>
          <p:nvPr/>
        </p:nvSpPr>
        <p:spPr>
          <a:xfrm>
            <a:off x="731520" y="2697480"/>
            <a:ext cx="7680960" cy="457200"/>
          </a:xfrm>
          <a:prstGeom prst="rect">
            <a:avLst/>
          </a:prstGeom>
          <a:noFill/>
        </p:spPr>
        <p:txBody>
          <a:bodyPr wrap="square" lIns="0" rIns="0" tIns="0" bIns="0" anchor="t">
            <a:spAutoFit/>
          </a:bodyPr>
          <a:lstStyle/>
          <a:p>
            <a:pPr algn="l">
              <a:spcAft>
                <a:spcPts val="0"/>
              </a:spcAft>
            </a:pPr>
            <a:r>
              <a:rPr sz="2200" b="0" i="0">
                <a:solidFill>
                  <a:srgbClr val="C9D6EA"/>
                </a:solidFill>
                <a:latin typeface="Calibri"/>
              </a:rPr>
              <a:t>using Packet Inspection and Web-Based Alerting</a:t>
            </a:r>
          </a:p>
        </p:txBody>
      </p:sp>
      <p:sp>
        <p:nvSpPr>
          <p:cNvPr id="5" name="TextBox 4"/>
          <p:cNvSpPr txBox="1"/>
          <p:nvPr/>
        </p:nvSpPr>
        <p:spPr>
          <a:xfrm>
            <a:off x="731520" y="3657600"/>
            <a:ext cx="7315200" cy="1188720"/>
          </a:xfrm>
          <a:prstGeom prst="rect">
            <a:avLst/>
          </a:prstGeom>
          <a:noFill/>
        </p:spPr>
        <p:txBody>
          <a:bodyPr wrap="square" lIns="0" rIns="0" tIns="0" bIns="0" anchor="t">
            <a:spAutoFit/>
          </a:bodyPr>
          <a:lstStyle/>
          <a:p>
            <a:pPr algn="l">
              <a:spcAft>
                <a:spcPts val="400"/>
              </a:spcAft>
            </a:pPr>
            <a:r>
              <a:rPr sz="2200" b="1" i="0">
                <a:solidFill>
                  <a:srgbClr val="FFFFFF"/>
                </a:solidFill>
                <a:latin typeface="Calibri"/>
              </a:rPr>
              <a:t>Rohan Pandey</a:t>
            </a:r>
          </a:p>
          <a:p>
            <a:pPr algn="l">
              <a:spcAft>
                <a:spcPts val="400"/>
              </a:spcAft>
            </a:pPr>
            <a:r>
              <a:rPr sz="1600" b="0" i="0">
                <a:solidFill>
                  <a:srgbClr val="C9D6EA"/>
                </a:solidFill>
                <a:latin typeface="Calibri"/>
              </a:rPr>
              <a:t>Roll No. 2501720100117  |  Section 2D</a:t>
            </a:r>
          </a:p>
          <a:p>
            <a:pPr algn="l">
              <a:spcAft>
                <a:spcPts val="400"/>
              </a:spcAft>
            </a:pPr>
            <a:r>
              <a:rPr sz="1600" b="0" i="0">
                <a:solidFill>
                  <a:srgbClr val="C9D6EA"/>
                </a:solidFill>
                <a:latin typeface="Calibri"/>
              </a:rPr>
              <a:t>Guide: Mr. Vikas</a:t>
            </a:r>
          </a:p>
        </p:txBody>
      </p:sp>
      <p:sp>
        <p:nvSpPr>
          <p:cNvPr id="6" name="TextBox 5"/>
          <p:cNvSpPr txBox="1"/>
          <p:nvPr/>
        </p:nvSpPr>
        <p:spPr>
          <a:xfrm>
            <a:off x="731520" y="5257800"/>
            <a:ext cx="7680960" cy="1005840"/>
          </a:xfrm>
          <a:prstGeom prst="rect">
            <a:avLst/>
          </a:prstGeom>
          <a:noFill/>
        </p:spPr>
        <p:txBody>
          <a:bodyPr wrap="square" lIns="0" rIns="0" tIns="0" bIns="0" anchor="t">
            <a:spAutoFit/>
          </a:bodyPr>
          <a:lstStyle/>
          <a:p>
            <a:pPr algn="l">
              <a:spcAft>
                <a:spcPts val="200"/>
              </a:spcAft>
            </a:pPr>
            <a:r>
              <a:rPr sz="1400" b="0" i="0">
                <a:solidFill>
                  <a:srgbClr val="B8C4D9"/>
                </a:solidFill>
                <a:latin typeface="Calibri"/>
              </a:rPr>
              <a:t>Department of Computer Science &amp; Engineering</a:t>
            </a:r>
          </a:p>
          <a:p>
            <a:pPr algn="l">
              <a:spcAft>
                <a:spcPts val="200"/>
              </a:spcAft>
            </a:pPr>
            <a:r>
              <a:rPr sz="1400" b="0" i="0">
                <a:solidFill>
                  <a:srgbClr val="B8C4D9"/>
                </a:solidFill>
                <a:latin typeface="Calibri"/>
              </a:rPr>
              <a:t>Lloyd Institute of Management and Technology, Greater Noida</a:t>
            </a:r>
          </a:p>
          <a:p>
            <a:pPr algn="l">
              <a:spcAft>
                <a:spcPts val="200"/>
              </a:spcAft>
            </a:pPr>
            <a:r>
              <a:rPr sz="1400" b="0" i="0">
                <a:solidFill>
                  <a:srgbClr val="B8C4D9"/>
                </a:solidFill>
                <a:latin typeface="Calibri"/>
              </a:rPr>
              <a:t>Session 2026-27</a:t>
            </a:r>
          </a:p>
        </p:txBody>
      </p:sp>
      <p:sp>
        <p:nvSpPr>
          <p:cNvPr id="7" name="Oval 6"/>
          <p:cNvSpPr/>
          <p:nvPr/>
        </p:nvSpPr>
        <p:spPr>
          <a:xfrm>
            <a:off x="8915400" y="1691640"/>
            <a:ext cx="2514600" cy="25146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loyd_logo.png"/>
          <p:cNvPicPr>
            <a:picLocks noChangeAspect="1"/>
          </p:cNvPicPr>
          <p:nvPr/>
        </p:nvPicPr>
        <p:blipFill>
          <a:blip r:embed="rId2"/>
          <a:stretch>
            <a:fillRect/>
          </a:stretch>
        </p:blipFill>
        <p:spPr>
          <a:xfrm>
            <a:off x="9299448" y="2075688"/>
            <a:ext cx="1746504" cy="17350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Problem Statement</a:t>
            </a:r>
          </a:p>
        </p:txBody>
      </p:sp>
      <p:sp>
        <p:nvSpPr>
          <p:cNvPr id="3" name="TextBox 2"/>
          <p:cNvSpPr txBox="1"/>
          <p:nvPr/>
        </p:nvSpPr>
        <p:spPr>
          <a:xfrm>
            <a:off x="548640" y="1554480"/>
            <a:ext cx="5760720" cy="1188720"/>
          </a:xfrm>
          <a:prstGeom prst="rect">
            <a:avLst/>
          </a:prstGeom>
          <a:noFill/>
        </p:spPr>
        <p:txBody>
          <a:bodyPr wrap="square" lIns="0" rIns="0" tIns="0" bIns="0" anchor="t">
            <a:spAutoFit/>
          </a:bodyPr>
          <a:lstStyle/>
          <a:p>
            <a:pPr algn="l">
              <a:spcAft>
                <a:spcPts val="0"/>
              </a:spcAft>
            </a:pPr>
            <a:r>
              <a:rPr sz="2400" b="1" i="0">
                <a:solidFill>
                  <a:srgbClr val="14213D"/>
                </a:solidFill>
                <a:latin typeface="Calibri"/>
              </a:rPr>
              <a:t>Small networks have no real-time way to see attacks as they happen.</a:t>
            </a:r>
          </a:p>
        </p:txBody>
      </p:sp>
      <p:sp>
        <p:nvSpPr>
          <p:cNvPr id="4" name="TextBox 3"/>
          <p:cNvSpPr txBox="1"/>
          <p:nvPr/>
        </p:nvSpPr>
        <p:spPr>
          <a:xfrm>
            <a:off x="548640" y="3063240"/>
            <a:ext cx="5760720" cy="2926080"/>
          </a:xfrm>
          <a:prstGeom prst="rect">
            <a:avLst/>
          </a:prstGeom>
          <a:noFill/>
        </p:spPr>
        <p:txBody>
          <a:bodyPr wrap="square" lIns="0" rIns="0" tIns="0" bIns="0" anchor="t">
            <a:spAutoFit/>
          </a:bodyPr>
          <a:lstStyle/>
          <a:p>
            <a:pPr algn="l">
              <a:spcAft>
                <a:spcPts val="1600"/>
              </a:spcAft>
            </a:pPr>
            <a:r>
              <a:rPr sz="1900" b="1" i="0">
                <a:solidFill>
                  <a:srgbClr val="14213D"/>
                </a:solidFill>
                <a:latin typeface="Calibri"/>
              </a:rPr>
              <a:t>Where: </a:t>
            </a:r>
            <a:r>
              <a:rPr sz="1900" b="0" i="0">
                <a:solidFill>
                  <a:srgbClr val="1F2937"/>
                </a:solidFill>
                <a:latin typeface="Calibri"/>
              </a:rPr>
              <a:t>homes, hostels and college labs</a:t>
            </a:r>
          </a:p>
          <a:p>
            <a:pPr algn="l">
              <a:spcAft>
                <a:spcPts val="1600"/>
              </a:spcAft>
            </a:pPr>
            <a:r>
              <a:rPr sz="1900" b="1" i="0">
                <a:solidFill>
                  <a:srgbClr val="14213D"/>
                </a:solidFill>
                <a:latin typeface="Calibri"/>
              </a:rPr>
              <a:t>Today: </a:t>
            </a:r>
            <a:r>
              <a:rPr sz="1900" b="0" i="0">
                <a:solidFill>
                  <a:srgbClr val="1F2937"/>
                </a:solidFill>
                <a:latin typeface="Calibri"/>
              </a:rPr>
              <a:t>attacks pass unseen in the packets</a:t>
            </a:r>
          </a:p>
          <a:p>
            <a:pPr algn="l">
              <a:spcAft>
                <a:spcPts val="1600"/>
              </a:spcAft>
            </a:pPr>
            <a:r>
              <a:rPr sz="1900" b="1" i="0">
                <a:solidFill>
                  <a:srgbClr val="14213D"/>
                </a:solidFill>
                <a:latin typeface="Calibri"/>
              </a:rPr>
              <a:t>Gap: </a:t>
            </a:r>
            <a:r>
              <a:rPr sz="1900" b="0" i="0">
                <a:solidFill>
                  <a:srgbClr val="1F2937"/>
                </a:solidFill>
                <a:latin typeface="Calibri"/>
              </a:rPr>
              <a:t>tools are manual, complex or unexplainable</a:t>
            </a:r>
          </a:p>
          <a:p>
            <a:pPr algn="l">
              <a:spcAft>
                <a:spcPts val="1600"/>
              </a:spcAft>
            </a:pPr>
            <a:r>
              <a:rPr sz="1900" b="1" i="0">
                <a:solidFill>
                  <a:srgbClr val="14213D"/>
                </a:solidFill>
                <a:latin typeface="Calibri"/>
              </a:rPr>
              <a:t>Need: </a:t>
            </a:r>
            <a:r>
              <a:rPr sz="1900" b="0" i="0">
                <a:solidFill>
                  <a:srgbClr val="1F2937"/>
                </a:solidFill>
                <a:latin typeface="Calibri"/>
              </a:rPr>
              <a:t>light, explainable, alerts within a second</a:t>
            </a:r>
          </a:p>
        </p:txBody>
      </p:sp>
      <p:sp>
        <p:nvSpPr>
          <p:cNvPr id="5" name="TextBox 4"/>
          <p:cNvSpPr txBox="1"/>
          <p:nvPr/>
        </p:nvSpPr>
        <p:spPr>
          <a:xfrm>
            <a:off x="6949440" y="1207008"/>
            <a:ext cx="4572000" cy="32004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ATTACKS THIS SYSTEM TARGETS</a:t>
            </a:r>
          </a:p>
        </p:txBody>
      </p:sp>
      <p:sp>
        <p:nvSpPr>
          <p:cNvPr id="6" name="Rounded Rectangle 5"/>
          <p:cNvSpPr/>
          <p:nvPr/>
        </p:nvSpPr>
        <p:spPr>
          <a:xfrm>
            <a:off x="6949440" y="1600200"/>
            <a:ext cx="4690872" cy="13258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223760" y="1993392"/>
            <a:ext cx="548640" cy="54864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1</a:t>
            </a:r>
          </a:p>
        </p:txBody>
      </p:sp>
      <p:sp>
        <p:nvSpPr>
          <p:cNvPr id="8" name="TextBox 7"/>
          <p:cNvSpPr txBox="1"/>
          <p:nvPr/>
        </p:nvSpPr>
        <p:spPr>
          <a:xfrm>
            <a:off x="8001000" y="1856232"/>
            <a:ext cx="3474720" cy="411480"/>
          </a:xfrm>
          <a:prstGeom prst="rect">
            <a:avLst/>
          </a:prstGeom>
          <a:noFill/>
        </p:spPr>
        <p:txBody>
          <a:bodyPr wrap="square" lIns="0" rIns="0" tIns="0" bIns="0" anchor="t">
            <a:spAutoFit/>
          </a:bodyPr>
          <a:lstStyle/>
          <a:p>
            <a:pPr algn="l">
              <a:spcAft>
                <a:spcPts val="0"/>
              </a:spcAft>
            </a:pPr>
            <a:r>
              <a:rPr sz="2000" b="1" i="0">
                <a:solidFill>
                  <a:srgbClr val="14213D"/>
                </a:solidFill>
                <a:latin typeface="Calibri"/>
              </a:rPr>
              <a:t>Port Scan</a:t>
            </a:r>
          </a:p>
        </p:txBody>
      </p:sp>
      <p:sp>
        <p:nvSpPr>
          <p:cNvPr id="9" name="TextBox 8"/>
          <p:cNvSpPr txBox="1"/>
          <p:nvPr/>
        </p:nvSpPr>
        <p:spPr>
          <a:xfrm>
            <a:off x="8001000" y="2313432"/>
            <a:ext cx="3474720" cy="45720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Tries every door to find an open one</a:t>
            </a:r>
          </a:p>
        </p:txBody>
      </p:sp>
      <p:sp>
        <p:nvSpPr>
          <p:cNvPr id="10" name="Rounded Rectangle 9"/>
          <p:cNvSpPr/>
          <p:nvPr/>
        </p:nvSpPr>
        <p:spPr>
          <a:xfrm>
            <a:off x="6949440" y="3154680"/>
            <a:ext cx="4690872" cy="13258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223760" y="3547872"/>
            <a:ext cx="548640" cy="54864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2</a:t>
            </a:r>
          </a:p>
        </p:txBody>
      </p:sp>
      <p:sp>
        <p:nvSpPr>
          <p:cNvPr id="12" name="TextBox 11"/>
          <p:cNvSpPr txBox="1"/>
          <p:nvPr/>
        </p:nvSpPr>
        <p:spPr>
          <a:xfrm>
            <a:off x="8001000" y="3410712"/>
            <a:ext cx="3474720" cy="411480"/>
          </a:xfrm>
          <a:prstGeom prst="rect">
            <a:avLst/>
          </a:prstGeom>
          <a:noFill/>
        </p:spPr>
        <p:txBody>
          <a:bodyPr wrap="square" lIns="0" rIns="0" tIns="0" bIns="0" anchor="t">
            <a:spAutoFit/>
          </a:bodyPr>
          <a:lstStyle/>
          <a:p>
            <a:pPr algn="l">
              <a:spcAft>
                <a:spcPts val="0"/>
              </a:spcAft>
            </a:pPr>
            <a:r>
              <a:rPr sz="2000" b="1" i="0">
                <a:solidFill>
                  <a:srgbClr val="14213D"/>
                </a:solidFill>
                <a:latin typeface="Calibri"/>
              </a:rPr>
              <a:t>SYN Flood</a:t>
            </a:r>
          </a:p>
        </p:txBody>
      </p:sp>
      <p:sp>
        <p:nvSpPr>
          <p:cNvPr id="13" name="TextBox 12"/>
          <p:cNvSpPr txBox="1"/>
          <p:nvPr/>
        </p:nvSpPr>
        <p:spPr>
          <a:xfrm>
            <a:off x="8001000" y="3867912"/>
            <a:ext cx="3474720" cy="45720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Floods a server with half-open connections</a:t>
            </a:r>
          </a:p>
        </p:txBody>
      </p:sp>
      <p:sp>
        <p:nvSpPr>
          <p:cNvPr id="14" name="Rounded Rectangle 13"/>
          <p:cNvSpPr/>
          <p:nvPr/>
        </p:nvSpPr>
        <p:spPr>
          <a:xfrm>
            <a:off x="6949440" y="4709160"/>
            <a:ext cx="4690872" cy="13258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223760" y="5102352"/>
            <a:ext cx="548640" cy="54864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3</a:t>
            </a:r>
          </a:p>
        </p:txBody>
      </p:sp>
      <p:sp>
        <p:nvSpPr>
          <p:cNvPr id="16" name="TextBox 15"/>
          <p:cNvSpPr txBox="1"/>
          <p:nvPr/>
        </p:nvSpPr>
        <p:spPr>
          <a:xfrm>
            <a:off x="8001000" y="4965192"/>
            <a:ext cx="3474720" cy="411480"/>
          </a:xfrm>
          <a:prstGeom prst="rect">
            <a:avLst/>
          </a:prstGeom>
          <a:noFill/>
        </p:spPr>
        <p:txBody>
          <a:bodyPr wrap="square" lIns="0" rIns="0" tIns="0" bIns="0" anchor="t">
            <a:spAutoFit/>
          </a:bodyPr>
          <a:lstStyle/>
          <a:p>
            <a:pPr algn="l">
              <a:spcAft>
                <a:spcPts val="0"/>
              </a:spcAft>
            </a:pPr>
            <a:r>
              <a:rPr sz="2000" b="1" i="0">
                <a:solidFill>
                  <a:srgbClr val="14213D"/>
                </a:solidFill>
                <a:latin typeface="Calibri"/>
              </a:rPr>
              <a:t>ARP Spoofing</a:t>
            </a:r>
          </a:p>
        </p:txBody>
      </p:sp>
      <p:sp>
        <p:nvSpPr>
          <p:cNvPr id="17" name="TextBox 16"/>
          <p:cNvSpPr txBox="1"/>
          <p:nvPr/>
        </p:nvSpPr>
        <p:spPr>
          <a:xfrm>
            <a:off x="8001000" y="5422392"/>
            <a:ext cx="3474720" cy="45720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Puts the attacker in the middle of your traffic</a:t>
            </a:r>
          </a:p>
        </p:txBody>
      </p:sp>
      <p:sp>
        <p:nvSpPr>
          <p:cNvPr id="18" name="TextBox 17"/>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Evaluation 1</a:t>
            </a:r>
          </a:p>
        </p:txBody>
      </p:sp>
      <p:sp>
        <p:nvSpPr>
          <p:cNvPr id="19" name="TextBox 18"/>
          <p:cNvSpPr txBox="1"/>
          <p:nvPr/>
        </p:nvSpPr>
        <p:spPr>
          <a:xfrm>
            <a:off x="10725912" y="6419088"/>
            <a:ext cx="91440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Objectives</a:t>
            </a:r>
          </a:p>
        </p:txBody>
      </p:sp>
      <p:sp>
        <p:nvSpPr>
          <p:cNvPr id="3" name="Rounded Rectangle 2"/>
          <p:cNvSpPr/>
          <p:nvPr/>
        </p:nvSpPr>
        <p:spPr>
          <a:xfrm>
            <a:off x="548640" y="1508760"/>
            <a:ext cx="347472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59" y="1783080"/>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1</a:t>
            </a:r>
          </a:p>
        </p:txBody>
      </p:sp>
      <p:sp>
        <p:nvSpPr>
          <p:cNvPr id="5" name="Rounded Rectangle 4"/>
          <p:cNvSpPr/>
          <p:nvPr/>
        </p:nvSpPr>
        <p:spPr>
          <a:xfrm>
            <a:off x="2880359" y="1892807"/>
            <a:ext cx="868680" cy="329184"/>
          </a:xfrm>
          <a:prstGeom prst="roundRect">
            <a:avLst>
              <a:gd name="adj" fmla="val 50000"/>
            </a:avLst>
          </a:prstGeom>
          <a:solidFill>
            <a:srgbClr val="DDF1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1B7F73"/>
                </a:solidFill>
                <a:latin typeface="Calibri"/>
              </a:rPr>
              <a:t>Done</a:t>
            </a:r>
          </a:p>
        </p:txBody>
      </p:sp>
      <p:sp>
        <p:nvSpPr>
          <p:cNvPr id="6" name="TextBox 5"/>
          <p:cNvSpPr txBox="1"/>
          <p:nvPr/>
        </p:nvSpPr>
        <p:spPr>
          <a:xfrm>
            <a:off x="822959" y="2532888"/>
            <a:ext cx="2926080" cy="411480"/>
          </a:xfrm>
          <a:prstGeom prst="rect">
            <a:avLst/>
          </a:prstGeom>
          <a:noFill/>
        </p:spPr>
        <p:txBody>
          <a:bodyPr wrap="square" lIns="0" rIns="0" tIns="0" bIns="0" anchor="t">
            <a:spAutoFit/>
          </a:bodyPr>
          <a:lstStyle/>
          <a:p>
            <a:pPr algn="l">
              <a:spcAft>
                <a:spcPts val="0"/>
              </a:spcAft>
            </a:pPr>
            <a:r>
              <a:rPr sz="1900" b="1" i="0">
                <a:solidFill>
                  <a:srgbClr val="14213D"/>
                </a:solidFill>
                <a:latin typeface="Calibri"/>
              </a:rPr>
              <a:t>Capture live packets</a:t>
            </a:r>
          </a:p>
        </p:txBody>
      </p:sp>
      <p:sp>
        <p:nvSpPr>
          <p:cNvPr id="7" name="TextBox 6"/>
          <p:cNvSpPr txBox="1"/>
          <p:nvPr/>
        </p:nvSpPr>
        <p:spPr>
          <a:xfrm>
            <a:off x="822959" y="2971800"/>
            <a:ext cx="2926080" cy="54864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TCP, UDP and ARP from Wi-Fi</a:t>
            </a:r>
          </a:p>
        </p:txBody>
      </p:sp>
      <p:sp>
        <p:nvSpPr>
          <p:cNvPr id="8" name="Rounded Rectangle 7"/>
          <p:cNvSpPr/>
          <p:nvPr/>
        </p:nvSpPr>
        <p:spPr>
          <a:xfrm>
            <a:off x="4343400" y="1508760"/>
            <a:ext cx="347472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17720" y="1783080"/>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2</a:t>
            </a:r>
          </a:p>
        </p:txBody>
      </p:sp>
      <p:sp>
        <p:nvSpPr>
          <p:cNvPr id="10" name="Rounded Rectangle 9"/>
          <p:cNvSpPr/>
          <p:nvPr/>
        </p:nvSpPr>
        <p:spPr>
          <a:xfrm>
            <a:off x="6675120" y="1892807"/>
            <a:ext cx="868680" cy="329184"/>
          </a:xfrm>
          <a:prstGeom prst="roundRect">
            <a:avLst>
              <a:gd name="adj" fmla="val 50000"/>
            </a:avLst>
          </a:prstGeom>
          <a:solidFill>
            <a:srgbClr val="DDF1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1B7F73"/>
                </a:solidFill>
                <a:latin typeface="Calibri"/>
              </a:rPr>
              <a:t>Done</a:t>
            </a:r>
          </a:p>
        </p:txBody>
      </p:sp>
      <p:sp>
        <p:nvSpPr>
          <p:cNvPr id="11" name="TextBox 10"/>
          <p:cNvSpPr txBox="1"/>
          <p:nvPr/>
        </p:nvSpPr>
        <p:spPr>
          <a:xfrm>
            <a:off x="4617720" y="2532888"/>
            <a:ext cx="2926080" cy="411480"/>
          </a:xfrm>
          <a:prstGeom prst="rect">
            <a:avLst/>
          </a:prstGeom>
          <a:noFill/>
        </p:spPr>
        <p:txBody>
          <a:bodyPr wrap="square" lIns="0" rIns="0" tIns="0" bIns="0" anchor="t">
            <a:spAutoFit/>
          </a:bodyPr>
          <a:lstStyle/>
          <a:p>
            <a:pPr algn="l">
              <a:spcAft>
                <a:spcPts val="0"/>
              </a:spcAft>
            </a:pPr>
            <a:r>
              <a:rPr sz="1900" b="1" i="0">
                <a:solidFill>
                  <a:srgbClr val="14213D"/>
                </a:solidFill>
                <a:latin typeface="Calibri"/>
              </a:rPr>
              <a:t>Detect port scans</a:t>
            </a:r>
          </a:p>
        </p:txBody>
      </p:sp>
      <p:sp>
        <p:nvSpPr>
          <p:cNvPr id="12" name="TextBox 11"/>
          <p:cNvSpPr txBox="1"/>
          <p:nvPr/>
        </p:nvSpPr>
        <p:spPr>
          <a:xfrm>
            <a:off x="4617720" y="2971800"/>
            <a:ext cx="2926080" cy="54864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More than 15 ports in 5 seconds</a:t>
            </a:r>
          </a:p>
        </p:txBody>
      </p:sp>
      <p:sp>
        <p:nvSpPr>
          <p:cNvPr id="13" name="Rounded Rectangle 12"/>
          <p:cNvSpPr/>
          <p:nvPr/>
        </p:nvSpPr>
        <p:spPr>
          <a:xfrm>
            <a:off x="8138160" y="1508760"/>
            <a:ext cx="347472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12480" y="1783080"/>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3</a:t>
            </a:r>
          </a:p>
        </p:txBody>
      </p:sp>
      <p:sp>
        <p:nvSpPr>
          <p:cNvPr id="15" name="Rounded Rectangle 14"/>
          <p:cNvSpPr/>
          <p:nvPr/>
        </p:nvSpPr>
        <p:spPr>
          <a:xfrm>
            <a:off x="10469880" y="1892807"/>
            <a:ext cx="868680" cy="329184"/>
          </a:xfrm>
          <a:prstGeom prst="roundRect">
            <a:avLst>
              <a:gd name="adj" fmla="val 50000"/>
            </a:avLst>
          </a:prstGeom>
          <a:solidFill>
            <a:srgbClr val="DDF1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1B7F73"/>
                </a:solidFill>
                <a:latin typeface="Calibri"/>
              </a:rPr>
              <a:t>Done</a:t>
            </a:r>
          </a:p>
        </p:txBody>
      </p:sp>
      <p:sp>
        <p:nvSpPr>
          <p:cNvPr id="16" name="TextBox 15"/>
          <p:cNvSpPr txBox="1"/>
          <p:nvPr/>
        </p:nvSpPr>
        <p:spPr>
          <a:xfrm>
            <a:off x="8412480" y="2532888"/>
            <a:ext cx="2926080" cy="411480"/>
          </a:xfrm>
          <a:prstGeom prst="rect">
            <a:avLst/>
          </a:prstGeom>
          <a:noFill/>
        </p:spPr>
        <p:txBody>
          <a:bodyPr wrap="square" lIns="0" rIns="0" tIns="0" bIns="0" anchor="t">
            <a:spAutoFit/>
          </a:bodyPr>
          <a:lstStyle/>
          <a:p>
            <a:pPr algn="l">
              <a:spcAft>
                <a:spcPts val="0"/>
              </a:spcAft>
            </a:pPr>
            <a:r>
              <a:rPr sz="1900" b="1" i="0">
                <a:solidFill>
                  <a:srgbClr val="14213D"/>
                </a:solidFill>
                <a:latin typeface="Calibri"/>
              </a:rPr>
              <a:t>Live web dashboard</a:t>
            </a:r>
          </a:p>
        </p:txBody>
      </p:sp>
      <p:sp>
        <p:nvSpPr>
          <p:cNvPr id="17" name="TextBox 16"/>
          <p:cNvSpPr txBox="1"/>
          <p:nvPr/>
        </p:nvSpPr>
        <p:spPr>
          <a:xfrm>
            <a:off x="8412480" y="2971800"/>
            <a:ext cx="2926080" cy="54864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Counts and red alerts, no refresh</a:t>
            </a:r>
          </a:p>
        </p:txBody>
      </p:sp>
      <p:sp>
        <p:nvSpPr>
          <p:cNvPr id="18" name="Rounded Rectangle 17"/>
          <p:cNvSpPr/>
          <p:nvPr/>
        </p:nvSpPr>
        <p:spPr>
          <a:xfrm>
            <a:off x="548640" y="3977639"/>
            <a:ext cx="347472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2959" y="4251959"/>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4</a:t>
            </a:r>
          </a:p>
        </p:txBody>
      </p:sp>
      <p:sp>
        <p:nvSpPr>
          <p:cNvPr id="20" name="Rounded Rectangle 19"/>
          <p:cNvSpPr/>
          <p:nvPr/>
        </p:nvSpPr>
        <p:spPr>
          <a:xfrm>
            <a:off x="2880359" y="4361688"/>
            <a:ext cx="868680" cy="329184"/>
          </a:xfrm>
          <a:prstGeom prst="roundRect">
            <a:avLst>
              <a:gd name="adj" fmla="val 50000"/>
            </a:avLst>
          </a:prstGeom>
          <a:solidFill>
            <a:srgbClr val="E6E9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5B6472"/>
                </a:solidFill>
                <a:latin typeface="Calibri"/>
              </a:rPr>
              <a:t>Next</a:t>
            </a:r>
          </a:p>
        </p:txBody>
      </p:sp>
      <p:sp>
        <p:nvSpPr>
          <p:cNvPr id="21" name="TextBox 20"/>
          <p:cNvSpPr txBox="1"/>
          <p:nvPr/>
        </p:nvSpPr>
        <p:spPr>
          <a:xfrm>
            <a:off x="822959" y="5001768"/>
            <a:ext cx="2926080" cy="411480"/>
          </a:xfrm>
          <a:prstGeom prst="rect">
            <a:avLst/>
          </a:prstGeom>
          <a:noFill/>
        </p:spPr>
        <p:txBody>
          <a:bodyPr wrap="square" lIns="0" rIns="0" tIns="0" bIns="0" anchor="t">
            <a:spAutoFit/>
          </a:bodyPr>
          <a:lstStyle/>
          <a:p>
            <a:pPr algn="l">
              <a:spcAft>
                <a:spcPts val="0"/>
              </a:spcAft>
            </a:pPr>
            <a:r>
              <a:rPr sz="1900" b="1" i="0">
                <a:solidFill>
                  <a:srgbClr val="14213D"/>
                </a:solidFill>
                <a:latin typeface="Calibri"/>
              </a:rPr>
              <a:t>Detect SYN floods</a:t>
            </a:r>
          </a:p>
        </p:txBody>
      </p:sp>
      <p:sp>
        <p:nvSpPr>
          <p:cNvPr id="22" name="TextBox 21"/>
          <p:cNvSpPr txBox="1"/>
          <p:nvPr/>
        </p:nvSpPr>
        <p:spPr>
          <a:xfrm>
            <a:off x="822959" y="5440679"/>
            <a:ext cx="2926080" cy="54864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Many SYNs, no completed handshakes</a:t>
            </a:r>
          </a:p>
        </p:txBody>
      </p:sp>
      <p:sp>
        <p:nvSpPr>
          <p:cNvPr id="23" name="Rounded Rectangle 22"/>
          <p:cNvSpPr/>
          <p:nvPr/>
        </p:nvSpPr>
        <p:spPr>
          <a:xfrm>
            <a:off x="4343400" y="3977639"/>
            <a:ext cx="347472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17720" y="4251959"/>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5</a:t>
            </a:r>
          </a:p>
        </p:txBody>
      </p:sp>
      <p:sp>
        <p:nvSpPr>
          <p:cNvPr id="25" name="Rounded Rectangle 24"/>
          <p:cNvSpPr/>
          <p:nvPr/>
        </p:nvSpPr>
        <p:spPr>
          <a:xfrm>
            <a:off x="6675120" y="4361688"/>
            <a:ext cx="868680" cy="329184"/>
          </a:xfrm>
          <a:prstGeom prst="roundRect">
            <a:avLst>
              <a:gd name="adj" fmla="val 50000"/>
            </a:avLst>
          </a:prstGeom>
          <a:solidFill>
            <a:srgbClr val="E6E9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5B6472"/>
                </a:solidFill>
                <a:latin typeface="Calibri"/>
              </a:rPr>
              <a:t>Next</a:t>
            </a:r>
          </a:p>
        </p:txBody>
      </p:sp>
      <p:sp>
        <p:nvSpPr>
          <p:cNvPr id="26" name="TextBox 25"/>
          <p:cNvSpPr txBox="1"/>
          <p:nvPr/>
        </p:nvSpPr>
        <p:spPr>
          <a:xfrm>
            <a:off x="4617720" y="5001768"/>
            <a:ext cx="2926080" cy="411480"/>
          </a:xfrm>
          <a:prstGeom prst="rect">
            <a:avLst/>
          </a:prstGeom>
          <a:noFill/>
        </p:spPr>
        <p:txBody>
          <a:bodyPr wrap="square" lIns="0" rIns="0" tIns="0" bIns="0" anchor="t">
            <a:spAutoFit/>
          </a:bodyPr>
          <a:lstStyle/>
          <a:p>
            <a:pPr algn="l">
              <a:spcAft>
                <a:spcPts val="0"/>
              </a:spcAft>
            </a:pPr>
            <a:r>
              <a:rPr sz="1900" b="1" i="0">
                <a:solidFill>
                  <a:srgbClr val="14213D"/>
                </a:solidFill>
                <a:latin typeface="Calibri"/>
              </a:rPr>
              <a:t>Detect ARP spoofing</a:t>
            </a:r>
          </a:p>
        </p:txBody>
      </p:sp>
      <p:sp>
        <p:nvSpPr>
          <p:cNvPr id="27" name="TextBox 26"/>
          <p:cNvSpPr txBox="1"/>
          <p:nvPr/>
        </p:nvSpPr>
        <p:spPr>
          <a:xfrm>
            <a:off x="4617720" y="5440679"/>
            <a:ext cx="2926080" cy="54864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Gateway IP with a new MAC address</a:t>
            </a:r>
          </a:p>
        </p:txBody>
      </p:sp>
      <p:sp>
        <p:nvSpPr>
          <p:cNvPr id="28" name="Rounded Rectangle 27"/>
          <p:cNvSpPr/>
          <p:nvPr/>
        </p:nvSpPr>
        <p:spPr>
          <a:xfrm>
            <a:off x="8138160" y="3977639"/>
            <a:ext cx="347472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412480" y="4251959"/>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6</a:t>
            </a:r>
          </a:p>
        </p:txBody>
      </p:sp>
      <p:sp>
        <p:nvSpPr>
          <p:cNvPr id="30" name="Rounded Rectangle 29"/>
          <p:cNvSpPr/>
          <p:nvPr/>
        </p:nvSpPr>
        <p:spPr>
          <a:xfrm>
            <a:off x="10469880" y="4361688"/>
            <a:ext cx="868680" cy="329184"/>
          </a:xfrm>
          <a:prstGeom prst="roundRect">
            <a:avLst>
              <a:gd name="adj" fmla="val 50000"/>
            </a:avLst>
          </a:prstGeom>
          <a:solidFill>
            <a:srgbClr val="E6E9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5B6472"/>
                </a:solidFill>
                <a:latin typeface="Calibri"/>
              </a:rPr>
              <a:t>Next</a:t>
            </a:r>
          </a:p>
        </p:txBody>
      </p:sp>
      <p:sp>
        <p:nvSpPr>
          <p:cNvPr id="31" name="TextBox 30"/>
          <p:cNvSpPr txBox="1"/>
          <p:nvPr/>
        </p:nvSpPr>
        <p:spPr>
          <a:xfrm>
            <a:off x="8412480" y="5001768"/>
            <a:ext cx="2926080" cy="411480"/>
          </a:xfrm>
          <a:prstGeom prst="rect">
            <a:avLst/>
          </a:prstGeom>
          <a:noFill/>
        </p:spPr>
        <p:txBody>
          <a:bodyPr wrap="square" lIns="0" rIns="0" tIns="0" bIns="0" anchor="t">
            <a:spAutoFit/>
          </a:bodyPr>
          <a:lstStyle/>
          <a:p>
            <a:pPr algn="l">
              <a:spcAft>
                <a:spcPts val="0"/>
              </a:spcAft>
            </a:pPr>
            <a:r>
              <a:rPr sz="1900" b="1" i="0">
                <a:solidFill>
                  <a:srgbClr val="14213D"/>
                </a:solidFill>
                <a:latin typeface="Calibri"/>
              </a:rPr>
              <a:t>Test and measure</a:t>
            </a:r>
          </a:p>
        </p:txBody>
      </p:sp>
      <p:sp>
        <p:nvSpPr>
          <p:cNvPr id="32" name="TextBox 31"/>
          <p:cNvSpPr txBox="1"/>
          <p:nvPr/>
        </p:nvSpPr>
        <p:spPr>
          <a:xfrm>
            <a:off x="8412480" y="5440679"/>
            <a:ext cx="2926080" cy="54864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Detection time and false alarms</a:t>
            </a:r>
          </a:p>
        </p:txBody>
      </p:sp>
      <p:sp>
        <p:nvSpPr>
          <p:cNvPr id="33" name="TextBox 32"/>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Evaluation 1</a:t>
            </a:r>
          </a:p>
        </p:txBody>
      </p:sp>
      <p:sp>
        <p:nvSpPr>
          <p:cNvPr id="34" name="TextBox 33"/>
          <p:cNvSpPr txBox="1"/>
          <p:nvPr/>
        </p:nvSpPr>
        <p:spPr>
          <a:xfrm>
            <a:off x="10725912" y="6419088"/>
            <a:ext cx="91440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Existing Systems and the Gap</a:t>
            </a:r>
          </a:p>
        </p:txBody>
      </p:sp>
      <p:graphicFrame>
        <p:nvGraphicFramePr>
          <p:cNvPr id="3" name="Table 2"/>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2468880"/>
                <a:gridCol w="3840480"/>
                <a:gridCol w="4754880"/>
              </a:tblGrid>
              <a:tr h="566928">
                <a:tc>
                  <a:txBody>
                    <a:bodyPr/>
                    <a:lstStyle/>
                    <a:p>
                      <a:r>
                        <a:rPr sz="1500" b="1" i="0">
                          <a:solidFill>
                            <a:srgbClr val="FFFFFF"/>
                          </a:solidFill>
                          <a:latin typeface="Calibri"/>
                        </a:rPr>
                        <a:t>Existing tool</a:t>
                      </a:r>
                    </a:p>
                  </a:txBody>
                  <a:tcPr marL="137160" marR="137160" anchor="ctr">
                    <a:solidFill>
                      <a:srgbClr val="14213D"/>
                    </a:solidFill>
                  </a:tcPr>
                </a:tc>
                <a:tc>
                  <a:txBody>
                    <a:bodyPr/>
                    <a:lstStyle/>
                    <a:p>
                      <a:r>
                        <a:rPr sz="1500" b="1" i="0">
                          <a:solidFill>
                            <a:srgbClr val="FFFFFF"/>
                          </a:solidFill>
                          <a:latin typeface="Calibri"/>
                        </a:rPr>
                        <a:t>What it does well</a:t>
                      </a:r>
                    </a:p>
                  </a:txBody>
                  <a:tcPr marL="137160" marR="137160" anchor="ctr">
                    <a:solidFill>
                      <a:srgbClr val="14213D"/>
                    </a:solidFill>
                  </a:tcPr>
                </a:tc>
                <a:tc>
                  <a:txBody>
                    <a:bodyPr/>
                    <a:lstStyle/>
                    <a:p>
                      <a:r>
                        <a:rPr sz="1500" b="1" i="0">
                          <a:solidFill>
                            <a:srgbClr val="FFFFFF"/>
                          </a:solidFill>
                          <a:latin typeface="Calibri"/>
                        </a:rPr>
                        <a:t>Gap for small networks</a:t>
                      </a:r>
                    </a:p>
                  </a:txBody>
                  <a:tcPr marL="137160" marR="137160" anchor="ctr">
                    <a:solidFill>
                      <a:srgbClr val="14213D"/>
                    </a:solidFill>
                  </a:tcPr>
                </a:tc>
              </a:tr>
              <a:tr h="566928">
                <a:tc>
                  <a:txBody>
                    <a:bodyPr/>
                    <a:lstStyle/>
                    <a:p>
                      <a:r>
                        <a:rPr sz="1500" b="1" i="0">
                          <a:solidFill>
                            <a:srgbClr val="14213D"/>
                          </a:solidFill>
                          <a:latin typeface="Calibri"/>
                        </a:rPr>
                        <a:t>Wireshark</a:t>
                      </a:r>
                    </a:p>
                  </a:txBody>
                  <a:tcPr marL="137160" marR="137160" anchor="ctr">
                    <a:solidFill>
                      <a:srgbClr val="FFFFFF"/>
                    </a:solidFill>
                  </a:tcPr>
                </a:tc>
                <a:tc>
                  <a:txBody>
                    <a:bodyPr/>
                    <a:lstStyle/>
                    <a:p>
                      <a:r>
                        <a:rPr sz="1500" b="0" i="0">
                          <a:solidFill>
                            <a:srgbClr val="1F2937"/>
                          </a:solidFill>
                          <a:latin typeface="Calibri"/>
                        </a:rPr>
                        <a:t>Captures and decodes every packet</a:t>
                      </a:r>
                    </a:p>
                  </a:txBody>
                  <a:tcPr marL="137160" marR="137160" anchor="ctr">
                    <a:solidFill>
                      <a:srgbClr val="FFFFFF"/>
                    </a:solidFill>
                  </a:tcPr>
                </a:tc>
                <a:tc>
                  <a:txBody>
                    <a:bodyPr/>
                    <a:lstStyle/>
                    <a:p>
                      <a:r>
                        <a:rPr sz="1500" b="0" i="0">
                          <a:solidFill>
                            <a:srgbClr val="1F2937"/>
                          </a:solidFill>
                          <a:latin typeface="Calibri"/>
                        </a:rPr>
                        <a:t>Manual inspection, no automatic alerts</a:t>
                      </a:r>
                    </a:p>
                  </a:txBody>
                  <a:tcPr marL="137160" marR="137160" anchor="ctr">
                    <a:solidFill>
                      <a:srgbClr val="FFFFFF"/>
                    </a:solidFill>
                  </a:tcPr>
                </a:tc>
              </a:tr>
              <a:tr h="566928">
                <a:tc>
                  <a:txBody>
                    <a:bodyPr/>
                    <a:lstStyle/>
                    <a:p>
                      <a:r>
                        <a:rPr sz="1500" b="1" i="0">
                          <a:solidFill>
                            <a:srgbClr val="14213D"/>
                          </a:solidFill>
                          <a:latin typeface="Calibri"/>
                        </a:rPr>
                        <a:t>Snort, Suricata</a:t>
                      </a:r>
                    </a:p>
                  </a:txBody>
                  <a:tcPr marL="137160" marR="137160" anchor="ctr">
                    <a:solidFill>
                      <a:srgbClr val="F4F6F9"/>
                    </a:solidFill>
                  </a:tcPr>
                </a:tc>
                <a:tc>
                  <a:txBody>
                    <a:bodyPr/>
                    <a:lstStyle/>
                    <a:p>
                      <a:r>
                        <a:rPr sz="1500" b="0" i="0">
                          <a:solidFill>
                            <a:srgbClr val="1F2937"/>
                          </a:solidFill>
                          <a:latin typeface="Calibri"/>
                        </a:rPr>
                        <a:t>Professional rule-based detection</a:t>
                      </a:r>
                    </a:p>
                  </a:txBody>
                  <a:tcPr marL="137160" marR="137160" anchor="ctr">
                    <a:solidFill>
                      <a:srgbClr val="F4F6F9"/>
                    </a:solidFill>
                  </a:tcPr>
                </a:tc>
                <a:tc>
                  <a:txBody>
                    <a:bodyPr/>
                    <a:lstStyle/>
                    <a:p>
                      <a:r>
                        <a:rPr sz="1500" b="0" i="0">
                          <a:solidFill>
                            <a:srgbClr val="1F2937"/>
                          </a:solidFill>
                          <a:latin typeface="Calibri"/>
                        </a:rPr>
                        <a:t>Complex rules, expert setup, log files</a:t>
                      </a:r>
                    </a:p>
                  </a:txBody>
                  <a:tcPr marL="137160" marR="137160" anchor="ctr">
                    <a:solidFill>
                      <a:srgbClr val="F4F6F9"/>
                    </a:solidFill>
                  </a:tcPr>
                </a:tc>
              </a:tr>
              <a:tr h="566928">
                <a:tc>
                  <a:txBody>
                    <a:bodyPr/>
                    <a:lstStyle/>
                    <a:p>
                      <a:r>
                        <a:rPr sz="1500" b="1" i="0">
                          <a:solidFill>
                            <a:srgbClr val="14213D"/>
                          </a:solidFill>
                          <a:latin typeface="Calibri"/>
                        </a:rPr>
                        <a:t>Zeek</a:t>
                      </a:r>
                    </a:p>
                  </a:txBody>
                  <a:tcPr marL="137160" marR="137160" anchor="ctr">
                    <a:solidFill>
                      <a:srgbClr val="FFFFFF"/>
                    </a:solidFill>
                  </a:tcPr>
                </a:tc>
                <a:tc>
                  <a:txBody>
                    <a:bodyPr/>
                    <a:lstStyle/>
                    <a:p>
                      <a:r>
                        <a:rPr sz="1500" b="0" i="0">
                          <a:solidFill>
                            <a:srgbClr val="1F2937"/>
                          </a:solidFill>
                          <a:latin typeface="Calibri"/>
                        </a:rPr>
                        <a:t>Deep analysis with scripts</a:t>
                      </a:r>
                    </a:p>
                  </a:txBody>
                  <a:tcPr marL="137160" marR="137160" anchor="ctr">
                    <a:solidFill>
                      <a:srgbClr val="FFFFFF"/>
                    </a:solidFill>
                  </a:tcPr>
                </a:tc>
                <a:tc>
                  <a:txBody>
                    <a:bodyPr/>
                    <a:lstStyle/>
                    <a:p>
                      <a:r>
                        <a:rPr sz="1500" b="0" i="0">
                          <a:solidFill>
                            <a:srgbClr val="1F2937"/>
                          </a:solidFill>
                          <a:latin typeface="Calibri"/>
                        </a:rPr>
                        <a:t>Steep learning curve, no live dashboard</a:t>
                      </a:r>
                    </a:p>
                  </a:txBody>
                  <a:tcPr marL="137160" marR="137160" anchor="ctr">
                    <a:solidFill>
                      <a:srgbClr val="FFFFFF"/>
                    </a:solidFill>
                  </a:tcPr>
                </a:tc>
              </a:tr>
              <a:tr h="566928">
                <a:tc>
                  <a:txBody>
                    <a:bodyPr/>
                    <a:lstStyle/>
                    <a:p>
                      <a:r>
                        <a:rPr sz="1500" b="1" i="0">
                          <a:solidFill>
                            <a:srgbClr val="14213D"/>
                          </a:solidFill>
                          <a:latin typeface="Calibri"/>
                        </a:rPr>
                        <a:t>ML-based IDS</a:t>
                      </a:r>
                    </a:p>
                  </a:txBody>
                  <a:tcPr marL="137160" marR="137160" anchor="ctr">
                    <a:solidFill>
                      <a:srgbClr val="F4F6F9"/>
                    </a:solidFill>
                  </a:tcPr>
                </a:tc>
                <a:tc>
                  <a:txBody>
                    <a:bodyPr/>
                    <a:lstStyle/>
                    <a:p>
                      <a:r>
                        <a:rPr sz="1500" b="0" i="0">
                          <a:solidFill>
                            <a:srgbClr val="1F2937"/>
                          </a:solidFill>
                          <a:latin typeface="Calibri"/>
                        </a:rPr>
                        <a:t>High accuracy on test datasets</a:t>
                      </a:r>
                    </a:p>
                  </a:txBody>
                  <a:tcPr marL="137160" marR="137160" anchor="ctr">
                    <a:solidFill>
                      <a:srgbClr val="F4F6F9"/>
                    </a:solidFill>
                  </a:tcPr>
                </a:tc>
                <a:tc>
                  <a:txBody>
                    <a:bodyPr/>
                    <a:lstStyle/>
                    <a:p>
                      <a:r>
                        <a:rPr sz="1500" b="0" i="0">
                          <a:solidFill>
                            <a:srgbClr val="1F2937"/>
                          </a:solidFill>
                          <a:latin typeface="Calibri"/>
                        </a:rPr>
                        <a:t>Black box, needs training data</a:t>
                      </a:r>
                    </a:p>
                  </a:txBody>
                  <a:tcPr marL="137160" marR="137160" anchor="ctr">
                    <a:solidFill>
                      <a:srgbClr val="F4F6F9"/>
                    </a:solidFill>
                  </a:tcPr>
                </a:tc>
              </a:tr>
            </a:tbl>
          </a:graphicData>
        </a:graphic>
      </p:graphicFrame>
      <p:sp>
        <p:nvSpPr>
          <p:cNvPr id="4" name="Rounded Rectangle 3"/>
          <p:cNvSpPr/>
          <p:nvPr/>
        </p:nvSpPr>
        <p:spPr>
          <a:xfrm>
            <a:off x="548640" y="4526280"/>
            <a:ext cx="11064240" cy="160020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681728"/>
            <a:ext cx="5486400" cy="320040"/>
          </a:xfrm>
          <a:prstGeom prst="rect">
            <a:avLst/>
          </a:prstGeom>
          <a:noFill/>
        </p:spPr>
        <p:txBody>
          <a:bodyPr wrap="square" lIns="0" rIns="0" tIns="0" bIns="0" anchor="t">
            <a:spAutoFit/>
          </a:bodyPr>
          <a:lstStyle/>
          <a:p>
            <a:pPr algn="l">
              <a:spcAft>
                <a:spcPts val="0"/>
              </a:spcAft>
            </a:pPr>
            <a:r>
              <a:rPr sz="1200" b="1" i="0">
                <a:solidFill>
                  <a:srgbClr val="9FB3D1"/>
                </a:solidFill>
                <a:latin typeface="Calibri"/>
              </a:rPr>
              <a:t>PROPOSED SYSTEM</a:t>
            </a:r>
          </a:p>
        </p:txBody>
      </p:sp>
      <p:sp>
        <p:nvSpPr>
          <p:cNvPr id="6" name="TextBox 5"/>
          <p:cNvSpPr txBox="1"/>
          <p:nvPr/>
        </p:nvSpPr>
        <p:spPr>
          <a:xfrm>
            <a:off x="868680" y="5029200"/>
            <a:ext cx="3383280" cy="365760"/>
          </a:xfrm>
          <a:prstGeom prst="rect">
            <a:avLst/>
          </a:prstGeom>
          <a:noFill/>
        </p:spPr>
        <p:txBody>
          <a:bodyPr wrap="square" lIns="0" rIns="0" tIns="0" bIns="0" anchor="t">
            <a:spAutoFit/>
          </a:bodyPr>
          <a:lstStyle/>
          <a:p>
            <a:pPr algn="l">
              <a:spcAft>
                <a:spcPts val="0"/>
              </a:spcAft>
            </a:pPr>
            <a:r>
              <a:rPr sz="1900" b="1" i="0">
                <a:solidFill>
                  <a:srgbClr val="FFFFFF"/>
                </a:solidFill>
                <a:latin typeface="Calibri"/>
              </a:rPr>
              <a:t>Lightweight</a:t>
            </a:r>
          </a:p>
        </p:txBody>
      </p:sp>
      <p:sp>
        <p:nvSpPr>
          <p:cNvPr id="7" name="TextBox 6"/>
          <p:cNvSpPr txBox="1"/>
          <p:nvPr/>
        </p:nvSpPr>
        <p:spPr>
          <a:xfrm>
            <a:off x="868680" y="5413248"/>
            <a:ext cx="3383280" cy="548640"/>
          </a:xfrm>
          <a:prstGeom prst="rect">
            <a:avLst/>
          </a:prstGeom>
          <a:noFill/>
        </p:spPr>
        <p:txBody>
          <a:bodyPr wrap="square" lIns="0" rIns="0" tIns="0" bIns="0" anchor="t">
            <a:spAutoFit/>
          </a:bodyPr>
          <a:lstStyle/>
          <a:p>
            <a:pPr algn="l">
              <a:spcAft>
                <a:spcPts val="0"/>
              </a:spcAft>
            </a:pPr>
            <a:r>
              <a:rPr sz="1500" b="0" i="0">
                <a:solidFill>
                  <a:srgbClr val="C9D6EA"/>
                </a:solidFill>
                <a:latin typeface="Calibri"/>
              </a:rPr>
              <a:t>About 150 lines, runs on a laptop</a:t>
            </a:r>
          </a:p>
        </p:txBody>
      </p:sp>
      <p:sp>
        <p:nvSpPr>
          <p:cNvPr id="8" name="TextBox 7"/>
          <p:cNvSpPr txBox="1"/>
          <p:nvPr/>
        </p:nvSpPr>
        <p:spPr>
          <a:xfrm>
            <a:off x="4480560" y="5029200"/>
            <a:ext cx="3383280" cy="365760"/>
          </a:xfrm>
          <a:prstGeom prst="rect">
            <a:avLst/>
          </a:prstGeom>
          <a:noFill/>
        </p:spPr>
        <p:txBody>
          <a:bodyPr wrap="square" lIns="0" rIns="0" tIns="0" bIns="0" anchor="t">
            <a:spAutoFit/>
          </a:bodyPr>
          <a:lstStyle/>
          <a:p>
            <a:pPr algn="l">
              <a:spcAft>
                <a:spcPts val="0"/>
              </a:spcAft>
            </a:pPr>
            <a:r>
              <a:rPr sz="1900" b="1" i="0">
                <a:solidFill>
                  <a:srgbClr val="FFFFFF"/>
                </a:solidFill>
                <a:latin typeface="Calibri"/>
              </a:rPr>
              <a:t>Explainable</a:t>
            </a:r>
          </a:p>
        </p:txBody>
      </p:sp>
      <p:sp>
        <p:nvSpPr>
          <p:cNvPr id="9" name="TextBox 8"/>
          <p:cNvSpPr txBox="1"/>
          <p:nvPr/>
        </p:nvSpPr>
        <p:spPr>
          <a:xfrm>
            <a:off x="4480560" y="5413248"/>
            <a:ext cx="3383280" cy="548640"/>
          </a:xfrm>
          <a:prstGeom prst="rect">
            <a:avLst/>
          </a:prstGeom>
          <a:noFill/>
        </p:spPr>
        <p:txBody>
          <a:bodyPr wrap="square" lIns="0" rIns="0" tIns="0" bIns="0" anchor="t">
            <a:spAutoFit/>
          </a:bodyPr>
          <a:lstStyle/>
          <a:p>
            <a:pPr algn="l">
              <a:spcAft>
                <a:spcPts val="0"/>
              </a:spcAft>
            </a:pPr>
            <a:r>
              <a:rPr sz="1500" b="0" i="0">
                <a:solidFill>
                  <a:srgbClr val="C9D6EA"/>
                </a:solidFill>
                <a:latin typeface="Calibri"/>
              </a:rPr>
              <a:t>Every alert shows its threshold</a:t>
            </a:r>
          </a:p>
        </p:txBody>
      </p:sp>
      <p:sp>
        <p:nvSpPr>
          <p:cNvPr id="10" name="TextBox 9"/>
          <p:cNvSpPr txBox="1"/>
          <p:nvPr/>
        </p:nvSpPr>
        <p:spPr>
          <a:xfrm>
            <a:off x="8092440" y="5029200"/>
            <a:ext cx="3383280" cy="365760"/>
          </a:xfrm>
          <a:prstGeom prst="rect">
            <a:avLst/>
          </a:prstGeom>
          <a:noFill/>
        </p:spPr>
        <p:txBody>
          <a:bodyPr wrap="square" lIns="0" rIns="0" tIns="0" bIns="0" anchor="t">
            <a:spAutoFit/>
          </a:bodyPr>
          <a:lstStyle/>
          <a:p>
            <a:pPr algn="l">
              <a:spcAft>
                <a:spcPts val="0"/>
              </a:spcAft>
            </a:pPr>
            <a:r>
              <a:rPr sz="1900" b="1" i="0">
                <a:solidFill>
                  <a:srgbClr val="FFFFFF"/>
                </a:solidFill>
                <a:latin typeface="Calibri"/>
              </a:rPr>
              <a:t>Live</a:t>
            </a:r>
          </a:p>
        </p:txBody>
      </p:sp>
      <p:sp>
        <p:nvSpPr>
          <p:cNvPr id="11" name="TextBox 10"/>
          <p:cNvSpPr txBox="1"/>
          <p:nvPr/>
        </p:nvSpPr>
        <p:spPr>
          <a:xfrm>
            <a:off x="8092440" y="5413248"/>
            <a:ext cx="3383280" cy="548640"/>
          </a:xfrm>
          <a:prstGeom prst="rect">
            <a:avLst/>
          </a:prstGeom>
          <a:noFill/>
        </p:spPr>
        <p:txBody>
          <a:bodyPr wrap="square" lIns="0" rIns="0" tIns="0" bIns="0" anchor="t">
            <a:spAutoFit/>
          </a:bodyPr>
          <a:lstStyle/>
          <a:p>
            <a:pPr algn="l">
              <a:spcAft>
                <a:spcPts val="0"/>
              </a:spcAft>
            </a:pPr>
            <a:r>
              <a:rPr sz="1500" b="0" i="0">
                <a:solidFill>
                  <a:srgbClr val="C9D6EA"/>
                </a:solidFill>
                <a:latin typeface="Calibri"/>
              </a:rPr>
              <a:t>Alert on the dashboard in under 1 second</a:t>
            </a:r>
          </a:p>
        </p:txBody>
      </p:sp>
      <p:sp>
        <p:nvSpPr>
          <p:cNvPr id="12" name="TextBox 11"/>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Evaluation 1</a:t>
            </a:r>
          </a:p>
        </p:txBody>
      </p:sp>
      <p:sp>
        <p:nvSpPr>
          <p:cNvPr id="13" name="TextBox 12"/>
          <p:cNvSpPr txBox="1"/>
          <p:nvPr/>
        </p:nvSpPr>
        <p:spPr>
          <a:xfrm>
            <a:off x="10725912" y="6419088"/>
            <a:ext cx="91440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System Architecture</a:t>
            </a:r>
          </a:p>
        </p:txBody>
      </p:sp>
      <p:sp>
        <p:nvSpPr>
          <p:cNvPr id="3" name="Rounded Rectangle 2"/>
          <p:cNvSpPr/>
          <p:nvPr/>
        </p:nvSpPr>
        <p:spPr>
          <a:xfrm>
            <a:off x="749808" y="1463040"/>
            <a:ext cx="2926080" cy="13716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7" y="1719072"/>
            <a:ext cx="2468880" cy="41148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Network</a:t>
            </a:r>
          </a:p>
        </p:txBody>
      </p:sp>
      <p:sp>
        <p:nvSpPr>
          <p:cNvPr id="5" name="TextBox 4"/>
          <p:cNvSpPr txBox="1"/>
          <p:nvPr/>
        </p:nvSpPr>
        <p:spPr>
          <a:xfrm>
            <a:off x="978407" y="2148840"/>
            <a:ext cx="2468880" cy="5943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Wi-Fi card and loopback adapter</a:t>
            </a:r>
          </a:p>
        </p:txBody>
      </p:sp>
      <p:sp>
        <p:nvSpPr>
          <p:cNvPr id="6" name="Rounded Rectangle 5"/>
          <p:cNvSpPr/>
          <p:nvPr/>
        </p:nvSpPr>
        <p:spPr>
          <a:xfrm>
            <a:off x="4636008" y="1463040"/>
            <a:ext cx="2926080" cy="13716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64608" y="1719072"/>
            <a:ext cx="2468880" cy="41148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Sensor</a:t>
            </a:r>
          </a:p>
        </p:txBody>
      </p:sp>
      <p:sp>
        <p:nvSpPr>
          <p:cNvPr id="8" name="TextBox 7"/>
          <p:cNvSpPr txBox="1"/>
          <p:nvPr/>
        </p:nvSpPr>
        <p:spPr>
          <a:xfrm>
            <a:off x="4864608" y="2148840"/>
            <a:ext cx="2468880" cy="5943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Python and Scapy capture through Npcap</a:t>
            </a:r>
          </a:p>
        </p:txBody>
      </p:sp>
      <p:sp>
        <p:nvSpPr>
          <p:cNvPr id="9" name="Rounded Rectangle 8"/>
          <p:cNvSpPr/>
          <p:nvPr/>
        </p:nvSpPr>
        <p:spPr>
          <a:xfrm>
            <a:off x="8522208" y="1463040"/>
            <a:ext cx="2926080" cy="137160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50808" y="1719072"/>
            <a:ext cx="2468880" cy="41148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Detection Rules</a:t>
            </a:r>
          </a:p>
        </p:txBody>
      </p:sp>
      <p:sp>
        <p:nvSpPr>
          <p:cNvPr id="11" name="TextBox 10"/>
          <p:cNvSpPr txBox="1"/>
          <p:nvPr/>
        </p:nvSpPr>
        <p:spPr>
          <a:xfrm>
            <a:off x="8750808" y="2148840"/>
            <a:ext cx="2468880" cy="5943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Port scan: working</a:t>
            </a:r>
          </a:p>
          <a:p>
            <a:pPr algn="l">
              <a:spcAft>
                <a:spcPts val="0"/>
              </a:spcAft>
            </a:pPr>
            <a:r>
              <a:rPr sz="1400" b="0" i="0">
                <a:solidFill>
                  <a:srgbClr val="1F2937"/>
                </a:solidFill>
                <a:latin typeface="Calibri"/>
              </a:rPr>
              <a:t>SYN flood, ARP spoof: next</a:t>
            </a:r>
          </a:p>
        </p:txBody>
      </p:sp>
      <p:sp>
        <p:nvSpPr>
          <p:cNvPr id="12" name="Rounded Rectangle 11"/>
          <p:cNvSpPr/>
          <p:nvPr/>
        </p:nvSpPr>
        <p:spPr>
          <a:xfrm>
            <a:off x="8522208" y="3611880"/>
            <a:ext cx="2926080" cy="13716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50808" y="3867912"/>
            <a:ext cx="2468880" cy="41148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Server</a:t>
            </a:r>
          </a:p>
        </p:txBody>
      </p:sp>
      <p:sp>
        <p:nvSpPr>
          <p:cNvPr id="14" name="TextBox 13"/>
          <p:cNvSpPr txBox="1"/>
          <p:nvPr/>
        </p:nvSpPr>
        <p:spPr>
          <a:xfrm>
            <a:off x="8750808" y="4297680"/>
            <a:ext cx="2468880" cy="5943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Node.js and Express: check, log, forward</a:t>
            </a:r>
          </a:p>
        </p:txBody>
      </p:sp>
      <p:sp>
        <p:nvSpPr>
          <p:cNvPr id="15" name="Rounded Rectangle 14"/>
          <p:cNvSpPr/>
          <p:nvPr/>
        </p:nvSpPr>
        <p:spPr>
          <a:xfrm>
            <a:off x="4636008" y="3611880"/>
            <a:ext cx="2926080" cy="13716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64608" y="3867912"/>
            <a:ext cx="2468880" cy="41148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Live Dashboard</a:t>
            </a:r>
          </a:p>
        </p:txBody>
      </p:sp>
      <p:sp>
        <p:nvSpPr>
          <p:cNvPr id="17" name="TextBox 16"/>
          <p:cNvSpPr txBox="1"/>
          <p:nvPr/>
        </p:nvSpPr>
        <p:spPr>
          <a:xfrm>
            <a:off x="4864608" y="4297680"/>
            <a:ext cx="2468880" cy="5943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HTML, CSS and JavaScript</a:t>
            </a:r>
          </a:p>
        </p:txBody>
      </p:sp>
      <p:sp>
        <p:nvSpPr>
          <p:cNvPr id="18" name="Rounded Rectangle 17"/>
          <p:cNvSpPr/>
          <p:nvPr/>
        </p:nvSpPr>
        <p:spPr>
          <a:xfrm>
            <a:off x="749808" y="3611880"/>
            <a:ext cx="2926080" cy="13716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7" y="3867912"/>
            <a:ext cx="2468880" cy="41148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Administrator</a:t>
            </a:r>
          </a:p>
        </p:txBody>
      </p:sp>
      <p:sp>
        <p:nvSpPr>
          <p:cNvPr id="20" name="TextBox 19"/>
          <p:cNvSpPr txBox="1"/>
          <p:nvPr/>
        </p:nvSpPr>
        <p:spPr>
          <a:xfrm>
            <a:off x="978407" y="4297680"/>
            <a:ext cx="2468880" cy="5943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Sees live counts and red alerts</a:t>
            </a:r>
          </a:p>
        </p:txBody>
      </p:sp>
      <p:cxnSp>
        <p:nvCxnSpPr>
          <p:cNvPr id="21" name="Connector 20"/>
          <p:cNvCxnSpPr/>
          <p:nvPr/>
        </p:nvCxnSpPr>
        <p:spPr>
          <a:xfrm>
            <a:off x="3749040" y="2148840"/>
            <a:ext cx="813816" cy="0"/>
          </a:xfrm>
          <a:prstGeom prst="line">
            <a:avLst/>
          </a:prstGeom>
          <a:ln w="22225">
            <a:solidFill>
              <a:srgbClr val="5B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635240" y="2148840"/>
            <a:ext cx="813816" cy="0"/>
          </a:xfrm>
          <a:prstGeom prst="line">
            <a:avLst/>
          </a:prstGeom>
          <a:ln w="22225">
            <a:solidFill>
              <a:srgbClr val="5B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635240" y="4297680"/>
            <a:ext cx="813816" cy="0"/>
          </a:xfrm>
          <a:prstGeom prst="line">
            <a:avLst/>
          </a:prstGeom>
          <a:ln w="22225">
            <a:solidFill>
              <a:srgbClr val="5B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3749040" y="4297680"/>
            <a:ext cx="813816" cy="0"/>
          </a:xfrm>
          <a:prstGeom prst="line">
            <a:avLst/>
          </a:prstGeom>
          <a:ln w="22225">
            <a:solidFill>
              <a:srgbClr val="5B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985248" y="2889504"/>
            <a:ext cx="0" cy="667512"/>
          </a:xfrm>
          <a:prstGeom prst="line">
            <a:avLst/>
          </a:prstGeom>
          <a:ln w="22225">
            <a:solidFill>
              <a:srgbClr val="5B647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75888" y="1764792"/>
            <a:ext cx="960120" cy="27432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packets</a:t>
            </a:r>
          </a:p>
        </p:txBody>
      </p:sp>
      <p:sp>
        <p:nvSpPr>
          <p:cNvPr id="27" name="TextBox 26"/>
          <p:cNvSpPr txBox="1"/>
          <p:nvPr/>
        </p:nvSpPr>
        <p:spPr>
          <a:xfrm>
            <a:off x="7562088" y="1764792"/>
            <a:ext cx="960120" cy="27432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fields</a:t>
            </a:r>
          </a:p>
        </p:txBody>
      </p:sp>
      <p:sp>
        <p:nvSpPr>
          <p:cNvPr id="28" name="TextBox 27"/>
          <p:cNvSpPr txBox="1"/>
          <p:nvPr/>
        </p:nvSpPr>
        <p:spPr>
          <a:xfrm>
            <a:off x="7562088" y="3913632"/>
            <a:ext cx="960120" cy="27432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Socket.IO</a:t>
            </a:r>
          </a:p>
        </p:txBody>
      </p:sp>
      <p:sp>
        <p:nvSpPr>
          <p:cNvPr id="29" name="TextBox 28"/>
          <p:cNvSpPr txBox="1"/>
          <p:nvPr/>
        </p:nvSpPr>
        <p:spPr>
          <a:xfrm>
            <a:off x="3675888" y="3913632"/>
            <a:ext cx="960120" cy="27432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views</a:t>
            </a:r>
          </a:p>
        </p:txBody>
      </p:sp>
      <p:sp>
        <p:nvSpPr>
          <p:cNvPr id="30" name="TextBox 29"/>
          <p:cNvSpPr txBox="1"/>
          <p:nvPr/>
        </p:nvSpPr>
        <p:spPr>
          <a:xfrm>
            <a:off x="8019288" y="3063240"/>
            <a:ext cx="1828800" cy="320040"/>
          </a:xfrm>
          <a:prstGeom prst="rect">
            <a:avLst/>
          </a:prstGeom>
          <a:noFill/>
        </p:spPr>
        <p:txBody>
          <a:bodyPr wrap="square" lIns="0" rIns="0" tIns="0" bIns="0" anchor="t">
            <a:spAutoFit/>
          </a:bodyPr>
          <a:lstStyle/>
          <a:p>
            <a:pPr algn="r">
              <a:spcAft>
                <a:spcPts val="0"/>
              </a:spcAft>
            </a:pPr>
            <a:r>
              <a:rPr sz="1200" b="1" i="0">
                <a:solidFill>
                  <a:srgbClr val="5B6472"/>
                </a:solidFill>
                <a:latin typeface="Calibri"/>
              </a:rPr>
              <a:t>HTTP POST (JSON)</a:t>
            </a:r>
          </a:p>
        </p:txBody>
      </p:sp>
      <p:sp>
        <p:nvSpPr>
          <p:cNvPr id="31" name="Rounded Rectangle 30"/>
          <p:cNvSpPr/>
          <p:nvPr/>
        </p:nvSpPr>
        <p:spPr>
          <a:xfrm>
            <a:off x="8887968" y="5559552"/>
            <a:ext cx="2194560" cy="566928"/>
          </a:xfrm>
          <a:prstGeom prst="roundRect">
            <a:avLst>
              <a:gd name="adj" fmla="val 8000"/>
            </a:avLst>
          </a:prstGeom>
          <a:solidFill>
            <a:srgbClr val="FFFFFF"/>
          </a:solidFill>
          <a:ln w="12700">
            <a:solidFill>
              <a:srgbClr val="AEB8C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14213D"/>
                </a:solidFill>
                <a:latin typeface="Calibri"/>
              </a:rPr>
              <a:t>alerts.log  (JSON lines)</a:t>
            </a:r>
          </a:p>
        </p:txBody>
      </p:sp>
      <p:cxnSp>
        <p:nvCxnSpPr>
          <p:cNvPr id="32" name="Connector 31"/>
          <p:cNvCxnSpPr/>
          <p:nvPr/>
        </p:nvCxnSpPr>
        <p:spPr>
          <a:xfrm>
            <a:off x="9985248" y="5038344"/>
            <a:ext cx="0" cy="466344"/>
          </a:xfrm>
          <a:prstGeom prst="line">
            <a:avLst/>
          </a:prstGeom>
          <a:ln w="22225">
            <a:solidFill>
              <a:srgbClr val="5B647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567928" y="5093208"/>
            <a:ext cx="1280160" cy="274320"/>
          </a:xfrm>
          <a:prstGeom prst="rect">
            <a:avLst/>
          </a:prstGeom>
          <a:noFill/>
        </p:spPr>
        <p:txBody>
          <a:bodyPr wrap="square" lIns="0" rIns="0" tIns="0" bIns="0" anchor="t">
            <a:spAutoFit/>
          </a:bodyPr>
          <a:lstStyle/>
          <a:p>
            <a:pPr algn="r">
              <a:spcAft>
                <a:spcPts val="0"/>
              </a:spcAft>
            </a:pPr>
            <a:r>
              <a:rPr sz="1200" b="1" i="0">
                <a:solidFill>
                  <a:srgbClr val="5B6472"/>
                </a:solidFill>
                <a:latin typeface="Calibri"/>
              </a:rPr>
              <a:t>append</a:t>
            </a:r>
          </a:p>
        </p:txBody>
      </p:sp>
      <p:sp>
        <p:nvSpPr>
          <p:cNvPr id="34" name="TextBox 33"/>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Evaluation 1</a:t>
            </a:r>
          </a:p>
        </p:txBody>
      </p:sp>
      <p:sp>
        <p:nvSpPr>
          <p:cNvPr id="35" name="TextBox 34"/>
          <p:cNvSpPr txBox="1"/>
          <p:nvPr/>
        </p:nvSpPr>
        <p:spPr>
          <a:xfrm>
            <a:off x="10725912" y="6419088"/>
            <a:ext cx="91440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Technology Stack</a:t>
            </a:r>
          </a:p>
        </p:txBody>
      </p:sp>
      <p:sp>
        <p:nvSpPr>
          <p:cNvPr id="3" name="Rounded Rectangle 2"/>
          <p:cNvSpPr/>
          <p:nvPr/>
        </p:nvSpPr>
        <p:spPr>
          <a:xfrm>
            <a:off x="548640" y="1463040"/>
            <a:ext cx="347472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719072"/>
            <a:ext cx="2926080"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CAPTURE</a:t>
            </a:r>
          </a:p>
        </p:txBody>
      </p:sp>
      <p:sp>
        <p:nvSpPr>
          <p:cNvPr id="5" name="TextBox 4"/>
          <p:cNvSpPr txBox="1"/>
          <p:nvPr/>
        </p:nvSpPr>
        <p:spPr>
          <a:xfrm>
            <a:off x="822959" y="2029968"/>
            <a:ext cx="2926080" cy="685800"/>
          </a:xfrm>
          <a:prstGeom prst="rect">
            <a:avLst/>
          </a:prstGeom>
          <a:noFill/>
        </p:spPr>
        <p:txBody>
          <a:bodyPr wrap="square" lIns="0" rIns="0" tIns="0" bIns="0" anchor="t">
            <a:spAutoFit/>
          </a:bodyPr>
          <a:lstStyle/>
          <a:p>
            <a:pPr algn="l">
              <a:lnSpc>
                <a:spcPct val="95000"/>
              </a:lnSpc>
              <a:spcAft>
                <a:spcPts val="0"/>
              </a:spcAft>
            </a:pPr>
            <a:r>
              <a:rPr sz="2000" b="1" i="0">
                <a:solidFill>
                  <a:srgbClr val="14213D"/>
                </a:solidFill>
                <a:latin typeface="Calibri"/>
              </a:rPr>
              <a:t>Npcap 1.89</a:t>
            </a:r>
          </a:p>
        </p:txBody>
      </p:sp>
      <p:sp>
        <p:nvSpPr>
          <p:cNvPr id="6" name="TextBox 5"/>
          <p:cNvSpPr txBox="1"/>
          <p:nvPr/>
        </p:nvSpPr>
        <p:spPr>
          <a:xfrm>
            <a:off x="822959" y="2761488"/>
            <a:ext cx="2926080" cy="41148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Reads raw packets on Windows</a:t>
            </a:r>
          </a:p>
        </p:txBody>
      </p:sp>
      <p:sp>
        <p:nvSpPr>
          <p:cNvPr id="7" name="Rounded Rectangle 6"/>
          <p:cNvSpPr/>
          <p:nvPr/>
        </p:nvSpPr>
        <p:spPr>
          <a:xfrm>
            <a:off x="4343400" y="1463040"/>
            <a:ext cx="347472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719072"/>
            <a:ext cx="2926080"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SENSOR</a:t>
            </a:r>
          </a:p>
        </p:txBody>
      </p:sp>
      <p:sp>
        <p:nvSpPr>
          <p:cNvPr id="9" name="TextBox 8"/>
          <p:cNvSpPr txBox="1"/>
          <p:nvPr/>
        </p:nvSpPr>
        <p:spPr>
          <a:xfrm>
            <a:off x="4617720" y="2029968"/>
            <a:ext cx="2926080" cy="685800"/>
          </a:xfrm>
          <a:prstGeom prst="rect">
            <a:avLst/>
          </a:prstGeom>
          <a:noFill/>
        </p:spPr>
        <p:txBody>
          <a:bodyPr wrap="square" lIns="0" rIns="0" tIns="0" bIns="0" anchor="t">
            <a:spAutoFit/>
          </a:bodyPr>
          <a:lstStyle/>
          <a:p>
            <a:pPr algn="l">
              <a:lnSpc>
                <a:spcPct val="95000"/>
              </a:lnSpc>
              <a:spcAft>
                <a:spcPts val="0"/>
              </a:spcAft>
            </a:pPr>
            <a:r>
              <a:rPr sz="2000" b="1" i="0">
                <a:solidFill>
                  <a:srgbClr val="14213D"/>
                </a:solidFill>
                <a:latin typeface="Calibri"/>
              </a:rPr>
              <a:t>Python 3.13 and Scapy 2.8</a:t>
            </a:r>
          </a:p>
        </p:txBody>
      </p:sp>
      <p:sp>
        <p:nvSpPr>
          <p:cNvPr id="10" name="TextBox 9"/>
          <p:cNvSpPr txBox="1"/>
          <p:nvPr/>
        </p:nvSpPr>
        <p:spPr>
          <a:xfrm>
            <a:off x="4617720" y="2761488"/>
            <a:ext cx="2926080" cy="41148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Decodes IP, TCP, UDP and ARP</a:t>
            </a:r>
          </a:p>
        </p:txBody>
      </p:sp>
      <p:sp>
        <p:nvSpPr>
          <p:cNvPr id="11" name="Rounded Rectangle 10"/>
          <p:cNvSpPr/>
          <p:nvPr/>
        </p:nvSpPr>
        <p:spPr>
          <a:xfrm>
            <a:off x="8138160" y="1463040"/>
            <a:ext cx="347472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719072"/>
            <a:ext cx="2926080"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RULES</a:t>
            </a:r>
          </a:p>
        </p:txBody>
      </p:sp>
      <p:sp>
        <p:nvSpPr>
          <p:cNvPr id="13" name="TextBox 12"/>
          <p:cNvSpPr txBox="1"/>
          <p:nvPr/>
        </p:nvSpPr>
        <p:spPr>
          <a:xfrm>
            <a:off x="8412480" y="2029968"/>
            <a:ext cx="2926080" cy="685800"/>
          </a:xfrm>
          <a:prstGeom prst="rect">
            <a:avLst/>
          </a:prstGeom>
          <a:noFill/>
        </p:spPr>
        <p:txBody>
          <a:bodyPr wrap="square" lIns="0" rIns="0" tIns="0" bIns="0" anchor="t">
            <a:spAutoFit/>
          </a:bodyPr>
          <a:lstStyle/>
          <a:p>
            <a:pPr algn="l">
              <a:lnSpc>
                <a:spcPct val="95000"/>
              </a:lnSpc>
              <a:spcAft>
                <a:spcPts val="0"/>
              </a:spcAft>
            </a:pPr>
            <a:r>
              <a:rPr sz="2000" b="1" i="0">
                <a:solidFill>
                  <a:srgbClr val="14213D"/>
                </a:solidFill>
                <a:latin typeface="Calibri"/>
              </a:rPr>
              <a:t>Python standard library</a:t>
            </a:r>
          </a:p>
        </p:txBody>
      </p:sp>
      <p:sp>
        <p:nvSpPr>
          <p:cNvPr id="14" name="TextBox 13"/>
          <p:cNvSpPr txBox="1"/>
          <p:nvPr/>
        </p:nvSpPr>
        <p:spPr>
          <a:xfrm>
            <a:off x="8412480" y="2761488"/>
            <a:ext cx="2926080" cy="41148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deque window and set of ports</a:t>
            </a:r>
          </a:p>
        </p:txBody>
      </p:sp>
      <p:sp>
        <p:nvSpPr>
          <p:cNvPr id="15" name="Rounded Rectangle 14"/>
          <p:cNvSpPr/>
          <p:nvPr/>
        </p:nvSpPr>
        <p:spPr>
          <a:xfrm>
            <a:off x="548640" y="3566160"/>
            <a:ext cx="347472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3822191"/>
            <a:ext cx="2926080"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SERVER</a:t>
            </a:r>
          </a:p>
        </p:txBody>
      </p:sp>
      <p:sp>
        <p:nvSpPr>
          <p:cNvPr id="17" name="TextBox 16"/>
          <p:cNvSpPr txBox="1"/>
          <p:nvPr/>
        </p:nvSpPr>
        <p:spPr>
          <a:xfrm>
            <a:off x="822959" y="4133087"/>
            <a:ext cx="2926080" cy="685800"/>
          </a:xfrm>
          <a:prstGeom prst="rect">
            <a:avLst/>
          </a:prstGeom>
          <a:noFill/>
        </p:spPr>
        <p:txBody>
          <a:bodyPr wrap="square" lIns="0" rIns="0" tIns="0" bIns="0" anchor="t">
            <a:spAutoFit/>
          </a:bodyPr>
          <a:lstStyle/>
          <a:p>
            <a:pPr algn="l">
              <a:lnSpc>
                <a:spcPct val="95000"/>
              </a:lnSpc>
              <a:spcAft>
                <a:spcPts val="0"/>
              </a:spcAft>
            </a:pPr>
            <a:r>
              <a:rPr sz="2000" b="1" i="0">
                <a:solidFill>
                  <a:srgbClr val="14213D"/>
                </a:solidFill>
                <a:latin typeface="Calibri"/>
              </a:rPr>
              <a:t>Node.js 24 and Express 5</a:t>
            </a:r>
          </a:p>
        </p:txBody>
      </p:sp>
      <p:sp>
        <p:nvSpPr>
          <p:cNvPr id="18" name="TextBox 17"/>
          <p:cNvSpPr txBox="1"/>
          <p:nvPr/>
        </p:nvSpPr>
        <p:spPr>
          <a:xfrm>
            <a:off x="822959" y="4864608"/>
            <a:ext cx="2926080" cy="41148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Receives alerts by HTTP POST</a:t>
            </a:r>
          </a:p>
        </p:txBody>
      </p:sp>
      <p:sp>
        <p:nvSpPr>
          <p:cNvPr id="19" name="Rounded Rectangle 18"/>
          <p:cNvSpPr/>
          <p:nvPr/>
        </p:nvSpPr>
        <p:spPr>
          <a:xfrm>
            <a:off x="4343400" y="3566160"/>
            <a:ext cx="347472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822191"/>
            <a:ext cx="2926080"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LIVE PUSH</a:t>
            </a:r>
          </a:p>
        </p:txBody>
      </p:sp>
      <p:sp>
        <p:nvSpPr>
          <p:cNvPr id="21" name="TextBox 20"/>
          <p:cNvSpPr txBox="1"/>
          <p:nvPr/>
        </p:nvSpPr>
        <p:spPr>
          <a:xfrm>
            <a:off x="4617720" y="4133087"/>
            <a:ext cx="2926080" cy="685800"/>
          </a:xfrm>
          <a:prstGeom prst="rect">
            <a:avLst/>
          </a:prstGeom>
          <a:noFill/>
        </p:spPr>
        <p:txBody>
          <a:bodyPr wrap="square" lIns="0" rIns="0" tIns="0" bIns="0" anchor="t">
            <a:spAutoFit/>
          </a:bodyPr>
          <a:lstStyle/>
          <a:p>
            <a:pPr algn="l">
              <a:lnSpc>
                <a:spcPct val="95000"/>
              </a:lnSpc>
              <a:spcAft>
                <a:spcPts val="0"/>
              </a:spcAft>
            </a:pPr>
            <a:r>
              <a:rPr sz="2000" b="1" i="0">
                <a:solidFill>
                  <a:srgbClr val="14213D"/>
                </a:solidFill>
                <a:latin typeface="Calibri"/>
              </a:rPr>
              <a:t>Socket.IO 4</a:t>
            </a:r>
          </a:p>
        </p:txBody>
      </p:sp>
      <p:sp>
        <p:nvSpPr>
          <p:cNvPr id="22" name="TextBox 21"/>
          <p:cNvSpPr txBox="1"/>
          <p:nvPr/>
        </p:nvSpPr>
        <p:spPr>
          <a:xfrm>
            <a:off x="4617720" y="4864608"/>
            <a:ext cx="2926080" cy="41148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Alerts reach the browser instantly</a:t>
            </a:r>
          </a:p>
        </p:txBody>
      </p:sp>
      <p:sp>
        <p:nvSpPr>
          <p:cNvPr id="23" name="Rounded Rectangle 22"/>
          <p:cNvSpPr/>
          <p:nvPr/>
        </p:nvSpPr>
        <p:spPr>
          <a:xfrm>
            <a:off x="8138160" y="3566160"/>
            <a:ext cx="347472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0" y="3822191"/>
            <a:ext cx="2926080"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DASHBOARD</a:t>
            </a:r>
          </a:p>
        </p:txBody>
      </p:sp>
      <p:sp>
        <p:nvSpPr>
          <p:cNvPr id="25" name="TextBox 24"/>
          <p:cNvSpPr txBox="1"/>
          <p:nvPr/>
        </p:nvSpPr>
        <p:spPr>
          <a:xfrm>
            <a:off x="8412480" y="4133087"/>
            <a:ext cx="2926080" cy="685800"/>
          </a:xfrm>
          <a:prstGeom prst="rect">
            <a:avLst/>
          </a:prstGeom>
          <a:noFill/>
        </p:spPr>
        <p:txBody>
          <a:bodyPr wrap="square" lIns="0" rIns="0" tIns="0" bIns="0" anchor="t">
            <a:spAutoFit/>
          </a:bodyPr>
          <a:lstStyle/>
          <a:p>
            <a:pPr algn="l">
              <a:lnSpc>
                <a:spcPct val="95000"/>
              </a:lnSpc>
              <a:spcAft>
                <a:spcPts val="0"/>
              </a:spcAft>
            </a:pPr>
            <a:r>
              <a:rPr sz="2000" b="1" i="0">
                <a:solidFill>
                  <a:srgbClr val="14213D"/>
                </a:solidFill>
                <a:latin typeface="Calibri"/>
              </a:rPr>
              <a:t>HTML, CSS, JavaScript</a:t>
            </a:r>
          </a:p>
        </p:txBody>
      </p:sp>
      <p:sp>
        <p:nvSpPr>
          <p:cNvPr id="26" name="TextBox 25"/>
          <p:cNvSpPr txBox="1"/>
          <p:nvPr/>
        </p:nvSpPr>
        <p:spPr>
          <a:xfrm>
            <a:off x="8412480" y="4864608"/>
            <a:ext cx="2926080" cy="41148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Runs in any browser</a:t>
            </a:r>
          </a:p>
        </p:txBody>
      </p:sp>
      <p:sp>
        <p:nvSpPr>
          <p:cNvPr id="27" name="TextBox 26"/>
          <p:cNvSpPr txBox="1"/>
          <p:nvPr/>
        </p:nvSpPr>
        <p:spPr>
          <a:xfrm>
            <a:off x="548640" y="5760720"/>
            <a:ext cx="3474720" cy="365760"/>
          </a:xfrm>
          <a:prstGeom prst="rect">
            <a:avLst/>
          </a:prstGeom>
          <a:noFill/>
        </p:spPr>
        <p:txBody>
          <a:bodyPr wrap="square" lIns="0" rIns="0" tIns="0" bIns="0" anchor="t">
            <a:spAutoFit/>
          </a:bodyPr>
          <a:lstStyle/>
          <a:p>
            <a:pPr algn="l">
              <a:spcAft>
                <a:spcPts val="0"/>
              </a:spcAft>
            </a:pPr>
            <a:r>
              <a:rPr sz="1500" b="1" i="0">
                <a:solidFill>
                  <a:srgbClr val="14213D"/>
                </a:solidFill>
                <a:latin typeface="Calibri"/>
              </a:rPr>
              <a:t>Storage: </a:t>
            </a:r>
            <a:r>
              <a:rPr sz="1500" b="0" i="0">
                <a:solidFill>
                  <a:srgbClr val="1F2937"/>
                </a:solidFill>
                <a:latin typeface="Calibri"/>
              </a:rPr>
              <a:t>alerts.log, SQLite planned</a:t>
            </a:r>
          </a:p>
        </p:txBody>
      </p:sp>
      <p:sp>
        <p:nvSpPr>
          <p:cNvPr id="28" name="TextBox 27"/>
          <p:cNvSpPr txBox="1"/>
          <p:nvPr/>
        </p:nvSpPr>
        <p:spPr>
          <a:xfrm>
            <a:off x="4343400" y="5760720"/>
            <a:ext cx="3474720" cy="365760"/>
          </a:xfrm>
          <a:prstGeom prst="rect">
            <a:avLst/>
          </a:prstGeom>
          <a:noFill/>
        </p:spPr>
        <p:txBody>
          <a:bodyPr wrap="square" lIns="0" rIns="0" tIns="0" bIns="0" anchor="t">
            <a:spAutoFit/>
          </a:bodyPr>
          <a:lstStyle/>
          <a:p>
            <a:pPr algn="l">
              <a:spcAft>
                <a:spcPts val="0"/>
              </a:spcAft>
            </a:pPr>
            <a:r>
              <a:rPr sz="1500" b="1" i="0">
                <a:solidFill>
                  <a:srgbClr val="14213D"/>
                </a:solidFill>
                <a:latin typeface="Calibri"/>
              </a:rPr>
              <a:t>Testing: </a:t>
            </a:r>
            <a:r>
              <a:rPr sz="1500" b="0" i="0">
                <a:solidFill>
                  <a:srgbClr val="1F2937"/>
                </a:solidFill>
                <a:latin typeface="Calibri"/>
              </a:rPr>
              <a:t>scan_test.py, Nmap, Wireshark</a:t>
            </a:r>
          </a:p>
        </p:txBody>
      </p:sp>
      <p:sp>
        <p:nvSpPr>
          <p:cNvPr id="29" name="TextBox 28"/>
          <p:cNvSpPr txBox="1"/>
          <p:nvPr/>
        </p:nvSpPr>
        <p:spPr>
          <a:xfrm>
            <a:off x="8138160" y="5760720"/>
            <a:ext cx="3474720" cy="365760"/>
          </a:xfrm>
          <a:prstGeom prst="rect">
            <a:avLst/>
          </a:prstGeom>
          <a:noFill/>
        </p:spPr>
        <p:txBody>
          <a:bodyPr wrap="square" lIns="0" rIns="0" tIns="0" bIns="0" anchor="t">
            <a:spAutoFit/>
          </a:bodyPr>
          <a:lstStyle/>
          <a:p>
            <a:pPr algn="l">
              <a:spcAft>
                <a:spcPts val="0"/>
              </a:spcAft>
            </a:pPr>
            <a:r>
              <a:rPr sz="1500" b="1" i="0">
                <a:solidFill>
                  <a:srgbClr val="14213D"/>
                </a:solidFill>
                <a:latin typeface="Calibri"/>
              </a:rPr>
              <a:t>Tools: </a:t>
            </a:r>
            <a:r>
              <a:rPr sz="1500" b="0" i="0">
                <a:solidFill>
                  <a:srgbClr val="1F2937"/>
                </a:solidFill>
                <a:latin typeface="Calibri"/>
              </a:rPr>
              <a:t>VS Code, Git</a:t>
            </a:r>
          </a:p>
        </p:txBody>
      </p:sp>
      <p:sp>
        <p:nvSpPr>
          <p:cNvPr id="30" name="TextBox 29"/>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Evaluation 1</a:t>
            </a:r>
          </a:p>
        </p:txBody>
      </p:sp>
      <p:sp>
        <p:nvSpPr>
          <p:cNvPr id="31" name="TextBox 30"/>
          <p:cNvSpPr txBox="1"/>
          <p:nvPr/>
        </p:nvSpPr>
        <p:spPr>
          <a:xfrm>
            <a:off x="10725912" y="6419088"/>
            <a:ext cx="91440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Methodology</a:t>
            </a:r>
          </a:p>
        </p:txBody>
      </p:sp>
      <p:sp>
        <p:nvSpPr>
          <p:cNvPr id="3" name="TextBox 2"/>
          <p:cNvSpPr txBox="1"/>
          <p:nvPr/>
        </p:nvSpPr>
        <p:spPr>
          <a:xfrm>
            <a:off x="548640" y="1371600"/>
            <a:ext cx="10972800" cy="36576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Development model: </a:t>
            </a:r>
            <a:r>
              <a:rPr sz="1800" b="0" i="0">
                <a:solidFill>
                  <a:srgbClr val="1F2937"/>
                </a:solidFill>
                <a:latin typeface="Calibri"/>
              </a:rPr>
              <a:t>Incremental, each round adds a working module</a:t>
            </a:r>
          </a:p>
        </p:txBody>
      </p:sp>
      <p:sp>
        <p:nvSpPr>
          <p:cNvPr id="4" name="Rounded Rectangle 3"/>
          <p:cNvSpPr/>
          <p:nvPr/>
        </p:nvSpPr>
        <p:spPr>
          <a:xfrm>
            <a:off x="548640" y="1874519"/>
            <a:ext cx="3474720" cy="14630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2057400"/>
            <a:ext cx="2011680" cy="365760"/>
          </a:xfrm>
          <a:prstGeom prst="rect">
            <a:avLst/>
          </a:prstGeom>
          <a:noFill/>
        </p:spPr>
        <p:txBody>
          <a:bodyPr wrap="square" lIns="0" rIns="0" tIns="0" bIns="0" anchor="t">
            <a:spAutoFit/>
          </a:bodyPr>
          <a:lstStyle/>
          <a:p>
            <a:pPr algn="l">
              <a:spcAft>
                <a:spcPts val="0"/>
              </a:spcAft>
            </a:pPr>
            <a:r>
              <a:rPr sz="1900" b="1" i="0">
                <a:solidFill>
                  <a:srgbClr val="14213D"/>
                </a:solidFill>
                <a:latin typeface="Calibri"/>
              </a:rPr>
              <a:t>Round 1</a:t>
            </a:r>
          </a:p>
        </p:txBody>
      </p:sp>
      <p:sp>
        <p:nvSpPr>
          <p:cNvPr id="6" name="Rounded Rectangle 5"/>
          <p:cNvSpPr/>
          <p:nvPr/>
        </p:nvSpPr>
        <p:spPr>
          <a:xfrm>
            <a:off x="2880359" y="2103120"/>
            <a:ext cx="868680" cy="329184"/>
          </a:xfrm>
          <a:prstGeom prst="roundRect">
            <a:avLst>
              <a:gd name="adj" fmla="val 50000"/>
            </a:avLst>
          </a:prstGeom>
          <a:solidFill>
            <a:srgbClr val="DDF1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1B7F73"/>
                </a:solidFill>
                <a:latin typeface="Calibri"/>
              </a:rPr>
              <a:t>Done</a:t>
            </a:r>
          </a:p>
        </p:txBody>
      </p:sp>
      <p:sp>
        <p:nvSpPr>
          <p:cNvPr id="7" name="TextBox 6"/>
          <p:cNvSpPr txBox="1"/>
          <p:nvPr/>
        </p:nvSpPr>
        <p:spPr>
          <a:xfrm>
            <a:off x="822959" y="2450592"/>
            <a:ext cx="2926080" cy="274320"/>
          </a:xfrm>
          <a:prstGeom prst="rect">
            <a:avLst/>
          </a:prstGeom>
          <a:noFill/>
        </p:spPr>
        <p:txBody>
          <a:bodyPr wrap="square" lIns="0" rIns="0" tIns="0" bIns="0" anchor="t">
            <a:spAutoFit/>
          </a:bodyPr>
          <a:lstStyle/>
          <a:p>
            <a:pPr algn="l">
              <a:spcAft>
                <a:spcPts val="0"/>
              </a:spcAft>
            </a:pPr>
            <a:r>
              <a:rPr sz="1300" b="1" i="0">
                <a:solidFill>
                  <a:srgbClr val="5B6472"/>
                </a:solidFill>
                <a:latin typeface="Calibri"/>
              </a:rPr>
              <a:t>Till 10 October</a:t>
            </a:r>
          </a:p>
        </p:txBody>
      </p:sp>
      <p:sp>
        <p:nvSpPr>
          <p:cNvPr id="8" name="TextBox 7"/>
          <p:cNvSpPr txBox="1"/>
          <p:nvPr/>
        </p:nvSpPr>
        <p:spPr>
          <a:xfrm>
            <a:off x="822959" y="2743200"/>
            <a:ext cx="2926080" cy="50292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Capture, port scan, server, dashboard</a:t>
            </a:r>
          </a:p>
        </p:txBody>
      </p:sp>
      <p:sp>
        <p:nvSpPr>
          <p:cNvPr id="9" name="Rounded Rectangle 8"/>
          <p:cNvSpPr/>
          <p:nvPr/>
        </p:nvSpPr>
        <p:spPr>
          <a:xfrm>
            <a:off x="4343400" y="1874519"/>
            <a:ext cx="3474720" cy="14630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057400"/>
            <a:ext cx="2011680" cy="365760"/>
          </a:xfrm>
          <a:prstGeom prst="rect">
            <a:avLst/>
          </a:prstGeom>
          <a:noFill/>
        </p:spPr>
        <p:txBody>
          <a:bodyPr wrap="square" lIns="0" rIns="0" tIns="0" bIns="0" anchor="t">
            <a:spAutoFit/>
          </a:bodyPr>
          <a:lstStyle/>
          <a:p>
            <a:pPr algn="l">
              <a:spcAft>
                <a:spcPts val="0"/>
              </a:spcAft>
            </a:pPr>
            <a:r>
              <a:rPr sz="1900" b="1" i="0">
                <a:solidFill>
                  <a:srgbClr val="14213D"/>
                </a:solidFill>
                <a:latin typeface="Calibri"/>
              </a:rPr>
              <a:t>Round 2</a:t>
            </a:r>
          </a:p>
        </p:txBody>
      </p:sp>
      <p:sp>
        <p:nvSpPr>
          <p:cNvPr id="11" name="Rounded Rectangle 10"/>
          <p:cNvSpPr/>
          <p:nvPr/>
        </p:nvSpPr>
        <p:spPr>
          <a:xfrm>
            <a:off x="6675120" y="2103120"/>
            <a:ext cx="868680" cy="329184"/>
          </a:xfrm>
          <a:prstGeom prst="roundRect">
            <a:avLst>
              <a:gd name="adj" fmla="val 50000"/>
            </a:avLst>
          </a:prstGeom>
          <a:solidFill>
            <a:srgbClr val="E6E9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5B6472"/>
                </a:solidFill>
                <a:latin typeface="Calibri"/>
              </a:rPr>
              <a:t>Next</a:t>
            </a:r>
          </a:p>
        </p:txBody>
      </p:sp>
      <p:sp>
        <p:nvSpPr>
          <p:cNvPr id="12" name="TextBox 11"/>
          <p:cNvSpPr txBox="1"/>
          <p:nvPr/>
        </p:nvSpPr>
        <p:spPr>
          <a:xfrm>
            <a:off x="4617720" y="2450592"/>
            <a:ext cx="2926080" cy="274320"/>
          </a:xfrm>
          <a:prstGeom prst="rect">
            <a:avLst/>
          </a:prstGeom>
          <a:noFill/>
        </p:spPr>
        <p:txBody>
          <a:bodyPr wrap="square" lIns="0" rIns="0" tIns="0" bIns="0" anchor="t">
            <a:spAutoFit/>
          </a:bodyPr>
          <a:lstStyle/>
          <a:p>
            <a:pPr algn="l">
              <a:spcAft>
                <a:spcPts val="0"/>
              </a:spcAft>
            </a:pPr>
            <a:r>
              <a:rPr sz="1300" b="1" i="0">
                <a:solidFill>
                  <a:srgbClr val="5B6472"/>
                </a:solidFill>
                <a:latin typeface="Calibri"/>
              </a:rPr>
              <a:t>Till 30 October</a:t>
            </a:r>
          </a:p>
        </p:txBody>
      </p:sp>
      <p:sp>
        <p:nvSpPr>
          <p:cNvPr id="13" name="TextBox 12"/>
          <p:cNvSpPr txBox="1"/>
          <p:nvPr/>
        </p:nvSpPr>
        <p:spPr>
          <a:xfrm>
            <a:off x="4617720" y="2743200"/>
            <a:ext cx="2926080" cy="50292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SYN flood and ARP spoofing rules</a:t>
            </a:r>
          </a:p>
        </p:txBody>
      </p:sp>
      <p:sp>
        <p:nvSpPr>
          <p:cNvPr id="14" name="Rounded Rectangle 13"/>
          <p:cNvSpPr/>
          <p:nvPr/>
        </p:nvSpPr>
        <p:spPr>
          <a:xfrm>
            <a:off x="8138160" y="1874519"/>
            <a:ext cx="3474720" cy="14630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2057400"/>
            <a:ext cx="2011680" cy="365760"/>
          </a:xfrm>
          <a:prstGeom prst="rect">
            <a:avLst/>
          </a:prstGeom>
          <a:noFill/>
        </p:spPr>
        <p:txBody>
          <a:bodyPr wrap="square" lIns="0" rIns="0" tIns="0" bIns="0" anchor="t">
            <a:spAutoFit/>
          </a:bodyPr>
          <a:lstStyle/>
          <a:p>
            <a:pPr algn="l">
              <a:spcAft>
                <a:spcPts val="0"/>
              </a:spcAft>
            </a:pPr>
            <a:r>
              <a:rPr sz="1900" b="1" i="0">
                <a:solidFill>
                  <a:srgbClr val="14213D"/>
                </a:solidFill>
                <a:latin typeface="Calibri"/>
              </a:rPr>
              <a:t>Round 3</a:t>
            </a:r>
          </a:p>
        </p:txBody>
      </p:sp>
      <p:sp>
        <p:nvSpPr>
          <p:cNvPr id="16" name="Rounded Rectangle 15"/>
          <p:cNvSpPr/>
          <p:nvPr/>
        </p:nvSpPr>
        <p:spPr>
          <a:xfrm>
            <a:off x="10469880" y="2103120"/>
            <a:ext cx="868680" cy="329184"/>
          </a:xfrm>
          <a:prstGeom prst="roundRect">
            <a:avLst>
              <a:gd name="adj" fmla="val 50000"/>
            </a:avLst>
          </a:prstGeom>
          <a:solidFill>
            <a:srgbClr val="E6E9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5B6472"/>
                </a:solidFill>
                <a:latin typeface="Calibri"/>
              </a:rPr>
              <a:t>Next</a:t>
            </a:r>
          </a:p>
        </p:txBody>
      </p:sp>
      <p:sp>
        <p:nvSpPr>
          <p:cNvPr id="17" name="TextBox 16"/>
          <p:cNvSpPr txBox="1"/>
          <p:nvPr/>
        </p:nvSpPr>
        <p:spPr>
          <a:xfrm>
            <a:off x="8412480" y="2450592"/>
            <a:ext cx="2926080" cy="274320"/>
          </a:xfrm>
          <a:prstGeom prst="rect">
            <a:avLst/>
          </a:prstGeom>
          <a:noFill/>
        </p:spPr>
        <p:txBody>
          <a:bodyPr wrap="square" lIns="0" rIns="0" tIns="0" bIns="0" anchor="t">
            <a:spAutoFit/>
          </a:bodyPr>
          <a:lstStyle/>
          <a:p>
            <a:pPr algn="l">
              <a:spcAft>
                <a:spcPts val="0"/>
              </a:spcAft>
            </a:pPr>
            <a:r>
              <a:rPr sz="1300" b="1" i="0">
                <a:solidFill>
                  <a:srgbClr val="5B6472"/>
                </a:solidFill>
                <a:latin typeface="Calibri"/>
              </a:rPr>
              <a:t>November</a:t>
            </a:r>
          </a:p>
        </p:txBody>
      </p:sp>
      <p:sp>
        <p:nvSpPr>
          <p:cNvPr id="18" name="TextBox 17"/>
          <p:cNvSpPr txBox="1"/>
          <p:nvPr/>
        </p:nvSpPr>
        <p:spPr>
          <a:xfrm>
            <a:off x="8412480" y="2743200"/>
            <a:ext cx="2926080" cy="50292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Testing, report and final demo</a:t>
            </a:r>
          </a:p>
        </p:txBody>
      </p:sp>
      <p:sp>
        <p:nvSpPr>
          <p:cNvPr id="19" name="TextBox 18"/>
          <p:cNvSpPr txBox="1"/>
          <p:nvPr/>
        </p:nvSpPr>
        <p:spPr>
          <a:xfrm>
            <a:off x="548640" y="3703320"/>
            <a:ext cx="10972800" cy="36576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How the system works</a:t>
            </a:r>
          </a:p>
        </p:txBody>
      </p:sp>
      <p:sp>
        <p:nvSpPr>
          <p:cNvPr id="20" name="Oval 19"/>
          <p:cNvSpPr/>
          <p:nvPr/>
        </p:nvSpPr>
        <p:spPr>
          <a:xfrm>
            <a:off x="548640" y="4206240"/>
            <a:ext cx="566928" cy="566928"/>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1</a:t>
            </a:r>
          </a:p>
        </p:txBody>
      </p:sp>
      <p:cxnSp>
        <p:nvCxnSpPr>
          <p:cNvPr id="21" name="Connector 20"/>
          <p:cNvCxnSpPr/>
          <p:nvPr/>
        </p:nvCxnSpPr>
        <p:spPr>
          <a:xfrm>
            <a:off x="1207007" y="4489704"/>
            <a:ext cx="1508761" cy="0"/>
          </a:xfrm>
          <a:prstGeom prst="line">
            <a:avLst/>
          </a:prstGeom>
          <a:ln w="19050">
            <a:solidFill>
              <a:srgbClr val="AEB8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4919472"/>
            <a:ext cx="2011680" cy="36576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Capture</a:t>
            </a:r>
          </a:p>
        </p:txBody>
      </p:sp>
      <p:sp>
        <p:nvSpPr>
          <p:cNvPr id="23" name="TextBox 22"/>
          <p:cNvSpPr txBox="1"/>
          <p:nvPr/>
        </p:nvSpPr>
        <p:spPr>
          <a:xfrm>
            <a:off x="548640" y="5303520"/>
            <a:ext cx="2011680" cy="8229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Scapy and Npcap with a packet filter</a:t>
            </a:r>
          </a:p>
        </p:txBody>
      </p:sp>
      <p:sp>
        <p:nvSpPr>
          <p:cNvPr id="24" name="Oval 23"/>
          <p:cNvSpPr/>
          <p:nvPr/>
        </p:nvSpPr>
        <p:spPr>
          <a:xfrm>
            <a:off x="2807208" y="4206240"/>
            <a:ext cx="566928" cy="566928"/>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2</a:t>
            </a:r>
          </a:p>
        </p:txBody>
      </p:sp>
      <p:cxnSp>
        <p:nvCxnSpPr>
          <p:cNvPr id="25" name="Connector 24"/>
          <p:cNvCxnSpPr/>
          <p:nvPr/>
        </p:nvCxnSpPr>
        <p:spPr>
          <a:xfrm>
            <a:off x="3465576" y="4489704"/>
            <a:ext cx="1508760" cy="0"/>
          </a:xfrm>
          <a:prstGeom prst="line">
            <a:avLst/>
          </a:prstGeom>
          <a:ln w="19050">
            <a:solidFill>
              <a:srgbClr val="AEB8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07208" y="4919472"/>
            <a:ext cx="2011680" cy="36576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Count</a:t>
            </a:r>
          </a:p>
        </p:txBody>
      </p:sp>
      <p:sp>
        <p:nvSpPr>
          <p:cNvPr id="27" name="TextBox 26"/>
          <p:cNvSpPr txBox="1"/>
          <p:nvPr/>
        </p:nvSpPr>
        <p:spPr>
          <a:xfrm>
            <a:off x="2807208" y="5303520"/>
            <a:ext cx="2011680" cy="8229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TCP, UDP and ARP every second</a:t>
            </a:r>
          </a:p>
        </p:txBody>
      </p:sp>
      <p:sp>
        <p:nvSpPr>
          <p:cNvPr id="28" name="Oval 27"/>
          <p:cNvSpPr/>
          <p:nvPr/>
        </p:nvSpPr>
        <p:spPr>
          <a:xfrm>
            <a:off x="5065776" y="4206240"/>
            <a:ext cx="566928" cy="566928"/>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3</a:t>
            </a:r>
          </a:p>
        </p:txBody>
      </p:sp>
      <p:cxnSp>
        <p:nvCxnSpPr>
          <p:cNvPr id="29" name="Connector 28"/>
          <p:cNvCxnSpPr/>
          <p:nvPr/>
        </p:nvCxnSpPr>
        <p:spPr>
          <a:xfrm>
            <a:off x="5724144" y="4489704"/>
            <a:ext cx="1508760" cy="0"/>
          </a:xfrm>
          <a:prstGeom prst="line">
            <a:avLst/>
          </a:prstGeom>
          <a:ln w="19050">
            <a:solidFill>
              <a:srgbClr val="AEB8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065776" y="4919472"/>
            <a:ext cx="2011680" cy="36576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Detect</a:t>
            </a:r>
          </a:p>
        </p:txBody>
      </p:sp>
      <p:sp>
        <p:nvSpPr>
          <p:cNvPr id="31" name="TextBox 30"/>
          <p:cNvSpPr txBox="1"/>
          <p:nvPr/>
        </p:nvSpPr>
        <p:spPr>
          <a:xfrm>
            <a:off x="5065776" y="5303520"/>
            <a:ext cx="2011680" cy="8229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Rules run on every packet</a:t>
            </a:r>
          </a:p>
        </p:txBody>
      </p:sp>
      <p:sp>
        <p:nvSpPr>
          <p:cNvPr id="32" name="Oval 31"/>
          <p:cNvSpPr/>
          <p:nvPr/>
        </p:nvSpPr>
        <p:spPr>
          <a:xfrm>
            <a:off x="7324344" y="4206240"/>
            <a:ext cx="566928" cy="566928"/>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4</a:t>
            </a:r>
          </a:p>
        </p:txBody>
      </p:sp>
      <p:cxnSp>
        <p:nvCxnSpPr>
          <p:cNvPr id="33" name="Connector 32"/>
          <p:cNvCxnSpPr/>
          <p:nvPr/>
        </p:nvCxnSpPr>
        <p:spPr>
          <a:xfrm>
            <a:off x="7982712" y="4489704"/>
            <a:ext cx="1508760" cy="0"/>
          </a:xfrm>
          <a:prstGeom prst="line">
            <a:avLst/>
          </a:prstGeom>
          <a:ln w="19050">
            <a:solidFill>
              <a:srgbClr val="AEB8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324344" y="4919472"/>
            <a:ext cx="2011680" cy="36576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Deliver</a:t>
            </a:r>
          </a:p>
        </p:txBody>
      </p:sp>
      <p:sp>
        <p:nvSpPr>
          <p:cNvPr id="35" name="TextBox 34"/>
          <p:cNvSpPr txBox="1"/>
          <p:nvPr/>
        </p:nvSpPr>
        <p:spPr>
          <a:xfrm>
            <a:off x="7324344" y="5303520"/>
            <a:ext cx="2011680" cy="8229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HTTP POST to Express, saved to log</a:t>
            </a:r>
          </a:p>
        </p:txBody>
      </p:sp>
      <p:sp>
        <p:nvSpPr>
          <p:cNvPr id="36" name="Oval 35"/>
          <p:cNvSpPr/>
          <p:nvPr/>
        </p:nvSpPr>
        <p:spPr>
          <a:xfrm>
            <a:off x="9582912" y="4206240"/>
            <a:ext cx="566928" cy="566928"/>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libri"/>
              </a:rPr>
              <a:t>5</a:t>
            </a:r>
          </a:p>
        </p:txBody>
      </p:sp>
      <p:sp>
        <p:nvSpPr>
          <p:cNvPr id="37" name="TextBox 36"/>
          <p:cNvSpPr txBox="1"/>
          <p:nvPr/>
        </p:nvSpPr>
        <p:spPr>
          <a:xfrm>
            <a:off x="9582912" y="4919472"/>
            <a:ext cx="2011680" cy="365760"/>
          </a:xfrm>
          <a:prstGeom prst="rect">
            <a:avLst/>
          </a:prstGeom>
          <a:noFill/>
        </p:spPr>
        <p:txBody>
          <a:bodyPr wrap="square" lIns="0" rIns="0" tIns="0" bIns="0" anchor="t">
            <a:spAutoFit/>
          </a:bodyPr>
          <a:lstStyle/>
          <a:p>
            <a:pPr algn="l">
              <a:spcAft>
                <a:spcPts val="0"/>
              </a:spcAft>
            </a:pPr>
            <a:r>
              <a:rPr sz="1800" b="1" i="0">
                <a:solidFill>
                  <a:srgbClr val="14213D"/>
                </a:solidFill>
                <a:latin typeface="Calibri"/>
              </a:rPr>
              <a:t>Display</a:t>
            </a:r>
          </a:p>
        </p:txBody>
      </p:sp>
      <p:sp>
        <p:nvSpPr>
          <p:cNvPr id="38" name="TextBox 37"/>
          <p:cNvSpPr txBox="1"/>
          <p:nvPr/>
        </p:nvSpPr>
        <p:spPr>
          <a:xfrm>
            <a:off x="9582912" y="5303520"/>
            <a:ext cx="2011680" cy="8229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Socket.IO pushes to the dashboard</a:t>
            </a:r>
          </a:p>
        </p:txBody>
      </p:sp>
      <p:sp>
        <p:nvSpPr>
          <p:cNvPr id="39" name="TextBox 38"/>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Evaluation 1</a:t>
            </a:r>
          </a:p>
        </p:txBody>
      </p:sp>
      <p:sp>
        <p:nvSpPr>
          <p:cNvPr id="40" name="TextBox 39"/>
          <p:cNvSpPr txBox="1"/>
          <p:nvPr/>
        </p:nvSpPr>
        <p:spPr>
          <a:xfrm>
            <a:off x="10725912" y="6419088"/>
            <a:ext cx="91440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Design: Data Flow Diagrams</a:t>
            </a:r>
          </a:p>
        </p:txBody>
      </p:sp>
      <p:pic>
        <p:nvPicPr>
          <p:cNvPr id="3" name="Picture 2" descr="dfd_level0.png"/>
          <p:cNvPicPr>
            <a:picLocks noChangeAspect="1"/>
          </p:cNvPicPr>
          <p:nvPr/>
        </p:nvPicPr>
        <p:blipFill>
          <a:blip r:embed="rId2"/>
          <a:stretch>
            <a:fillRect/>
          </a:stretch>
        </p:blipFill>
        <p:spPr>
          <a:xfrm>
            <a:off x="548640" y="1600200"/>
            <a:ext cx="4343400" cy="2061274"/>
          </a:xfrm>
          <a:prstGeom prst="rect">
            <a:avLst/>
          </a:prstGeom>
          <a:ln w="9525">
            <a:solidFill>
              <a:srgbClr val="D5DCE6"/>
            </a:solidFill>
          </a:ln>
        </p:spPr>
      </p:pic>
      <p:sp>
        <p:nvSpPr>
          <p:cNvPr id="4" name="TextBox 3"/>
          <p:cNvSpPr txBox="1"/>
          <p:nvPr/>
        </p:nvSpPr>
        <p:spPr>
          <a:xfrm>
            <a:off x="548640" y="3771202"/>
            <a:ext cx="4343400" cy="274320"/>
          </a:xfrm>
          <a:prstGeom prst="rect">
            <a:avLst/>
          </a:prstGeom>
          <a:noFill/>
        </p:spPr>
        <p:txBody>
          <a:bodyPr wrap="square" lIns="0" rIns="0" tIns="0" bIns="0" anchor="t">
            <a:spAutoFit/>
          </a:bodyPr>
          <a:lstStyle/>
          <a:p>
            <a:pPr algn="ctr">
              <a:spcAft>
                <a:spcPts val="0"/>
              </a:spcAft>
            </a:pPr>
            <a:r>
              <a:rPr sz="1200" b="0" i="0">
                <a:solidFill>
                  <a:srgbClr val="5B6472"/>
                </a:solidFill>
                <a:latin typeface="Calibri"/>
              </a:rPr>
              <a:t>Fig. 3.1: Level 0 DFD, context diagram</a:t>
            </a:r>
          </a:p>
        </p:txBody>
      </p:sp>
      <p:sp>
        <p:nvSpPr>
          <p:cNvPr id="5" name="TextBox 4"/>
          <p:cNvSpPr txBox="1"/>
          <p:nvPr/>
        </p:nvSpPr>
        <p:spPr>
          <a:xfrm>
            <a:off x="548640" y="4343400"/>
            <a:ext cx="4343400" cy="1645920"/>
          </a:xfrm>
          <a:prstGeom prst="rect">
            <a:avLst/>
          </a:prstGeom>
          <a:noFill/>
        </p:spPr>
        <p:txBody>
          <a:bodyPr wrap="square" lIns="0" rIns="0" tIns="0" bIns="0" anchor="t">
            <a:spAutoFit/>
          </a:bodyPr>
          <a:lstStyle/>
          <a:p>
            <a:pPr algn="l">
              <a:spcAft>
                <a:spcPts val="1000"/>
              </a:spcAft>
            </a:pPr>
            <a:r>
              <a:rPr sz="1600" b="1" i="0">
                <a:solidFill>
                  <a:srgbClr val="14213D"/>
                </a:solidFill>
                <a:latin typeface="Calibri"/>
              </a:rPr>
              <a:t>Level 0: </a:t>
            </a:r>
            <a:r>
              <a:rPr sz="1600" b="0" i="0">
                <a:solidFill>
                  <a:srgbClr val="1F2937"/>
                </a:solidFill>
                <a:latin typeface="Calibri"/>
              </a:rPr>
              <a:t>the whole system as one process</a:t>
            </a:r>
          </a:p>
          <a:p>
            <a:pPr algn="l">
              <a:spcAft>
                <a:spcPts val="1000"/>
              </a:spcAft>
            </a:pPr>
            <a:r>
              <a:rPr sz="1600" b="1" i="0">
                <a:solidFill>
                  <a:srgbClr val="14213D"/>
                </a:solidFill>
                <a:latin typeface="Calibri"/>
              </a:rPr>
              <a:t>Level 1: </a:t>
            </a:r>
            <a:r>
              <a:rPr sz="1600" b="0" i="0">
                <a:solidFill>
                  <a:srgbClr val="1F2937"/>
                </a:solidFill>
                <a:latin typeface="Calibri"/>
              </a:rPr>
              <a:t>five processes and two data stores</a:t>
            </a:r>
          </a:p>
          <a:p>
            <a:pPr algn="l">
              <a:spcAft>
                <a:spcPts val="1000"/>
              </a:spcAft>
            </a:pPr>
            <a:r>
              <a:rPr sz="1600" b="1" i="0">
                <a:solidFill>
                  <a:srgbClr val="14213D"/>
                </a:solidFill>
                <a:latin typeface="Calibri"/>
              </a:rPr>
              <a:t>Data stores: </a:t>
            </a:r>
            <a:r>
              <a:rPr sz="1600" b="0" i="0">
                <a:solidFill>
                  <a:srgbClr val="1F2937"/>
                </a:solidFill>
                <a:latin typeface="Calibri"/>
              </a:rPr>
              <a:t>SYN history and alerts.log</a:t>
            </a:r>
          </a:p>
        </p:txBody>
      </p:sp>
      <p:pic>
        <p:nvPicPr>
          <p:cNvPr id="6" name="Picture 5" descr="dfd_level1.png"/>
          <p:cNvPicPr>
            <a:picLocks noChangeAspect="1"/>
          </p:cNvPicPr>
          <p:nvPr/>
        </p:nvPicPr>
        <p:blipFill>
          <a:blip r:embed="rId3"/>
          <a:stretch>
            <a:fillRect/>
          </a:stretch>
        </p:blipFill>
        <p:spPr>
          <a:xfrm>
            <a:off x="5257800" y="1463040"/>
            <a:ext cx="6382512" cy="3683908"/>
          </a:xfrm>
          <a:prstGeom prst="rect">
            <a:avLst/>
          </a:prstGeom>
          <a:ln w="9525">
            <a:solidFill>
              <a:srgbClr val="D5DCE6"/>
            </a:solidFill>
          </a:ln>
        </p:spPr>
      </p:pic>
      <p:sp>
        <p:nvSpPr>
          <p:cNvPr id="7" name="TextBox 6"/>
          <p:cNvSpPr txBox="1"/>
          <p:nvPr/>
        </p:nvSpPr>
        <p:spPr>
          <a:xfrm>
            <a:off x="5257800" y="5256676"/>
            <a:ext cx="6382512" cy="274320"/>
          </a:xfrm>
          <a:prstGeom prst="rect">
            <a:avLst/>
          </a:prstGeom>
          <a:noFill/>
        </p:spPr>
        <p:txBody>
          <a:bodyPr wrap="square" lIns="0" rIns="0" tIns="0" bIns="0" anchor="t">
            <a:spAutoFit/>
          </a:bodyPr>
          <a:lstStyle/>
          <a:p>
            <a:pPr algn="ctr">
              <a:spcAft>
                <a:spcPts val="0"/>
              </a:spcAft>
            </a:pPr>
            <a:r>
              <a:rPr sz="1200" b="0" i="0">
                <a:solidFill>
                  <a:srgbClr val="5B6472"/>
                </a:solidFill>
                <a:latin typeface="Calibri"/>
              </a:rPr>
              <a:t>Fig. 3.2: Level 1 DFD</a:t>
            </a:r>
          </a:p>
        </p:txBody>
      </p:sp>
      <p:sp>
        <p:nvSpPr>
          <p:cNvPr id="8" name="TextBox 7"/>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Evaluation 1</a:t>
            </a:r>
          </a:p>
        </p:txBody>
      </p:sp>
      <p:sp>
        <p:nvSpPr>
          <p:cNvPr id="9" name="TextBox 8"/>
          <p:cNvSpPr txBox="1"/>
          <p:nvPr/>
        </p:nvSpPr>
        <p:spPr>
          <a:xfrm>
            <a:off x="10725912" y="6419088"/>
            <a:ext cx="91440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Design: Use Case and Data Storage</a:t>
            </a:r>
          </a:p>
        </p:txBody>
      </p:sp>
      <p:pic>
        <p:nvPicPr>
          <p:cNvPr id="3" name="Picture 2" descr="use_case.png"/>
          <p:cNvPicPr>
            <a:picLocks noChangeAspect="1"/>
          </p:cNvPicPr>
          <p:nvPr/>
        </p:nvPicPr>
        <p:blipFill>
          <a:blip r:embed="rId2"/>
          <a:stretch>
            <a:fillRect/>
          </a:stretch>
        </p:blipFill>
        <p:spPr>
          <a:xfrm>
            <a:off x="548640" y="1417320"/>
            <a:ext cx="6570194" cy="4572000"/>
          </a:xfrm>
          <a:prstGeom prst="rect">
            <a:avLst/>
          </a:prstGeom>
          <a:ln w="9525">
            <a:solidFill>
              <a:srgbClr val="D5DCE6"/>
            </a:solidFill>
          </a:ln>
        </p:spPr>
      </p:pic>
      <p:sp>
        <p:nvSpPr>
          <p:cNvPr id="4" name="TextBox 3"/>
          <p:cNvSpPr txBox="1"/>
          <p:nvPr/>
        </p:nvSpPr>
        <p:spPr>
          <a:xfrm>
            <a:off x="548640" y="6080759"/>
            <a:ext cx="6570194" cy="274320"/>
          </a:xfrm>
          <a:prstGeom prst="rect">
            <a:avLst/>
          </a:prstGeom>
          <a:noFill/>
        </p:spPr>
        <p:txBody>
          <a:bodyPr wrap="square" lIns="0" rIns="0" tIns="0" bIns="0" anchor="t">
            <a:spAutoFit/>
          </a:bodyPr>
          <a:lstStyle/>
          <a:p>
            <a:pPr algn="ctr">
              <a:spcAft>
                <a:spcPts val="0"/>
              </a:spcAft>
            </a:pPr>
            <a:r>
              <a:rPr sz="1200" b="0" i="0">
                <a:solidFill>
                  <a:srgbClr val="5B6472"/>
                </a:solidFill>
                <a:latin typeface="Calibri"/>
              </a:rPr>
              <a:t>Fig. 3.3: Use case diagram</a:t>
            </a:r>
          </a:p>
        </p:txBody>
      </p:sp>
      <p:sp>
        <p:nvSpPr>
          <p:cNvPr id="5" name="TextBox 4"/>
          <p:cNvSpPr txBox="1"/>
          <p:nvPr/>
        </p:nvSpPr>
        <p:spPr>
          <a:xfrm>
            <a:off x="7530314" y="1463040"/>
            <a:ext cx="4109997" cy="2377440"/>
          </a:xfrm>
          <a:prstGeom prst="rect">
            <a:avLst/>
          </a:prstGeom>
          <a:noFill/>
        </p:spPr>
        <p:txBody>
          <a:bodyPr wrap="square" lIns="0" rIns="0" tIns="0" bIns="0" anchor="t">
            <a:spAutoFit/>
          </a:bodyPr>
          <a:lstStyle/>
          <a:p>
            <a:pPr algn="l">
              <a:spcAft>
                <a:spcPts val="1200"/>
              </a:spcAft>
            </a:pPr>
            <a:r>
              <a:rPr sz="1600" b="1" i="0">
                <a:solidFill>
                  <a:srgbClr val="14213D"/>
                </a:solidFill>
                <a:latin typeface="Calibri"/>
              </a:rPr>
              <a:t>Administrator: </a:t>
            </a:r>
            <a:r>
              <a:rPr sz="1600" b="0" i="0">
                <a:solidFill>
                  <a:srgbClr val="1F2937"/>
                </a:solidFill>
                <a:latin typeface="Calibri"/>
              </a:rPr>
              <a:t>starts monitoring, watches counts and alerts, checks the log</a:t>
            </a:r>
          </a:p>
          <a:p>
            <a:pPr algn="l">
              <a:spcAft>
                <a:spcPts val="1200"/>
              </a:spcAft>
            </a:pPr>
            <a:r>
              <a:rPr sz="1600" b="1" i="0">
                <a:solidFill>
                  <a:srgbClr val="14213D"/>
                </a:solidFill>
                <a:latin typeface="Calibri"/>
              </a:rPr>
              <a:t>Attacker: </a:t>
            </a:r>
            <a:r>
              <a:rPr sz="1600" b="0" i="0">
                <a:solidFill>
                  <a:srgbClr val="1F2937"/>
                </a:solidFill>
                <a:latin typeface="Calibri"/>
              </a:rPr>
              <a:t>sends traffic that triggers detection</a:t>
            </a:r>
          </a:p>
          <a:p>
            <a:pPr algn="l">
              <a:spcAft>
                <a:spcPts val="1200"/>
              </a:spcAft>
            </a:pPr>
            <a:r>
              <a:rPr sz="1600" b="1" i="0">
                <a:solidFill>
                  <a:srgbClr val="14213D"/>
                </a:solidFill>
                <a:latin typeface="Calibri"/>
              </a:rPr>
              <a:t>System: </a:t>
            </a:r>
            <a:r>
              <a:rPr sz="1600" b="0" i="0">
                <a:solidFill>
                  <a:srgbClr val="1F2937"/>
                </a:solidFill>
                <a:latin typeface="Calibri"/>
              </a:rPr>
              <a:t>detects the attack and notifies the admin</a:t>
            </a:r>
          </a:p>
        </p:txBody>
      </p:sp>
      <p:sp>
        <p:nvSpPr>
          <p:cNvPr id="6" name="Rounded Rectangle 5"/>
          <p:cNvSpPr/>
          <p:nvPr/>
        </p:nvSpPr>
        <p:spPr>
          <a:xfrm>
            <a:off x="7530314" y="3931920"/>
            <a:ext cx="4109997"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04634" y="4114800"/>
            <a:ext cx="3561357"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DATA STORAGE</a:t>
            </a:r>
          </a:p>
        </p:txBody>
      </p:sp>
      <p:sp>
        <p:nvSpPr>
          <p:cNvPr id="8" name="TextBox 7"/>
          <p:cNvSpPr txBox="1"/>
          <p:nvPr/>
        </p:nvSpPr>
        <p:spPr>
          <a:xfrm>
            <a:off x="7804634" y="4462272"/>
            <a:ext cx="3561357" cy="1463040"/>
          </a:xfrm>
          <a:prstGeom prst="rect">
            <a:avLst/>
          </a:prstGeom>
          <a:noFill/>
        </p:spPr>
        <p:txBody>
          <a:bodyPr wrap="square" lIns="0" rIns="0" tIns="0" bIns="0" anchor="t">
            <a:spAutoFit/>
          </a:bodyPr>
          <a:lstStyle/>
          <a:p>
            <a:pPr algn="l">
              <a:spcAft>
                <a:spcPts val="600"/>
              </a:spcAft>
            </a:pPr>
            <a:r>
              <a:rPr sz="1500" b="1" i="0">
                <a:solidFill>
                  <a:srgbClr val="14213D"/>
                </a:solidFill>
                <a:latin typeface="Calibri"/>
              </a:rPr>
              <a:t>SYN history: </a:t>
            </a:r>
            <a:r>
              <a:rPr sz="1500" b="0" i="0">
                <a:solidFill>
                  <a:srgbClr val="1F2937"/>
                </a:solidFill>
                <a:latin typeface="Calibri"/>
              </a:rPr>
              <a:t>in memory, last 5 seconds</a:t>
            </a:r>
          </a:p>
          <a:p>
            <a:pPr algn="l">
              <a:spcAft>
                <a:spcPts val="600"/>
              </a:spcAft>
            </a:pPr>
            <a:r>
              <a:rPr sz="1500" b="1" i="0">
                <a:solidFill>
                  <a:srgbClr val="14213D"/>
                </a:solidFill>
                <a:latin typeface="Calibri"/>
              </a:rPr>
              <a:t>Alerts: </a:t>
            </a:r>
            <a:r>
              <a:rPr sz="1500" b="0" i="0">
                <a:solidFill>
                  <a:srgbClr val="1F2937"/>
                </a:solidFill>
                <a:latin typeface="Calibri"/>
              </a:rPr>
              <a:t>alerts.log, one JSON line each</a:t>
            </a:r>
          </a:p>
          <a:p>
            <a:pPr algn="l">
              <a:spcAft>
                <a:spcPts val="600"/>
              </a:spcAft>
            </a:pPr>
            <a:r>
              <a:rPr sz="1500" b="1" i="0">
                <a:solidFill>
                  <a:srgbClr val="14213D"/>
                </a:solidFill>
                <a:latin typeface="Calibri"/>
              </a:rPr>
              <a:t>Planned: </a:t>
            </a:r>
            <a:r>
              <a:rPr sz="1500" b="0" i="0">
                <a:solidFill>
                  <a:srgbClr val="1F2937"/>
                </a:solidFill>
                <a:latin typeface="Calibri"/>
              </a:rPr>
              <a:t>SQLite for alert search</a:t>
            </a:r>
          </a:p>
        </p:txBody>
      </p:sp>
      <p:sp>
        <p:nvSpPr>
          <p:cNvPr id="9" name="TextBox 8"/>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Evaluation 1</a:t>
            </a:r>
          </a:p>
        </p:txBody>
      </p:sp>
      <p:sp>
        <p:nvSpPr>
          <p:cNvPr id="10" name="TextBox 9"/>
          <p:cNvSpPr txBox="1"/>
          <p:nvPr/>
        </p:nvSpPr>
        <p:spPr>
          <a:xfrm>
            <a:off x="10725912" y="6419088"/>
            <a:ext cx="91440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Port Scan Detection Logic</a:t>
            </a:r>
          </a:p>
        </p:txBody>
      </p:sp>
      <p:sp>
        <p:nvSpPr>
          <p:cNvPr id="3" name="Rounded Rectangle 2"/>
          <p:cNvSpPr/>
          <p:nvPr/>
        </p:nvSpPr>
        <p:spPr>
          <a:xfrm>
            <a:off x="548640" y="1463040"/>
            <a:ext cx="6675120" cy="137160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63040"/>
            <a:ext cx="6126480" cy="1371600"/>
          </a:xfrm>
          <a:prstGeom prst="rect">
            <a:avLst/>
          </a:prstGeom>
          <a:noFill/>
        </p:spPr>
        <p:txBody>
          <a:bodyPr wrap="square" lIns="0" rIns="0" tIns="0" bIns="0" anchor="ctr">
            <a:spAutoFit/>
          </a:bodyPr>
          <a:lstStyle/>
          <a:p>
            <a:pPr algn="l">
              <a:spcAft>
                <a:spcPts val="0"/>
              </a:spcAft>
            </a:pPr>
            <a:r>
              <a:rPr sz="2100" b="1" i="0">
                <a:solidFill>
                  <a:srgbClr val="FFFFFF"/>
                </a:solidFill>
                <a:latin typeface="Calibri"/>
              </a:rPr>
              <a:t>Alert when one IP sends SYN packets to more than 15 different ports within 5 seconds</a:t>
            </a:r>
          </a:p>
        </p:txBody>
      </p:sp>
      <p:sp>
        <p:nvSpPr>
          <p:cNvPr id="5" name="Rounded Rectangle 4"/>
          <p:cNvSpPr/>
          <p:nvPr/>
        </p:nvSpPr>
        <p:spPr>
          <a:xfrm>
            <a:off x="548640" y="3063240"/>
            <a:ext cx="2103120" cy="14630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200400"/>
            <a:ext cx="2103120" cy="731520"/>
          </a:xfrm>
          <a:prstGeom prst="rect">
            <a:avLst/>
          </a:prstGeom>
          <a:noFill/>
        </p:spPr>
        <p:txBody>
          <a:bodyPr wrap="square" lIns="0" rIns="0" tIns="0" bIns="0" anchor="t">
            <a:spAutoFit/>
          </a:bodyPr>
          <a:lstStyle/>
          <a:p>
            <a:pPr algn="ctr">
              <a:spcAft>
                <a:spcPts val="0"/>
              </a:spcAft>
            </a:pPr>
            <a:r>
              <a:rPr sz="4000" b="1" i="0">
                <a:solidFill>
                  <a:srgbClr val="C62828"/>
                </a:solidFill>
                <a:latin typeface="Calibri"/>
              </a:rPr>
              <a:t>15</a:t>
            </a:r>
          </a:p>
        </p:txBody>
      </p:sp>
      <p:sp>
        <p:nvSpPr>
          <p:cNvPr id="7" name="TextBox 6"/>
          <p:cNvSpPr txBox="1"/>
          <p:nvPr/>
        </p:nvSpPr>
        <p:spPr>
          <a:xfrm>
            <a:off x="548640" y="4005072"/>
            <a:ext cx="2103120" cy="320040"/>
          </a:xfrm>
          <a:prstGeom prst="rect">
            <a:avLst/>
          </a:prstGeom>
          <a:noFill/>
        </p:spPr>
        <p:txBody>
          <a:bodyPr wrap="square" lIns="0" rIns="0" tIns="0" bIns="0" anchor="t">
            <a:spAutoFit/>
          </a:bodyPr>
          <a:lstStyle/>
          <a:p>
            <a:pPr algn="ctr">
              <a:spcAft>
                <a:spcPts val="0"/>
              </a:spcAft>
            </a:pPr>
            <a:r>
              <a:rPr sz="1400" b="0" i="0">
                <a:solidFill>
                  <a:srgbClr val="5B6472"/>
                </a:solidFill>
                <a:latin typeface="Calibri"/>
              </a:rPr>
              <a:t>port limit</a:t>
            </a:r>
          </a:p>
        </p:txBody>
      </p:sp>
      <p:sp>
        <p:nvSpPr>
          <p:cNvPr id="8" name="Rounded Rectangle 7"/>
          <p:cNvSpPr/>
          <p:nvPr/>
        </p:nvSpPr>
        <p:spPr>
          <a:xfrm>
            <a:off x="2834640" y="3063240"/>
            <a:ext cx="2103120" cy="14630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3200400"/>
            <a:ext cx="2103120" cy="731520"/>
          </a:xfrm>
          <a:prstGeom prst="rect">
            <a:avLst/>
          </a:prstGeom>
          <a:noFill/>
        </p:spPr>
        <p:txBody>
          <a:bodyPr wrap="square" lIns="0" rIns="0" tIns="0" bIns="0" anchor="t">
            <a:spAutoFit/>
          </a:bodyPr>
          <a:lstStyle/>
          <a:p>
            <a:pPr algn="ctr">
              <a:spcAft>
                <a:spcPts val="0"/>
              </a:spcAft>
            </a:pPr>
            <a:r>
              <a:rPr sz="4000" b="1" i="0">
                <a:solidFill>
                  <a:srgbClr val="C62828"/>
                </a:solidFill>
                <a:latin typeface="Calibri"/>
              </a:rPr>
              <a:t>5 s</a:t>
            </a:r>
          </a:p>
        </p:txBody>
      </p:sp>
      <p:sp>
        <p:nvSpPr>
          <p:cNvPr id="10" name="TextBox 9"/>
          <p:cNvSpPr txBox="1"/>
          <p:nvPr/>
        </p:nvSpPr>
        <p:spPr>
          <a:xfrm>
            <a:off x="2834640" y="4005072"/>
            <a:ext cx="2103120" cy="320040"/>
          </a:xfrm>
          <a:prstGeom prst="rect">
            <a:avLst/>
          </a:prstGeom>
          <a:noFill/>
        </p:spPr>
        <p:txBody>
          <a:bodyPr wrap="square" lIns="0" rIns="0" tIns="0" bIns="0" anchor="t">
            <a:spAutoFit/>
          </a:bodyPr>
          <a:lstStyle/>
          <a:p>
            <a:pPr algn="ctr">
              <a:spcAft>
                <a:spcPts val="0"/>
              </a:spcAft>
            </a:pPr>
            <a:r>
              <a:rPr sz="1400" b="0" i="0">
                <a:solidFill>
                  <a:srgbClr val="5B6472"/>
                </a:solidFill>
                <a:latin typeface="Calibri"/>
              </a:rPr>
              <a:t>sliding window</a:t>
            </a:r>
          </a:p>
        </p:txBody>
      </p:sp>
      <p:sp>
        <p:nvSpPr>
          <p:cNvPr id="11" name="Rounded Rectangle 10"/>
          <p:cNvSpPr/>
          <p:nvPr/>
        </p:nvSpPr>
        <p:spPr>
          <a:xfrm>
            <a:off x="5120640" y="3063240"/>
            <a:ext cx="2103120" cy="14630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3200400"/>
            <a:ext cx="2103120" cy="731520"/>
          </a:xfrm>
          <a:prstGeom prst="rect">
            <a:avLst/>
          </a:prstGeom>
          <a:noFill/>
        </p:spPr>
        <p:txBody>
          <a:bodyPr wrap="square" lIns="0" rIns="0" tIns="0" bIns="0" anchor="t">
            <a:spAutoFit/>
          </a:bodyPr>
          <a:lstStyle/>
          <a:p>
            <a:pPr algn="ctr">
              <a:spcAft>
                <a:spcPts val="0"/>
              </a:spcAft>
            </a:pPr>
            <a:r>
              <a:rPr sz="4000" b="1" i="0">
                <a:solidFill>
                  <a:srgbClr val="C62828"/>
                </a:solidFill>
                <a:latin typeface="Calibri"/>
              </a:rPr>
              <a:t>30 s</a:t>
            </a:r>
          </a:p>
        </p:txBody>
      </p:sp>
      <p:sp>
        <p:nvSpPr>
          <p:cNvPr id="13" name="TextBox 12"/>
          <p:cNvSpPr txBox="1"/>
          <p:nvPr/>
        </p:nvSpPr>
        <p:spPr>
          <a:xfrm>
            <a:off x="5120640" y="4005072"/>
            <a:ext cx="2103120" cy="320040"/>
          </a:xfrm>
          <a:prstGeom prst="rect">
            <a:avLst/>
          </a:prstGeom>
          <a:noFill/>
        </p:spPr>
        <p:txBody>
          <a:bodyPr wrap="square" lIns="0" rIns="0" tIns="0" bIns="0" anchor="t">
            <a:spAutoFit/>
          </a:bodyPr>
          <a:lstStyle/>
          <a:p>
            <a:pPr algn="ctr">
              <a:spcAft>
                <a:spcPts val="0"/>
              </a:spcAft>
            </a:pPr>
            <a:r>
              <a:rPr sz="1400" b="0" i="0">
                <a:solidFill>
                  <a:srgbClr val="5B6472"/>
                </a:solidFill>
                <a:latin typeface="Calibri"/>
              </a:rPr>
              <a:t>cool-down per IP</a:t>
            </a:r>
          </a:p>
        </p:txBody>
      </p:sp>
      <p:sp>
        <p:nvSpPr>
          <p:cNvPr id="14" name="TextBox 13"/>
          <p:cNvSpPr txBox="1"/>
          <p:nvPr/>
        </p:nvSpPr>
        <p:spPr>
          <a:xfrm>
            <a:off x="548640" y="4800600"/>
            <a:ext cx="6675120" cy="1371600"/>
          </a:xfrm>
          <a:prstGeom prst="rect">
            <a:avLst/>
          </a:prstGeom>
          <a:noFill/>
        </p:spPr>
        <p:txBody>
          <a:bodyPr wrap="square" lIns="0" rIns="0" tIns="0" bIns="0" anchor="t">
            <a:spAutoFit/>
          </a:bodyPr>
          <a:lstStyle/>
          <a:p>
            <a:pPr algn="l">
              <a:spcAft>
                <a:spcPts val="800"/>
              </a:spcAft>
            </a:pPr>
            <a:r>
              <a:rPr sz="1600" b="1" i="0">
                <a:solidFill>
                  <a:srgbClr val="14213D"/>
                </a:solidFill>
                <a:latin typeface="Calibri"/>
              </a:rPr>
              <a:t>Why SYN only: </a:t>
            </a:r>
            <a:r>
              <a:rPr sz="1600" b="0" i="0">
                <a:solidFill>
                  <a:srgbClr val="1F2937"/>
                </a:solidFill>
                <a:latin typeface="Calibri"/>
              </a:rPr>
              <a:t>a scanner knocks on every port with a SYN</a:t>
            </a:r>
          </a:p>
          <a:p>
            <a:pPr algn="l">
              <a:spcAft>
                <a:spcPts val="800"/>
              </a:spcAft>
            </a:pPr>
            <a:r>
              <a:rPr sz="1600" b="1" i="0">
                <a:solidFill>
                  <a:srgbClr val="14213D"/>
                </a:solidFill>
                <a:latin typeface="Calibri"/>
              </a:rPr>
              <a:t>Why a sliding window: </a:t>
            </a:r>
            <a:r>
              <a:rPr sz="1600" b="0" i="0">
                <a:solidFill>
                  <a:srgbClr val="1F2937"/>
                </a:solidFill>
                <a:latin typeface="Calibri"/>
              </a:rPr>
              <a:t>a scan split across time is never missed</a:t>
            </a:r>
          </a:p>
          <a:p>
            <a:pPr algn="l">
              <a:spcAft>
                <a:spcPts val="800"/>
              </a:spcAft>
            </a:pPr>
            <a:r>
              <a:rPr sz="1600" b="1" i="0">
                <a:solidFill>
                  <a:srgbClr val="14213D"/>
                </a:solidFill>
                <a:latin typeface="Calibri"/>
              </a:rPr>
              <a:t>Why a cool-down: </a:t>
            </a:r>
            <a:r>
              <a:rPr sz="1600" b="0" i="0">
                <a:solidFill>
                  <a:srgbClr val="1F2937"/>
                </a:solidFill>
                <a:latin typeface="Calibri"/>
              </a:rPr>
              <a:t>one scan gives one alert, not hundreds</a:t>
            </a:r>
          </a:p>
        </p:txBody>
      </p:sp>
      <p:pic>
        <p:nvPicPr>
          <p:cNvPr id="15" name="Picture 14" descr="flowchart_port_scan.png"/>
          <p:cNvPicPr>
            <a:picLocks noChangeAspect="1"/>
          </p:cNvPicPr>
          <p:nvPr/>
        </p:nvPicPr>
        <p:blipFill>
          <a:blip r:embed="rId2"/>
          <a:stretch>
            <a:fillRect/>
          </a:stretch>
        </p:blipFill>
        <p:spPr>
          <a:xfrm>
            <a:off x="8480540" y="1371600"/>
            <a:ext cx="3159771" cy="4617720"/>
          </a:xfrm>
          <a:prstGeom prst="rect">
            <a:avLst/>
          </a:prstGeom>
          <a:ln w="9525">
            <a:solidFill>
              <a:srgbClr val="D5DCE6"/>
            </a:solidFill>
          </a:ln>
        </p:spPr>
      </p:pic>
      <p:sp>
        <p:nvSpPr>
          <p:cNvPr id="16" name="TextBox 15"/>
          <p:cNvSpPr txBox="1"/>
          <p:nvPr/>
        </p:nvSpPr>
        <p:spPr>
          <a:xfrm>
            <a:off x="8114780" y="6062472"/>
            <a:ext cx="3891291" cy="274320"/>
          </a:xfrm>
          <a:prstGeom prst="rect">
            <a:avLst/>
          </a:prstGeom>
          <a:noFill/>
        </p:spPr>
        <p:txBody>
          <a:bodyPr wrap="square" lIns="0" rIns="0" tIns="0" bIns="0" anchor="t">
            <a:spAutoFit/>
          </a:bodyPr>
          <a:lstStyle/>
          <a:p>
            <a:pPr algn="ctr">
              <a:spcAft>
                <a:spcPts val="0"/>
              </a:spcAft>
            </a:pPr>
            <a:r>
              <a:rPr sz="1200" b="0" i="0">
                <a:solidFill>
                  <a:srgbClr val="5B6472"/>
                </a:solidFill>
                <a:latin typeface="Calibri"/>
              </a:rPr>
              <a:t>Fig. 3.4: Port scan detection flowchart</a:t>
            </a:r>
          </a:p>
        </p:txBody>
      </p:sp>
      <p:sp>
        <p:nvSpPr>
          <p:cNvPr id="17" name="TextBox 16"/>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Evaluation 1</a:t>
            </a:r>
          </a:p>
        </p:txBody>
      </p:sp>
      <p:sp>
        <p:nvSpPr>
          <p:cNvPr id="18" name="TextBox 17"/>
          <p:cNvSpPr txBox="1"/>
          <p:nvPr/>
        </p:nvSpPr>
        <p:spPr>
          <a:xfrm>
            <a:off x="10725912" y="6419088"/>
            <a:ext cx="91440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Progress and Live Demo</a:t>
            </a:r>
          </a:p>
        </p:txBody>
      </p:sp>
      <p:pic>
        <p:nvPicPr>
          <p:cNvPr id="3" name="Picture 2" descr="dashboard_crop.png"/>
          <p:cNvPicPr>
            <a:picLocks noChangeAspect="1"/>
          </p:cNvPicPr>
          <p:nvPr/>
        </p:nvPicPr>
        <p:blipFill>
          <a:blip r:embed="rId2"/>
          <a:stretch>
            <a:fillRect/>
          </a:stretch>
        </p:blipFill>
        <p:spPr>
          <a:xfrm>
            <a:off x="548640" y="1463040"/>
            <a:ext cx="7040880" cy="2346960"/>
          </a:xfrm>
          <a:prstGeom prst="rect">
            <a:avLst/>
          </a:prstGeom>
          <a:ln w="9525">
            <a:solidFill>
              <a:srgbClr val="D5DCE6"/>
            </a:solidFill>
          </a:ln>
        </p:spPr>
      </p:pic>
      <p:sp>
        <p:nvSpPr>
          <p:cNvPr id="4" name="TextBox 3"/>
          <p:cNvSpPr txBox="1"/>
          <p:nvPr/>
        </p:nvSpPr>
        <p:spPr>
          <a:xfrm>
            <a:off x="548640" y="3901440"/>
            <a:ext cx="7040880" cy="274320"/>
          </a:xfrm>
          <a:prstGeom prst="rect">
            <a:avLst/>
          </a:prstGeom>
          <a:noFill/>
        </p:spPr>
        <p:txBody>
          <a:bodyPr wrap="square" lIns="0" rIns="0" tIns="0" bIns="0" anchor="t">
            <a:spAutoFit/>
          </a:bodyPr>
          <a:lstStyle/>
          <a:p>
            <a:pPr algn="ctr">
              <a:spcAft>
                <a:spcPts val="0"/>
              </a:spcAft>
            </a:pPr>
            <a:r>
              <a:rPr sz="1200" b="0" i="0">
                <a:solidFill>
                  <a:srgbClr val="5B6472"/>
                </a:solidFill>
                <a:latin typeface="Calibri"/>
              </a:rPr>
              <a:t>Real dashboard during a test scan, 10 October 2026</a:t>
            </a:r>
          </a:p>
        </p:txBody>
      </p:sp>
      <p:sp>
        <p:nvSpPr>
          <p:cNvPr id="5" name="TextBox 4"/>
          <p:cNvSpPr txBox="1"/>
          <p:nvPr/>
        </p:nvSpPr>
        <p:spPr>
          <a:xfrm>
            <a:off x="548640" y="4343400"/>
            <a:ext cx="2103120" cy="914400"/>
          </a:xfrm>
          <a:prstGeom prst="rect">
            <a:avLst/>
          </a:prstGeom>
          <a:noFill/>
        </p:spPr>
        <p:txBody>
          <a:bodyPr wrap="square" lIns="0" rIns="0" tIns="0" bIns="0" anchor="t">
            <a:spAutoFit/>
          </a:bodyPr>
          <a:lstStyle/>
          <a:p>
            <a:pPr algn="l">
              <a:spcAft>
                <a:spcPts val="0"/>
              </a:spcAft>
            </a:pPr>
            <a:r>
              <a:rPr sz="5400" b="1" i="0">
                <a:solidFill>
                  <a:srgbClr val="14213D"/>
                </a:solidFill>
                <a:latin typeface="Calibri"/>
              </a:rPr>
              <a:t>50%</a:t>
            </a:r>
          </a:p>
        </p:txBody>
      </p:sp>
      <p:sp>
        <p:nvSpPr>
          <p:cNvPr id="6" name="TextBox 5"/>
          <p:cNvSpPr txBox="1"/>
          <p:nvPr/>
        </p:nvSpPr>
        <p:spPr>
          <a:xfrm>
            <a:off x="2514600" y="4434840"/>
            <a:ext cx="5029200" cy="822960"/>
          </a:xfrm>
          <a:prstGeom prst="rect">
            <a:avLst/>
          </a:prstGeom>
          <a:noFill/>
        </p:spPr>
        <p:txBody>
          <a:bodyPr wrap="square" lIns="0" rIns="0" tIns="0" bIns="0" anchor="t">
            <a:spAutoFit/>
          </a:bodyPr>
          <a:lstStyle/>
          <a:p>
            <a:pPr algn="l">
              <a:spcAft>
                <a:spcPts val="200"/>
              </a:spcAft>
            </a:pPr>
            <a:r>
              <a:rPr sz="1600" b="0" i="0">
                <a:solidFill>
                  <a:srgbClr val="1F2937"/>
                </a:solidFill>
                <a:latin typeface="Calibri"/>
              </a:rPr>
              <a:t>of the system is working</a:t>
            </a:r>
          </a:p>
          <a:p>
            <a:pPr algn="l">
              <a:spcAft>
                <a:spcPts val="200"/>
              </a:spcAft>
            </a:pPr>
            <a:r>
              <a:rPr sz="1600" b="0" i="0">
                <a:solidFill>
                  <a:srgbClr val="1F2937"/>
                </a:solidFill>
                <a:latin typeface="Calibri"/>
              </a:rPr>
              <a:t>Full pipeline with 1 of 3 attack rules</a:t>
            </a:r>
          </a:p>
        </p:txBody>
      </p:sp>
      <p:sp>
        <p:nvSpPr>
          <p:cNvPr id="7" name="TextBox 6"/>
          <p:cNvSpPr txBox="1"/>
          <p:nvPr/>
        </p:nvSpPr>
        <p:spPr>
          <a:xfrm>
            <a:off x="548640" y="5440680"/>
            <a:ext cx="7040880" cy="640080"/>
          </a:xfrm>
          <a:prstGeom prst="rect">
            <a:avLst/>
          </a:prstGeom>
          <a:noFill/>
        </p:spPr>
        <p:txBody>
          <a:bodyPr wrap="square" lIns="0" rIns="0" tIns="0" bIns="0" anchor="t">
            <a:spAutoFit/>
          </a:bodyPr>
          <a:lstStyle/>
          <a:p>
            <a:pPr algn="l">
              <a:spcAft>
                <a:spcPts val="0"/>
              </a:spcAft>
            </a:pPr>
            <a:r>
              <a:rPr sz="1500" b="1" i="0">
                <a:solidFill>
                  <a:srgbClr val="14213D"/>
                </a:solidFill>
                <a:latin typeface="Calibri"/>
              </a:rPr>
              <a:t>Demo: </a:t>
            </a:r>
            <a:r>
              <a:rPr sz="1500" b="0" i="0">
                <a:solidFill>
                  <a:srgbClr val="1F2937"/>
                </a:solidFill>
                <a:latin typeface="Calibri"/>
              </a:rPr>
              <a:t>start server, start sensor, run a test scan, see the red alert</a:t>
            </a:r>
          </a:p>
        </p:txBody>
      </p:sp>
      <p:sp>
        <p:nvSpPr>
          <p:cNvPr id="8" name="TextBox 7"/>
          <p:cNvSpPr txBox="1"/>
          <p:nvPr/>
        </p:nvSpPr>
        <p:spPr>
          <a:xfrm>
            <a:off x="8092440" y="1463040"/>
            <a:ext cx="3566160" cy="365760"/>
          </a:xfrm>
          <a:prstGeom prst="rect">
            <a:avLst/>
          </a:prstGeom>
          <a:noFill/>
        </p:spPr>
        <p:txBody>
          <a:bodyPr wrap="square" lIns="0" rIns="0" tIns="0" bIns="0" anchor="t">
            <a:spAutoFit/>
          </a:bodyPr>
          <a:lstStyle/>
          <a:p>
            <a:pPr algn="l">
              <a:spcAft>
                <a:spcPts val="0"/>
              </a:spcAft>
            </a:pPr>
            <a:r>
              <a:rPr sz="1300" b="1" i="0">
                <a:solidFill>
                  <a:srgbClr val="1B7F73"/>
                </a:solidFill>
                <a:latin typeface="Calibri"/>
              </a:rPr>
              <a:t>DONE</a:t>
            </a:r>
          </a:p>
        </p:txBody>
      </p:sp>
      <p:sp>
        <p:nvSpPr>
          <p:cNvPr id="9" name="Oval 8"/>
          <p:cNvSpPr/>
          <p:nvPr/>
        </p:nvSpPr>
        <p:spPr>
          <a:xfrm>
            <a:off x="8092440" y="1947672"/>
            <a:ext cx="201168" cy="201168"/>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39912" y="1874519"/>
            <a:ext cx="320040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Live capture on Wi-Fi and loopback</a:t>
            </a:r>
          </a:p>
        </p:txBody>
      </p:sp>
      <p:sp>
        <p:nvSpPr>
          <p:cNvPr id="11" name="Oval 10"/>
          <p:cNvSpPr/>
          <p:nvPr/>
        </p:nvSpPr>
        <p:spPr>
          <a:xfrm>
            <a:off x="8092440" y="2423160"/>
            <a:ext cx="201168" cy="201168"/>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9912" y="2350008"/>
            <a:ext cx="320040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Packet counts every second</a:t>
            </a:r>
          </a:p>
        </p:txBody>
      </p:sp>
      <p:sp>
        <p:nvSpPr>
          <p:cNvPr id="13" name="Oval 12"/>
          <p:cNvSpPr/>
          <p:nvPr/>
        </p:nvSpPr>
        <p:spPr>
          <a:xfrm>
            <a:off x="8092440" y="2898648"/>
            <a:ext cx="201168" cy="201168"/>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9912" y="2825496"/>
            <a:ext cx="320040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Port scan detection</a:t>
            </a:r>
          </a:p>
        </p:txBody>
      </p:sp>
      <p:sp>
        <p:nvSpPr>
          <p:cNvPr id="15" name="Oval 14"/>
          <p:cNvSpPr/>
          <p:nvPr/>
        </p:nvSpPr>
        <p:spPr>
          <a:xfrm>
            <a:off x="8092440" y="3374136"/>
            <a:ext cx="201168" cy="201168"/>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9912" y="3300984"/>
            <a:ext cx="320040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Alert log and live dashboard</a:t>
            </a:r>
          </a:p>
        </p:txBody>
      </p:sp>
      <p:sp>
        <p:nvSpPr>
          <p:cNvPr id="17" name="TextBox 16"/>
          <p:cNvSpPr txBox="1"/>
          <p:nvPr/>
        </p:nvSpPr>
        <p:spPr>
          <a:xfrm>
            <a:off x="8092440" y="3977639"/>
            <a:ext cx="3566160" cy="365760"/>
          </a:xfrm>
          <a:prstGeom prst="rect">
            <a:avLst/>
          </a:prstGeom>
          <a:noFill/>
        </p:spPr>
        <p:txBody>
          <a:bodyPr wrap="square" lIns="0" rIns="0" tIns="0" bIns="0" anchor="t">
            <a:spAutoFit/>
          </a:bodyPr>
          <a:lstStyle/>
          <a:p>
            <a:pPr algn="l">
              <a:spcAft>
                <a:spcPts val="0"/>
              </a:spcAft>
            </a:pPr>
            <a:r>
              <a:rPr sz="1300" b="1" i="0">
                <a:solidFill>
                  <a:srgbClr val="5B6472"/>
                </a:solidFill>
                <a:latin typeface="Calibri"/>
              </a:rPr>
              <a:t>NEXT, BY 30 OCTOBER</a:t>
            </a:r>
          </a:p>
        </p:txBody>
      </p:sp>
      <p:sp>
        <p:nvSpPr>
          <p:cNvPr id="18" name="Oval 17"/>
          <p:cNvSpPr/>
          <p:nvPr/>
        </p:nvSpPr>
        <p:spPr>
          <a:xfrm>
            <a:off x="8092440" y="4462272"/>
            <a:ext cx="201168" cy="201168"/>
          </a:xfrm>
          <a:prstGeom prst="ellipse">
            <a:avLst/>
          </a:prstGeom>
          <a:solidFill>
            <a:srgbClr val="AEB8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39912" y="4389120"/>
            <a:ext cx="320040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SYN flood rule</a:t>
            </a:r>
          </a:p>
        </p:txBody>
      </p:sp>
      <p:sp>
        <p:nvSpPr>
          <p:cNvPr id="20" name="Oval 19"/>
          <p:cNvSpPr/>
          <p:nvPr/>
        </p:nvSpPr>
        <p:spPr>
          <a:xfrm>
            <a:off x="8092440" y="4937760"/>
            <a:ext cx="201168" cy="201168"/>
          </a:xfrm>
          <a:prstGeom prst="ellipse">
            <a:avLst/>
          </a:prstGeom>
          <a:solidFill>
            <a:srgbClr val="AEB8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9912" y="4864608"/>
            <a:ext cx="320040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ARP spoofing rule</a:t>
            </a:r>
          </a:p>
        </p:txBody>
      </p:sp>
      <p:sp>
        <p:nvSpPr>
          <p:cNvPr id="22" name="Oval 21"/>
          <p:cNvSpPr/>
          <p:nvPr/>
        </p:nvSpPr>
        <p:spPr>
          <a:xfrm>
            <a:off x="8092440" y="5413248"/>
            <a:ext cx="201168" cy="201168"/>
          </a:xfrm>
          <a:prstGeom prst="ellipse">
            <a:avLst/>
          </a:prstGeom>
          <a:solidFill>
            <a:srgbClr val="AEB8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39912" y="5340096"/>
            <a:ext cx="320040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Alert history on page reload</a:t>
            </a:r>
          </a:p>
        </p:txBody>
      </p:sp>
      <p:sp>
        <p:nvSpPr>
          <p:cNvPr id="24" name="Oval 23"/>
          <p:cNvSpPr/>
          <p:nvPr/>
        </p:nvSpPr>
        <p:spPr>
          <a:xfrm>
            <a:off x="8092440" y="5888736"/>
            <a:ext cx="201168" cy="201168"/>
          </a:xfrm>
          <a:prstGeom prst="ellipse">
            <a:avLst/>
          </a:prstGeom>
          <a:solidFill>
            <a:srgbClr val="AEB8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39912" y="5815583"/>
            <a:ext cx="320040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Testing from a second device</a:t>
            </a:r>
          </a:p>
        </p:txBody>
      </p:sp>
      <p:sp>
        <p:nvSpPr>
          <p:cNvPr id="26" name="TextBox 25"/>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Evaluation 1</a:t>
            </a:r>
          </a:p>
        </p:txBody>
      </p:sp>
      <p:sp>
        <p:nvSpPr>
          <p:cNvPr id="27" name="TextBox 26"/>
          <p:cNvSpPr txBox="1"/>
          <p:nvPr/>
        </p:nvSpPr>
        <p:spPr>
          <a:xfrm>
            <a:off x="10725912" y="6419088"/>
            <a:ext cx="91440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2103120"/>
            <a:ext cx="11064240" cy="914400"/>
          </a:xfrm>
          <a:prstGeom prst="rect">
            <a:avLst/>
          </a:prstGeom>
          <a:noFill/>
        </p:spPr>
        <p:txBody>
          <a:bodyPr wrap="square" lIns="0" rIns="0" tIns="0" bIns="0" anchor="t">
            <a:spAutoFit/>
          </a:bodyPr>
          <a:lstStyle/>
          <a:p>
            <a:pPr algn="ctr">
              <a:spcAft>
                <a:spcPts val="0"/>
              </a:spcAft>
            </a:pPr>
            <a:r>
              <a:rPr sz="5400" b="1" i="0">
                <a:solidFill>
                  <a:srgbClr val="FFFFFF"/>
                </a:solidFill>
                <a:latin typeface="Calibri"/>
              </a:rPr>
              <a:t>Thank You</a:t>
            </a:r>
          </a:p>
        </p:txBody>
      </p:sp>
      <p:sp>
        <p:nvSpPr>
          <p:cNvPr id="3" name="TextBox 2"/>
          <p:cNvSpPr txBox="1"/>
          <p:nvPr/>
        </p:nvSpPr>
        <p:spPr>
          <a:xfrm>
            <a:off x="548640" y="3108960"/>
            <a:ext cx="11064240" cy="457200"/>
          </a:xfrm>
          <a:prstGeom prst="rect">
            <a:avLst/>
          </a:prstGeom>
          <a:noFill/>
        </p:spPr>
        <p:txBody>
          <a:bodyPr wrap="square" lIns="0" rIns="0" tIns="0" bIns="0" anchor="t">
            <a:spAutoFit/>
          </a:bodyPr>
          <a:lstStyle/>
          <a:p>
            <a:pPr algn="ctr">
              <a:spcAft>
                <a:spcPts val="0"/>
              </a:spcAft>
            </a:pPr>
            <a:r>
              <a:rPr sz="2200" b="0" i="0">
                <a:solidFill>
                  <a:srgbClr val="C9D6EA"/>
                </a:solidFill>
                <a:latin typeface="Calibri"/>
              </a:rPr>
              <a:t>Questions are welcome</a:t>
            </a:r>
          </a:p>
        </p:txBody>
      </p:sp>
      <p:sp>
        <p:nvSpPr>
          <p:cNvPr id="4" name="TextBox 3"/>
          <p:cNvSpPr txBox="1"/>
          <p:nvPr/>
        </p:nvSpPr>
        <p:spPr>
          <a:xfrm>
            <a:off x="548640" y="5120640"/>
            <a:ext cx="11064240" cy="365760"/>
          </a:xfrm>
          <a:prstGeom prst="rect">
            <a:avLst/>
          </a:prstGeom>
          <a:noFill/>
        </p:spPr>
        <p:txBody>
          <a:bodyPr wrap="square" lIns="0" rIns="0" tIns="0" bIns="0" anchor="t">
            <a:spAutoFit/>
          </a:bodyPr>
          <a:lstStyle/>
          <a:p>
            <a:pPr algn="ctr">
              <a:spcAft>
                <a:spcPts val="0"/>
              </a:spcAft>
            </a:pPr>
            <a:r>
              <a:rPr sz="1400" b="0" i="0">
                <a:solidFill>
                  <a:srgbClr val="B8C4D9"/>
                </a:solidFill>
                <a:latin typeface="Calibri"/>
              </a:rPr>
              <a:t>Rohan Pandey  |  Roll No. 2501720100117  |  Guide: Mr. Vikas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