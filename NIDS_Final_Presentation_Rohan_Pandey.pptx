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the final evaluation of my real-time network intrusion detection system. The project is complete: it captures live traffic, detects three attacks with transparent rules, and shows alerts on a web dashboard. I will cover the problem, the design, the implementation, the testing and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Homes, hostels and labs have no monitoring. Three common attacks leave clear patterns in packets but go unnoticed. My system detects all three and shows them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objective set in the synopsis has been achieved. Unlike the mid-term, where only the port-scan rule worked, all three rules are now complete, tested and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Wireshark does not alert, Snort needs an expert and logs to files, and machine learning cannot explain itself. My system is small, explainable and live, which is exactly the gap for a small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sensor captures packets with Scapy and runs the rules. Alerts go as JSON over HTTP to the Node.js server, which logs them and pushes them to the dashboard through Socket.IO.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tool is used where it is strongest. The two halves talk over HTTP with small JSON messages, so each can be tested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was captured in standard diagrams: data-flow, use-case, sequence, component and deployment, plus a flowchart of the detection logic. The level-1 data-flow diagram shown here breaks the system into five processes.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rule is a simple threshold on a counter. The port scan counts distinct ports, the SYN flood counts half-open handshakes, and the ARP rule watches for a changed gateway MAC. Every alert can be explained by its counter and threshold, which is the key advantage over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unit tests feed crafted packets straight to the detector and all pass. The negative tests matter as much as the positive ones, because a detector that cries wolf would be ignored. Integration tests confirmed the whole pipeline with real attacks against my own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dashboard during testing. The medium port-scan alert and the high SYN-flood alert are both shown, with the live chart and the per-type totals. Detection latency was about two milliseconds, and no false alarm was raised during normal browsing.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project is a complete and working intrusion detection system that meets every objective and is small enough to explain in full. The modular rule engine means each future extension can be added and tested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or to show any part of the code or the live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spcAft>
                <a:spcPts val="0"/>
              </a:spcAft>
            </a:pPr>
            <a:r>
              <a:rPr sz="1400" b="1" i="0">
                <a:solidFill>
                  <a:srgbClr val="9FB3D1"/>
                </a:solidFill>
                <a:latin typeface="Calibri"/>
              </a:rPr>
              <a:t>MINI PROJECT  |  FINAL EVALUATION</a:t>
            </a:r>
          </a:p>
        </p:txBody>
      </p:sp>
      <p:sp>
        <p:nvSpPr>
          <p:cNvPr id="3" name="TextBox 2"/>
          <p:cNvSpPr txBox="1"/>
          <p:nvPr/>
        </p:nvSpPr>
        <p:spPr>
          <a:xfrm>
            <a:off x="731520" y="1234440"/>
            <a:ext cx="7772400" cy="1463040"/>
          </a:xfrm>
          <a:prstGeom prst="rect">
            <a:avLst/>
          </a:prstGeom>
          <a:noFill/>
        </p:spPr>
        <p:txBody>
          <a:bodyPr wrap="square" lIns="0" rIns="0" tIns="0" bIns="0" anchor="t">
            <a:spAutoFit/>
          </a:bodyPr>
          <a:lstStyle/>
          <a:p>
            <a:pPr algn="l">
              <a:lnSpc>
                <a:spcPct val="95000"/>
              </a:lnSpc>
              <a:spcAft>
                <a:spcPts val="0"/>
              </a:spcAft>
            </a:pPr>
            <a:r>
              <a:rPr sz="3800" b="1" i="0">
                <a:solidFill>
                  <a:srgbClr val="FFFFFF"/>
                </a:solidFill>
                <a:latin typeface="Calibri"/>
              </a:rPr>
              <a:t>Real-Time Network Intrusion Detection System</a:t>
            </a:r>
          </a:p>
        </p:txBody>
      </p:sp>
      <p:sp>
        <p:nvSpPr>
          <p:cNvPr id="4" name="TextBox 3"/>
          <p:cNvSpPr txBox="1"/>
          <p:nvPr/>
        </p:nvSpPr>
        <p:spPr>
          <a:xfrm>
            <a:off x="731520" y="2697480"/>
            <a:ext cx="7772400" cy="457200"/>
          </a:xfrm>
          <a:prstGeom prst="rect">
            <a:avLst/>
          </a:prstGeom>
          <a:noFill/>
        </p:spPr>
        <p:txBody>
          <a:bodyPr wrap="square" lIns="0" rIns="0" tIns="0" bIns="0" anchor="t">
            <a:spAutoFit/>
          </a:bodyPr>
          <a:lstStyle/>
          <a:p>
            <a:pPr algn="l">
              <a:spcAft>
                <a:spcPts val="0"/>
              </a:spcAft>
            </a:pPr>
            <a:r>
              <a:rPr sz="2100" b="0" i="0">
                <a:solidFill>
                  <a:srgbClr val="C9D6EA"/>
                </a:solidFill>
                <a:latin typeface="Calibri"/>
              </a:rPr>
              <a:t>using Packet Inspection and Web-Based Alerting</a:t>
            </a:r>
          </a:p>
        </p:txBody>
      </p:sp>
      <p:sp>
        <p:nvSpPr>
          <p:cNvPr id="5" name="TextBox 4"/>
          <p:cNvSpPr txBox="1"/>
          <p:nvPr/>
        </p:nvSpPr>
        <p:spPr>
          <a:xfrm>
            <a:off x="731520" y="3657600"/>
            <a:ext cx="7315200" cy="1188720"/>
          </a:xfrm>
          <a:prstGeom prst="rect">
            <a:avLst/>
          </a:prstGeom>
          <a:noFill/>
        </p:spPr>
        <p:txBody>
          <a:bodyPr wrap="square" lIns="0" rIns="0" tIns="0" bIns="0" anchor="t">
            <a:spAutoFit/>
          </a:bodyPr>
          <a:lstStyle/>
          <a:p>
            <a:pPr algn="l">
              <a:spcAft>
                <a:spcPts val="400"/>
              </a:spcAft>
            </a:pPr>
            <a:r>
              <a:rPr sz="2200" b="1" i="0">
                <a:solidFill>
                  <a:srgbClr val="FFFFFF"/>
                </a:solidFill>
                <a:latin typeface="Calibri"/>
              </a:rPr>
              <a:t>Rohan Pandey</a:t>
            </a:r>
          </a:p>
          <a:p>
            <a:pPr algn="l">
              <a:spcAft>
                <a:spcPts val="400"/>
              </a:spcAft>
            </a:pPr>
            <a:r>
              <a:rPr sz="1600" b="0" i="0">
                <a:solidFill>
                  <a:srgbClr val="C9D6EA"/>
                </a:solidFill>
                <a:latin typeface="Calibri"/>
              </a:rPr>
              <a:t>Roll No. 2501720100117  |  Section 2D</a:t>
            </a:r>
          </a:p>
          <a:p>
            <a:pPr algn="l">
              <a:spcAft>
                <a:spcPts val="400"/>
              </a:spcAft>
            </a:pPr>
            <a:r>
              <a:rPr sz="1600" b="0" i="0">
                <a:solidFill>
                  <a:srgbClr val="C9D6EA"/>
                </a:solidFill>
                <a:latin typeface="Calibri"/>
              </a:rPr>
              <a:t>Guide: Mr. Vikas, Assistant Professor</a:t>
            </a:r>
          </a:p>
        </p:txBody>
      </p:sp>
      <p:sp>
        <p:nvSpPr>
          <p:cNvPr id="6" name="TextBox 5"/>
          <p:cNvSpPr txBox="1"/>
          <p:nvPr/>
        </p:nvSpPr>
        <p:spPr>
          <a:xfrm>
            <a:off x="731520" y="5303520"/>
            <a:ext cx="7772400" cy="914400"/>
          </a:xfrm>
          <a:prstGeom prst="rect">
            <a:avLst/>
          </a:prstGeom>
          <a:noFill/>
        </p:spPr>
        <p:txBody>
          <a:bodyPr wrap="square" lIns="0" rIns="0" tIns="0" bIns="0" anchor="t">
            <a:spAutoFit/>
          </a:bodyPr>
          <a:lstStyle/>
          <a:p>
            <a:pPr algn="l">
              <a:spcAft>
                <a:spcPts val="200"/>
              </a:spcAft>
            </a:pPr>
            <a:r>
              <a:rPr sz="1300" b="0" i="0">
                <a:solidFill>
                  <a:srgbClr val="B8C4D9"/>
                </a:solidFill>
                <a:latin typeface="Calibri"/>
              </a:rPr>
              <a:t>Department of Computer Science &amp; Engineering &amp; Allied Branches</a:t>
            </a:r>
          </a:p>
          <a:p>
            <a:pPr algn="l">
              <a:spcAft>
                <a:spcPts val="200"/>
              </a:spcAft>
            </a:pPr>
            <a:r>
              <a:rPr sz="1300" b="0" i="0">
                <a:solidFill>
                  <a:srgbClr val="B8C4D9"/>
                </a:solidFill>
                <a:latin typeface="Calibri"/>
              </a:rPr>
              <a:t>Lloyd Institute of Management and Technology  |  Session 2026-27</a:t>
            </a:r>
          </a:p>
        </p:txBody>
      </p:sp>
      <p:sp>
        <p:nvSpPr>
          <p:cNvPr id="7" name="Oval 6"/>
          <p:cNvSpPr/>
          <p:nvPr/>
        </p:nvSpPr>
        <p:spPr>
          <a:xfrm>
            <a:off x="9052560" y="182880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loyd_logo.png"/>
          <p:cNvPicPr>
            <a:picLocks noChangeAspect="1"/>
          </p:cNvPicPr>
          <p:nvPr/>
        </p:nvPicPr>
        <p:blipFill>
          <a:blip r:embed="rId2"/>
          <a:stretch>
            <a:fillRect/>
          </a:stretch>
        </p:blipFill>
        <p:spPr>
          <a:xfrm>
            <a:off x="9418320" y="2194560"/>
            <a:ext cx="1645920" cy="163509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Problem Statement</a:t>
            </a:r>
          </a:p>
        </p:txBody>
      </p:sp>
      <p:sp>
        <p:nvSpPr>
          <p:cNvPr id="3" name="TextBox 2"/>
          <p:cNvSpPr txBox="1"/>
          <p:nvPr/>
        </p:nvSpPr>
        <p:spPr>
          <a:xfrm>
            <a:off x="548640" y="1554480"/>
            <a:ext cx="5760720" cy="1188720"/>
          </a:xfrm>
          <a:prstGeom prst="rect">
            <a:avLst/>
          </a:prstGeom>
          <a:noFill/>
        </p:spPr>
        <p:txBody>
          <a:bodyPr wrap="square" lIns="0" rIns="0" tIns="0" bIns="0" anchor="t">
            <a:spAutoFit/>
          </a:bodyPr>
          <a:lstStyle/>
          <a:p>
            <a:pPr algn="l">
              <a:spcAft>
                <a:spcPts val="0"/>
              </a:spcAft>
            </a:pPr>
            <a:r>
              <a:rPr sz="2400" b="1" i="0">
                <a:solidFill>
                  <a:srgbClr val="14213D"/>
                </a:solidFill>
                <a:latin typeface="Calibri"/>
              </a:rPr>
              <a:t>Small networks have no real-time way to see attacks as they happen.</a:t>
            </a:r>
          </a:p>
        </p:txBody>
      </p:sp>
      <p:sp>
        <p:nvSpPr>
          <p:cNvPr id="4" name="TextBox 3"/>
          <p:cNvSpPr txBox="1"/>
          <p:nvPr/>
        </p:nvSpPr>
        <p:spPr>
          <a:xfrm>
            <a:off x="548640" y="3063240"/>
            <a:ext cx="5760720" cy="2926080"/>
          </a:xfrm>
          <a:prstGeom prst="rect">
            <a:avLst/>
          </a:prstGeom>
          <a:noFill/>
        </p:spPr>
        <p:txBody>
          <a:bodyPr wrap="square" lIns="0" rIns="0" tIns="0" bIns="0" anchor="t">
            <a:spAutoFit/>
          </a:bodyPr>
          <a:lstStyle/>
          <a:p>
            <a:pPr algn="l">
              <a:spcAft>
                <a:spcPts val="1600"/>
              </a:spcAft>
            </a:pPr>
            <a:r>
              <a:rPr sz="1900" b="1" i="0">
                <a:solidFill>
                  <a:srgbClr val="14213D"/>
                </a:solidFill>
                <a:latin typeface="Calibri"/>
              </a:rPr>
              <a:t>Where: </a:t>
            </a:r>
            <a:r>
              <a:rPr sz="1900" b="0" i="0">
                <a:solidFill>
                  <a:srgbClr val="1F2937"/>
                </a:solidFill>
                <a:latin typeface="Calibri"/>
              </a:rPr>
              <a:t>homes, hostels and college labs</a:t>
            </a:r>
          </a:p>
          <a:p>
            <a:pPr algn="l">
              <a:spcAft>
                <a:spcPts val="1600"/>
              </a:spcAft>
            </a:pPr>
            <a:r>
              <a:rPr sz="1900" b="1" i="0">
                <a:solidFill>
                  <a:srgbClr val="14213D"/>
                </a:solidFill>
                <a:latin typeface="Calibri"/>
              </a:rPr>
              <a:t>Today: </a:t>
            </a:r>
            <a:r>
              <a:rPr sz="1900" b="0" i="0">
                <a:solidFill>
                  <a:srgbClr val="1F2937"/>
                </a:solidFill>
                <a:latin typeface="Calibri"/>
              </a:rPr>
              <a:t>attacks pass unseen in the packets</a:t>
            </a:r>
          </a:p>
          <a:p>
            <a:pPr algn="l">
              <a:spcAft>
                <a:spcPts val="1600"/>
              </a:spcAft>
            </a:pPr>
            <a:r>
              <a:rPr sz="1900" b="1" i="0">
                <a:solidFill>
                  <a:srgbClr val="14213D"/>
                </a:solidFill>
                <a:latin typeface="Calibri"/>
              </a:rPr>
              <a:t>Gap: </a:t>
            </a:r>
            <a:r>
              <a:rPr sz="1900" b="0" i="0">
                <a:solidFill>
                  <a:srgbClr val="1F2937"/>
                </a:solidFill>
                <a:latin typeface="Calibri"/>
              </a:rPr>
              <a:t>tools are manual, complex or unexplainable</a:t>
            </a:r>
          </a:p>
          <a:p>
            <a:pPr algn="l">
              <a:spcAft>
                <a:spcPts val="1600"/>
              </a:spcAft>
            </a:pPr>
            <a:r>
              <a:rPr sz="1900" b="1" i="0">
                <a:solidFill>
                  <a:srgbClr val="14213D"/>
                </a:solidFill>
                <a:latin typeface="Calibri"/>
              </a:rPr>
              <a:t>Need: </a:t>
            </a:r>
            <a:r>
              <a:rPr sz="1900" b="0" i="0">
                <a:solidFill>
                  <a:srgbClr val="1F2937"/>
                </a:solidFill>
                <a:latin typeface="Calibri"/>
              </a:rPr>
              <a:t>light, explainable, alerts within a second</a:t>
            </a:r>
          </a:p>
        </p:txBody>
      </p:sp>
      <p:sp>
        <p:nvSpPr>
          <p:cNvPr id="5" name="TextBox 4"/>
          <p:cNvSpPr txBox="1"/>
          <p:nvPr/>
        </p:nvSpPr>
        <p:spPr>
          <a:xfrm>
            <a:off x="6949440" y="1207008"/>
            <a:ext cx="4572000" cy="32004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ATTACKS DETECTED</a:t>
            </a:r>
          </a:p>
        </p:txBody>
      </p:sp>
      <p:sp>
        <p:nvSpPr>
          <p:cNvPr id="6" name="Rounded Rectangle 5"/>
          <p:cNvSpPr/>
          <p:nvPr/>
        </p:nvSpPr>
        <p:spPr>
          <a:xfrm>
            <a:off x="6949440" y="1600200"/>
            <a:ext cx="4690872" cy="1325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949440" y="1600200"/>
            <a:ext cx="128016" cy="1325880"/>
          </a:xfrm>
          <a:prstGeom prst="roundRect">
            <a:avLst>
              <a:gd name="adj" fmla="val 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828800"/>
            <a:ext cx="4114800" cy="411480"/>
          </a:xfrm>
          <a:prstGeom prst="rect">
            <a:avLst/>
          </a:prstGeom>
          <a:noFill/>
        </p:spPr>
        <p:txBody>
          <a:bodyPr wrap="square" lIns="0" rIns="0" tIns="0" bIns="0" anchor="t">
            <a:spAutoFit/>
          </a:bodyPr>
          <a:lstStyle/>
          <a:p>
            <a:pPr algn="l">
              <a:spcAft>
                <a:spcPts val="0"/>
              </a:spcAft>
            </a:pPr>
            <a:r>
              <a:rPr sz="2000" b="1" i="0">
                <a:solidFill>
                  <a:srgbClr val="14213D"/>
                </a:solidFill>
                <a:latin typeface="Calibri"/>
              </a:rPr>
              <a:t>Port Scan</a:t>
            </a:r>
          </a:p>
        </p:txBody>
      </p:sp>
      <p:sp>
        <p:nvSpPr>
          <p:cNvPr id="9" name="TextBox 8"/>
          <p:cNvSpPr txBox="1"/>
          <p:nvPr/>
        </p:nvSpPr>
        <p:spPr>
          <a:xfrm>
            <a:off x="7315200" y="2313432"/>
            <a:ext cx="411480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tries every port to find an open one</a:t>
            </a:r>
          </a:p>
        </p:txBody>
      </p:sp>
      <p:sp>
        <p:nvSpPr>
          <p:cNvPr id="10" name="Rounded Rectangle 9"/>
          <p:cNvSpPr/>
          <p:nvPr/>
        </p:nvSpPr>
        <p:spPr>
          <a:xfrm>
            <a:off x="6949440" y="3154680"/>
            <a:ext cx="4690872" cy="1325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9440" y="3154680"/>
            <a:ext cx="128016" cy="1325880"/>
          </a:xfrm>
          <a:prstGeom prst="roundRect">
            <a:avLst>
              <a:gd name="adj" fmla="val 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3383280"/>
            <a:ext cx="4114800" cy="411480"/>
          </a:xfrm>
          <a:prstGeom prst="rect">
            <a:avLst/>
          </a:prstGeom>
          <a:noFill/>
        </p:spPr>
        <p:txBody>
          <a:bodyPr wrap="square" lIns="0" rIns="0" tIns="0" bIns="0" anchor="t">
            <a:spAutoFit/>
          </a:bodyPr>
          <a:lstStyle/>
          <a:p>
            <a:pPr algn="l">
              <a:spcAft>
                <a:spcPts val="0"/>
              </a:spcAft>
            </a:pPr>
            <a:r>
              <a:rPr sz="2000" b="1" i="0">
                <a:solidFill>
                  <a:srgbClr val="14213D"/>
                </a:solidFill>
                <a:latin typeface="Calibri"/>
              </a:rPr>
              <a:t>SYN Flood</a:t>
            </a:r>
          </a:p>
        </p:txBody>
      </p:sp>
      <p:sp>
        <p:nvSpPr>
          <p:cNvPr id="13" name="TextBox 12"/>
          <p:cNvSpPr txBox="1"/>
          <p:nvPr/>
        </p:nvSpPr>
        <p:spPr>
          <a:xfrm>
            <a:off x="7315200" y="3867912"/>
            <a:ext cx="411480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floods a server with half-open connections</a:t>
            </a:r>
          </a:p>
        </p:txBody>
      </p:sp>
      <p:sp>
        <p:nvSpPr>
          <p:cNvPr id="14" name="Rounded Rectangle 13"/>
          <p:cNvSpPr/>
          <p:nvPr/>
        </p:nvSpPr>
        <p:spPr>
          <a:xfrm>
            <a:off x="6949440" y="4709160"/>
            <a:ext cx="4690872" cy="1325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4709160"/>
            <a:ext cx="128016" cy="1325880"/>
          </a:xfrm>
          <a:prstGeom prst="roundRect">
            <a:avLst>
              <a:gd name="adj" fmla="val 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4937760"/>
            <a:ext cx="4114800" cy="411480"/>
          </a:xfrm>
          <a:prstGeom prst="rect">
            <a:avLst/>
          </a:prstGeom>
          <a:noFill/>
        </p:spPr>
        <p:txBody>
          <a:bodyPr wrap="square" lIns="0" rIns="0" tIns="0" bIns="0" anchor="t">
            <a:spAutoFit/>
          </a:bodyPr>
          <a:lstStyle/>
          <a:p>
            <a:pPr algn="l">
              <a:spcAft>
                <a:spcPts val="0"/>
              </a:spcAft>
            </a:pPr>
            <a:r>
              <a:rPr sz="2000" b="1" i="0">
                <a:solidFill>
                  <a:srgbClr val="14213D"/>
                </a:solidFill>
                <a:latin typeface="Calibri"/>
              </a:rPr>
              <a:t>ARP Spoofing</a:t>
            </a:r>
          </a:p>
        </p:txBody>
      </p:sp>
      <p:sp>
        <p:nvSpPr>
          <p:cNvPr id="17" name="TextBox 16"/>
          <p:cNvSpPr txBox="1"/>
          <p:nvPr/>
        </p:nvSpPr>
        <p:spPr>
          <a:xfrm>
            <a:off x="7315200" y="5422392"/>
            <a:ext cx="411480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puts the attacker in the middle of traffic</a:t>
            </a:r>
          </a:p>
        </p:txBody>
      </p:sp>
      <p:sp>
        <p:nvSpPr>
          <p:cNvPr id="18" name="TextBox 17"/>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19" name="TextBox 18"/>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Objectives: All Achieved</a:t>
            </a:r>
          </a:p>
        </p:txBody>
      </p:sp>
      <p:sp>
        <p:nvSpPr>
          <p:cNvPr id="3" name="Oval 2"/>
          <p:cNvSpPr/>
          <p:nvPr/>
        </p:nvSpPr>
        <p:spPr>
          <a:xfrm>
            <a:off x="640080" y="15087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904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5" name="TextBox 4"/>
          <p:cNvSpPr txBox="1"/>
          <p:nvPr/>
        </p:nvSpPr>
        <p:spPr>
          <a:xfrm>
            <a:off x="1051560" y="146304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Capture live TCP, UDP and ARP packets</a:t>
            </a:r>
          </a:p>
        </p:txBody>
      </p:sp>
      <p:sp>
        <p:nvSpPr>
          <p:cNvPr id="6" name="Oval 5"/>
          <p:cNvSpPr/>
          <p:nvPr/>
        </p:nvSpPr>
        <p:spPr>
          <a:xfrm>
            <a:off x="6309360" y="15087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4904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8" name="TextBox 7"/>
          <p:cNvSpPr txBox="1"/>
          <p:nvPr/>
        </p:nvSpPr>
        <p:spPr>
          <a:xfrm>
            <a:off x="6720840" y="146304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Detect port scans with a sliding-window rule</a:t>
            </a:r>
          </a:p>
        </p:txBody>
      </p:sp>
      <p:sp>
        <p:nvSpPr>
          <p:cNvPr id="9" name="Oval 8"/>
          <p:cNvSpPr/>
          <p:nvPr/>
        </p:nvSpPr>
        <p:spPr>
          <a:xfrm>
            <a:off x="640080" y="2377439"/>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59151"/>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1" name="TextBox 10"/>
          <p:cNvSpPr txBox="1"/>
          <p:nvPr/>
        </p:nvSpPr>
        <p:spPr>
          <a:xfrm>
            <a:off x="1051560" y="233172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Detect SYN floods from half-open handshakes</a:t>
            </a:r>
          </a:p>
        </p:txBody>
      </p:sp>
      <p:sp>
        <p:nvSpPr>
          <p:cNvPr id="12" name="Oval 11"/>
          <p:cNvSpPr/>
          <p:nvPr/>
        </p:nvSpPr>
        <p:spPr>
          <a:xfrm>
            <a:off x="6309360" y="2377439"/>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2359151"/>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4" name="TextBox 13"/>
          <p:cNvSpPr txBox="1"/>
          <p:nvPr/>
        </p:nvSpPr>
        <p:spPr>
          <a:xfrm>
            <a:off x="6720840" y="233172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Detect ARP spoofing from a trust table</a:t>
            </a:r>
          </a:p>
        </p:txBody>
      </p:sp>
      <p:sp>
        <p:nvSpPr>
          <p:cNvPr id="15" name="Oval 14"/>
          <p:cNvSpPr/>
          <p:nvPr/>
        </p:nvSpPr>
        <p:spPr>
          <a:xfrm>
            <a:off x="640080" y="324612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22783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7" name="TextBox 16"/>
          <p:cNvSpPr txBox="1"/>
          <p:nvPr/>
        </p:nvSpPr>
        <p:spPr>
          <a:xfrm>
            <a:off x="1051560" y="320040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Alert pipeline to a Node.js and Express server</a:t>
            </a:r>
          </a:p>
        </p:txBody>
      </p:sp>
      <p:sp>
        <p:nvSpPr>
          <p:cNvPr id="18" name="Oval 17"/>
          <p:cNvSpPr/>
          <p:nvPr/>
        </p:nvSpPr>
        <p:spPr>
          <a:xfrm>
            <a:off x="6309360" y="324612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322783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0" name="TextBox 19"/>
          <p:cNvSpPr txBox="1"/>
          <p:nvPr/>
        </p:nvSpPr>
        <p:spPr>
          <a:xfrm>
            <a:off x="6720840" y="320040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Live web dashboard, updated without refresh</a:t>
            </a:r>
          </a:p>
        </p:txBody>
      </p:sp>
      <p:sp>
        <p:nvSpPr>
          <p:cNvPr id="21" name="Oval 20"/>
          <p:cNvSpPr/>
          <p:nvPr/>
        </p:nvSpPr>
        <p:spPr>
          <a:xfrm>
            <a:off x="640080" y="4114799"/>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3" name="TextBox 22"/>
          <p:cNvSpPr txBox="1"/>
          <p:nvPr/>
        </p:nvSpPr>
        <p:spPr>
          <a:xfrm>
            <a:off x="1051560" y="4069079"/>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Automated tests and measured performance</a:t>
            </a:r>
          </a:p>
        </p:txBody>
      </p:sp>
      <p:sp>
        <p:nvSpPr>
          <p:cNvPr id="24" name="Rounded Rectangle 23"/>
          <p:cNvSpPr/>
          <p:nvPr/>
        </p:nvSpPr>
        <p:spPr>
          <a:xfrm>
            <a:off x="640080" y="5486400"/>
            <a:ext cx="10881360" cy="868680"/>
          </a:xfrm>
          <a:prstGeom prst="roundRect">
            <a:avLst>
              <a:gd name="adj" fmla="val 8000"/>
            </a:avLst>
          </a:prstGeom>
          <a:solidFill>
            <a:srgbClr val="DD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50992"/>
            <a:ext cx="10424160" cy="548640"/>
          </a:xfrm>
          <a:prstGeom prst="rect">
            <a:avLst/>
          </a:prstGeom>
          <a:noFill/>
        </p:spPr>
        <p:txBody>
          <a:bodyPr wrap="square" lIns="0" rIns="0" tIns="0" bIns="0" anchor="t">
            <a:spAutoFit/>
          </a:bodyPr>
          <a:lstStyle/>
          <a:p>
            <a:pPr algn="l">
              <a:spcAft>
                <a:spcPts val="0"/>
              </a:spcAft>
            </a:pPr>
            <a:r>
              <a:rPr sz="1600" b="1" i="0">
                <a:solidFill>
                  <a:srgbClr val="1B7F73"/>
                </a:solidFill>
                <a:latin typeface="Calibri"/>
              </a:rPr>
              <a:t>All seven objectives were met. </a:t>
            </a:r>
            <a:r>
              <a:rPr sz="1600" b="0" i="0">
                <a:solidFill>
                  <a:srgbClr val="1F2937"/>
                </a:solidFill>
                <a:latin typeface="Calibri"/>
              </a:rPr>
              <a:t>All three attack rules are implemented, tested and shown live on the dashboard.</a:t>
            </a:r>
          </a:p>
        </p:txBody>
      </p:sp>
      <p:sp>
        <p:nvSpPr>
          <p:cNvPr id="26" name="TextBox 25"/>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7" name="TextBox 26"/>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Existing Systems and the Gap</a:t>
            </a:r>
          </a:p>
        </p:txBody>
      </p:sp>
      <p:graphicFrame>
        <p:nvGraphicFramePr>
          <p:cNvPr id="3" name="Table 2"/>
          <p:cNvGraphicFramePr>
            <a:graphicFrameLocks noGrp="1"/>
          </p:cNvGraphicFramePr>
          <p:nvPr/>
        </p:nvGraphicFramePr>
        <p:xfrm>
          <a:off x="548640" y="1463040"/>
          <a:ext cx="11064240" cy="2743200"/>
        </p:xfrm>
        <a:graphic>
          <a:graphicData uri="http://schemas.openxmlformats.org/drawingml/2006/table">
            <a:tbl>
              <a:tblPr firstRow="1" bandRow="1">
                <a:tableStyleId>{5C22544A-7EE6-4342-B048-85BDC9FD1C3A}</a:tableStyleId>
              </a:tblPr>
              <a:tblGrid>
                <a:gridCol w="2468880"/>
                <a:gridCol w="3840480"/>
                <a:gridCol w="4754880"/>
              </a:tblGrid>
              <a:tr h="548640">
                <a:tc>
                  <a:txBody>
                    <a:bodyPr/>
                    <a:lstStyle/>
                    <a:p>
                      <a:r>
                        <a:rPr sz="1500" b="1" i="0">
                          <a:solidFill>
                            <a:srgbClr val="FFFFFF"/>
                          </a:solidFill>
                          <a:latin typeface="Calibri"/>
                        </a:rPr>
                        <a:t>Existing tool</a:t>
                      </a:r>
                    </a:p>
                  </a:txBody>
                  <a:tcPr marL="137160" marR="137160" anchor="ctr">
                    <a:solidFill>
                      <a:srgbClr val="14213D"/>
                    </a:solidFill>
                  </a:tcPr>
                </a:tc>
                <a:tc>
                  <a:txBody>
                    <a:bodyPr/>
                    <a:lstStyle/>
                    <a:p>
                      <a:r>
                        <a:rPr sz="1500" b="1" i="0">
                          <a:solidFill>
                            <a:srgbClr val="FFFFFF"/>
                          </a:solidFill>
                          <a:latin typeface="Calibri"/>
                        </a:rPr>
                        <a:t>What it does well</a:t>
                      </a:r>
                    </a:p>
                  </a:txBody>
                  <a:tcPr marL="137160" marR="137160" anchor="ctr">
                    <a:solidFill>
                      <a:srgbClr val="14213D"/>
                    </a:solidFill>
                  </a:tcPr>
                </a:tc>
                <a:tc>
                  <a:txBody>
                    <a:bodyPr/>
                    <a:lstStyle/>
                    <a:p>
                      <a:r>
                        <a:rPr sz="1500" b="1" i="0">
                          <a:solidFill>
                            <a:srgbClr val="FFFFFF"/>
                          </a:solidFill>
                          <a:latin typeface="Calibri"/>
                        </a:rPr>
                        <a:t>Gap for small networks</a:t>
                      </a:r>
                    </a:p>
                  </a:txBody>
                  <a:tcPr marL="137160" marR="137160" anchor="ctr">
                    <a:solidFill>
                      <a:srgbClr val="14213D"/>
                    </a:solidFill>
                  </a:tcPr>
                </a:tc>
              </a:tr>
              <a:tr h="548640">
                <a:tc>
                  <a:txBody>
                    <a:bodyPr/>
                    <a:lstStyle/>
                    <a:p>
                      <a:r>
                        <a:rPr sz="1500" b="1" i="0">
                          <a:solidFill>
                            <a:srgbClr val="14213D"/>
                          </a:solidFill>
                          <a:latin typeface="Calibri"/>
                        </a:rPr>
                        <a:t>Wireshark</a:t>
                      </a:r>
                    </a:p>
                  </a:txBody>
                  <a:tcPr marL="137160" marR="137160" anchor="ctr">
                    <a:solidFill>
                      <a:srgbClr val="FFFFFF"/>
                    </a:solidFill>
                  </a:tcPr>
                </a:tc>
                <a:tc>
                  <a:txBody>
                    <a:bodyPr/>
                    <a:lstStyle/>
                    <a:p>
                      <a:r>
                        <a:rPr sz="1500" b="0" i="0">
                          <a:solidFill>
                            <a:srgbClr val="1F2937"/>
                          </a:solidFill>
                          <a:latin typeface="Calibri"/>
                        </a:rPr>
                        <a:t>Captures and decodes every packet</a:t>
                      </a:r>
                    </a:p>
                  </a:txBody>
                  <a:tcPr marL="137160" marR="137160" anchor="ctr">
                    <a:solidFill>
                      <a:srgbClr val="FFFFFF"/>
                    </a:solidFill>
                  </a:tcPr>
                </a:tc>
                <a:tc>
                  <a:txBody>
                    <a:bodyPr/>
                    <a:lstStyle/>
                    <a:p>
                      <a:r>
                        <a:rPr sz="1500" b="0" i="0">
                          <a:solidFill>
                            <a:srgbClr val="1F2937"/>
                          </a:solidFill>
                          <a:latin typeface="Calibri"/>
                        </a:rPr>
                        <a:t>Manual study, no automatic alerts</a:t>
                      </a:r>
                    </a:p>
                  </a:txBody>
                  <a:tcPr marL="137160" marR="137160" anchor="ctr">
                    <a:solidFill>
                      <a:srgbClr val="FFFFFF"/>
                    </a:solidFill>
                  </a:tcPr>
                </a:tc>
              </a:tr>
              <a:tr h="548640">
                <a:tc>
                  <a:txBody>
                    <a:bodyPr/>
                    <a:lstStyle/>
                    <a:p>
                      <a:r>
                        <a:rPr sz="1500" b="1" i="0">
                          <a:solidFill>
                            <a:srgbClr val="14213D"/>
                          </a:solidFill>
                          <a:latin typeface="Calibri"/>
                        </a:rPr>
                        <a:t>Snort, Suricata</a:t>
                      </a:r>
                    </a:p>
                  </a:txBody>
                  <a:tcPr marL="137160" marR="137160" anchor="ctr">
                    <a:solidFill>
                      <a:srgbClr val="F4F6F9"/>
                    </a:solidFill>
                  </a:tcPr>
                </a:tc>
                <a:tc>
                  <a:txBody>
                    <a:bodyPr/>
                    <a:lstStyle/>
                    <a:p>
                      <a:r>
                        <a:rPr sz="1500" b="0" i="0">
                          <a:solidFill>
                            <a:srgbClr val="1F2937"/>
                          </a:solidFill>
                          <a:latin typeface="Calibri"/>
                        </a:rPr>
                        <a:t>Professional rule-based detection</a:t>
                      </a:r>
                    </a:p>
                  </a:txBody>
                  <a:tcPr marL="137160" marR="137160" anchor="ctr">
                    <a:solidFill>
                      <a:srgbClr val="F4F6F9"/>
                    </a:solidFill>
                  </a:tcPr>
                </a:tc>
                <a:tc>
                  <a:txBody>
                    <a:bodyPr/>
                    <a:lstStyle/>
                    <a:p>
                      <a:r>
                        <a:rPr sz="1500" b="0" i="0">
                          <a:solidFill>
                            <a:srgbClr val="1F2937"/>
                          </a:solidFill>
                          <a:latin typeface="Calibri"/>
                        </a:rPr>
                        <a:t>Complex rules, expert setup, log files</a:t>
                      </a:r>
                    </a:p>
                  </a:txBody>
                  <a:tcPr marL="137160" marR="137160" anchor="ctr">
                    <a:solidFill>
                      <a:srgbClr val="F4F6F9"/>
                    </a:solidFill>
                  </a:tcPr>
                </a:tc>
              </a:tr>
              <a:tr h="548640">
                <a:tc>
                  <a:txBody>
                    <a:bodyPr/>
                    <a:lstStyle/>
                    <a:p>
                      <a:r>
                        <a:rPr sz="1500" b="1" i="0">
                          <a:solidFill>
                            <a:srgbClr val="14213D"/>
                          </a:solidFill>
                          <a:latin typeface="Calibri"/>
                        </a:rPr>
                        <a:t>Zeek</a:t>
                      </a:r>
                    </a:p>
                  </a:txBody>
                  <a:tcPr marL="137160" marR="137160" anchor="ctr">
                    <a:solidFill>
                      <a:srgbClr val="FFFFFF"/>
                    </a:solidFill>
                  </a:tcPr>
                </a:tc>
                <a:tc>
                  <a:txBody>
                    <a:bodyPr/>
                    <a:lstStyle/>
                    <a:p>
                      <a:r>
                        <a:rPr sz="1500" b="0" i="0">
                          <a:solidFill>
                            <a:srgbClr val="1F2937"/>
                          </a:solidFill>
                          <a:latin typeface="Calibri"/>
                        </a:rPr>
                        <a:t>Deep analysis with scripts</a:t>
                      </a:r>
                    </a:p>
                  </a:txBody>
                  <a:tcPr marL="137160" marR="137160" anchor="ctr">
                    <a:solidFill>
                      <a:srgbClr val="FFFFFF"/>
                    </a:solidFill>
                  </a:tcPr>
                </a:tc>
                <a:tc>
                  <a:txBody>
                    <a:bodyPr/>
                    <a:lstStyle/>
                    <a:p>
                      <a:r>
                        <a:rPr sz="1500" b="0" i="0">
                          <a:solidFill>
                            <a:srgbClr val="1F2937"/>
                          </a:solidFill>
                          <a:latin typeface="Calibri"/>
                        </a:rPr>
                        <a:t>Steep learning curve, no live dashboard</a:t>
                      </a:r>
                    </a:p>
                  </a:txBody>
                  <a:tcPr marL="137160" marR="137160" anchor="ctr">
                    <a:solidFill>
                      <a:srgbClr val="FFFFFF"/>
                    </a:solidFill>
                  </a:tcPr>
                </a:tc>
              </a:tr>
              <a:tr h="548640">
                <a:tc>
                  <a:txBody>
                    <a:bodyPr/>
                    <a:lstStyle/>
                    <a:p>
                      <a:r>
                        <a:rPr sz="1500" b="1" i="0">
                          <a:solidFill>
                            <a:srgbClr val="14213D"/>
                          </a:solidFill>
                          <a:latin typeface="Calibri"/>
                        </a:rPr>
                        <a:t>ML-based IDS</a:t>
                      </a:r>
                    </a:p>
                  </a:txBody>
                  <a:tcPr marL="137160" marR="137160" anchor="ctr">
                    <a:solidFill>
                      <a:srgbClr val="F4F6F9"/>
                    </a:solidFill>
                  </a:tcPr>
                </a:tc>
                <a:tc>
                  <a:txBody>
                    <a:bodyPr/>
                    <a:lstStyle/>
                    <a:p>
                      <a:r>
                        <a:rPr sz="1500" b="0" i="0">
                          <a:solidFill>
                            <a:srgbClr val="1F2937"/>
                          </a:solidFill>
                          <a:latin typeface="Calibri"/>
                        </a:rPr>
                        <a:t>High accuracy on test datasets</a:t>
                      </a:r>
                    </a:p>
                  </a:txBody>
                  <a:tcPr marL="137160" marR="137160" anchor="ctr">
                    <a:solidFill>
                      <a:srgbClr val="F4F6F9"/>
                    </a:solidFill>
                  </a:tcPr>
                </a:tc>
                <a:tc>
                  <a:txBody>
                    <a:bodyPr/>
                    <a:lstStyle/>
                    <a:p>
                      <a:r>
                        <a:rPr sz="1500" b="0" i="0">
                          <a:solidFill>
                            <a:srgbClr val="1F2937"/>
                          </a:solidFill>
                          <a:latin typeface="Calibri"/>
                        </a:rPr>
                        <a:t>Black box, needs training data</a:t>
                      </a:r>
                    </a:p>
                  </a:txBody>
                  <a:tcPr marL="137160" marR="137160" anchor="ctr">
                    <a:solidFill>
                      <a:srgbClr val="F4F6F9"/>
                    </a:solidFill>
                  </a:tcPr>
                </a:tc>
              </a:tr>
            </a:tbl>
          </a:graphicData>
        </a:graphic>
      </p:graphicFrame>
      <p:sp>
        <p:nvSpPr>
          <p:cNvPr id="4" name="Rounded Rectangle 3"/>
          <p:cNvSpPr/>
          <p:nvPr/>
        </p:nvSpPr>
        <p:spPr>
          <a:xfrm>
            <a:off x="548640" y="4526280"/>
            <a:ext cx="11064240" cy="160020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681728"/>
            <a:ext cx="5486400" cy="320040"/>
          </a:xfrm>
          <a:prstGeom prst="rect">
            <a:avLst/>
          </a:prstGeom>
          <a:noFill/>
        </p:spPr>
        <p:txBody>
          <a:bodyPr wrap="square" lIns="0" rIns="0" tIns="0" bIns="0" anchor="t">
            <a:spAutoFit/>
          </a:bodyPr>
          <a:lstStyle/>
          <a:p>
            <a:pPr algn="l">
              <a:spcAft>
                <a:spcPts val="0"/>
              </a:spcAft>
            </a:pPr>
            <a:r>
              <a:rPr sz="1200" b="1" i="0">
                <a:solidFill>
                  <a:srgbClr val="9FB3D1"/>
                </a:solidFill>
                <a:latin typeface="Calibri"/>
              </a:rPr>
              <a:t>MY SYSTEM FILLS THE GAP</a:t>
            </a:r>
          </a:p>
        </p:txBody>
      </p:sp>
      <p:sp>
        <p:nvSpPr>
          <p:cNvPr id="6" name="TextBox 5"/>
          <p:cNvSpPr txBox="1"/>
          <p:nvPr/>
        </p:nvSpPr>
        <p:spPr>
          <a:xfrm>
            <a:off x="868680" y="5029200"/>
            <a:ext cx="3383280" cy="365760"/>
          </a:xfrm>
          <a:prstGeom prst="rect">
            <a:avLst/>
          </a:prstGeom>
          <a:noFill/>
        </p:spPr>
        <p:txBody>
          <a:bodyPr wrap="square" lIns="0" rIns="0" tIns="0" bIns="0" anchor="t">
            <a:spAutoFit/>
          </a:bodyPr>
          <a:lstStyle/>
          <a:p>
            <a:pPr algn="l">
              <a:spcAft>
                <a:spcPts val="0"/>
              </a:spcAft>
            </a:pPr>
            <a:r>
              <a:rPr sz="1900" b="1" i="0">
                <a:solidFill>
                  <a:srgbClr val="FFFFFF"/>
                </a:solidFill>
                <a:latin typeface="Calibri"/>
              </a:rPr>
              <a:t>Lightweight</a:t>
            </a:r>
          </a:p>
        </p:txBody>
      </p:sp>
      <p:sp>
        <p:nvSpPr>
          <p:cNvPr id="7" name="TextBox 6"/>
          <p:cNvSpPr txBox="1"/>
          <p:nvPr/>
        </p:nvSpPr>
        <p:spPr>
          <a:xfrm>
            <a:off x="868680" y="5413248"/>
            <a:ext cx="3383280" cy="548640"/>
          </a:xfrm>
          <a:prstGeom prst="rect">
            <a:avLst/>
          </a:prstGeom>
          <a:noFill/>
        </p:spPr>
        <p:txBody>
          <a:bodyPr wrap="square" lIns="0" rIns="0" tIns="0" bIns="0" anchor="t">
            <a:spAutoFit/>
          </a:bodyPr>
          <a:lstStyle/>
          <a:p>
            <a:pPr algn="l">
              <a:spcAft>
                <a:spcPts val="0"/>
              </a:spcAft>
            </a:pPr>
            <a:r>
              <a:rPr sz="1400" b="0" i="0">
                <a:solidFill>
                  <a:srgbClr val="C9D6EA"/>
                </a:solidFill>
                <a:latin typeface="Calibri"/>
              </a:rPr>
              <a:t>about 200 lines, runs on a laptop</a:t>
            </a:r>
          </a:p>
        </p:txBody>
      </p:sp>
      <p:sp>
        <p:nvSpPr>
          <p:cNvPr id="8" name="TextBox 7"/>
          <p:cNvSpPr txBox="1"/>
          <p:nvPr/>
        </p:nvSpPr>
        <p:spPr>
          <a:xfrm>
            <a:off x="4480560" y="5029200"/>
            <a:ext cx="3383280" cy="365760"/>
          </a:xfrm>
          <a:prstGeom prst="rect">
            <a:avLst/>
          </a:prstGeom>
          <a:noFill/>
        </p:spPr>
        <p:txBody>
          <a:bodyPr wrap="square" lIns="0" rIns="0" tIns="0" bIns="0" anchor="t">
            <a:spAutoFit/>
          </a:bodyPr>
          <a:lstStyle/>
          <a:p>
            <a:pPr algn="l">
              <a:spcAft>
                <a:spcPts val="0"/>
              </a:spcAft>
            </a:pPr>
            <a:r>
              <a:rPr sz="1900" b="1" i="0">
                <a:solidFill>
                  <a:srgbClr val="FFFFFF"/>
                </a:solidFill>
                <a:latin typeface="Calibri"/>
              </a:rPr>
              <a:t>Explainable</a:t>
            </a:r>
          </a:p>
        </p:txBody>
      </p:sp>
      <p:sp>
        <p:nvSpPr>
          <p:cNvPr id="9" name="TextBox 8"/>
          <p:cNvSpPr txBox="1"/>
          <p:nvPr/>
        </p:nvSpPr>
        <p:spPr>
          <a:xfrm>
            <a:off x="4480560" y="5413248"/>
            <a:ext cx="3383280" cy="548640"/>
          </a:xfrm>
          <a:prstGeom prst="rect">
            <a:avLst/>
          </a:prstGeom>
          <a:noFill/>
        </p:spPr>
        <p:txBody>
          <a:bodyPr wrap="square" lIns="0" rIns="0" tIns="0" bIns="0" anchor="t">
            <a:spAutoFit/>
          </a:bodyPr>
          <a:lstStyle/>
          <a:p>
            <a:pPr algn="l">
              <a:spcAft>
                <a:spcPts val="0"/>
              </a:spcAft>
            </a:pPr>
            <a:r>
              <a:rPr sz="1400" b="0" i="0">
                <a:solidFill>
                  <a:srgbClr val="C9D6EA"/>
                </a:solidFill>
                <a:latin typeface="Calibri"/>
              </a:rPr>
              <a:t>every alert shows its threshold</a:t>
            </a:r>
          </a:p>
        </p:txBody>
      </p:sp>
      <p:sp>
        <p:nvSpPr>
          <p:cNvPr id="10" name="TextBox 9"/>
          <p:cNvSpPr txBox="1"/>
          <p:nvPr/>
        </p:nvSpPr>
        <p:spPr>
          <a:xfrm>
            <a:off x="8092440" y="5029200"/>
            <a:ext cx="3383280" cy="365760"/>
          </a:xfrm>
          <a:prstGeom prst="rect">
            <a:avLst/>
          </a:prstGeom>
          <a:noFill/>
        </p:spPr>
        <p:txBody>
          <a:bodyPr wrap="square" lIns="0" rIns="0" tIns="0" bIns="0" anchor="t">
            <a:spAutoFit/>
          </a:bodyPr>
          <a:lstStyle/>
          <a:p>
            <a:pPr algn="l">
              <a:spcAft>
                <a:spcPts val="0"/>
              </a:spcAft>
            </a:pPr>
            <a:r>
              <a:rPr sz="1900" b="1" i="0">
                <a:solidFill>
                  <a:srgbClr val="FFFFFF"/>
                </a:solidFill>
                <a:latin typeface="Calibri"/>
              </a:rPr>
              <a:t>Live</a:t>
            </a:r>
          </a:p>
        </p:txBody>
      </p:sp>
      <p:sp>
        <p:nvSpPr>
          <p:cNvPr id="11" name="TextBox 10"/>
          <p:cNvSpPr txBox="1"/>
          <p:nvPr/>
        </p:nvSpPr>
        <p:spPr>
          <a:xfrm>
            <a:off x="8092440" y="5413248"/>
            <a:ext cx="3383280" cy="548640"/>
          </a:xfrm>
          <a:prstGeom prst="rect">
            <a:avLst/>
          </a:prstGeom>
          <a:noFill/>
        </p:spPr>
        <p:txBody>
          <a:bodyPr wrap="square" lIns="0" rIns="0" tIns="0" bIns="0" anchor="t">
            <a:spAutoFit/>
          </a:bodyPr>
          <a:lstStyle/>
          <a:p>
            <a:pPr algn="l">
              <a:spcAft>
                <a:spcPts val="0"/>
              </a:spcAft>
            </a:pPr>
            <a:r>
              <a:rPr sz="1400" b="0" i="0">
                <a:solidFill>
                  <a:srgbClr val="C9D6EA"/>
                </a:solidFill>
                <a:latin typeface="Calibri"/>
              </a:rPr>
              <a:t>alert on the dashboard in under 1 second</a:t>
            </a:r>
          </a:p>
        </p:txBody>
      </p:sp>
      <p:sp>
        <p:nvSpPr>
          <p:cNvPr id="12" name="TextBox 11"/>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13" name="TextBox 12"/>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System Architecture</a:t>
            </a:r>
          </a:p>
        </p:txBody>
      </p:sp>
      <p:pic>
        <p:nvPicPr>
          <p:cNvPr id="3" name="Picture 2" descr="architecture.png"/>
          <p:cNvPicPr>
            <a:picLocks noChangeAspect="1"/>
          </p:cNvPicPr>
          <p:nvPr/>
        </p:nvPicPr>
        <p:blipFill>
          <a:blip r:embed="rId2"/>
          <a:stretch>
            <a:fillRect/>
          </a:stretch>
        </p:blipFill>
        <p:spPr>
          <a:xfrm>
            <a:off x="1097280" y="1554480"/>
            <a:ext cx="9966960" cy="5801538"/>
          </a:xfrm>
          <a:prstGeom prst="rect">
            <a:avLst/>
          </a:prstGeom>
          <a:ln w="9525">
            <a:solidFill>
              <a:srgbClr val="D5DCE6"/>
            </a:solidFill>
          </a:ln>
        </p:spPr>
      </p:pic>
      <p:sp>
        <p:nvSpPr>
          <p:cNvPr id="4" name="TextBox 3"/>
          <p:cNvSpPr txBox="1"/>
          <p:nvPr/>
        </p:nvSpPr>
        <p:spPr>
          <a:xfrm>
            <a:off x="548640" y="9093378"/>
            <a:ext cx="11064240" cy="54864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Packets flow left to right; alerts flow from the detector to the browser. </a:t>
            </a:r>
            <a:r>
              <a:rPr sz="1600" b="1" i="0">
                <a:solidFill>
                  <a:srgbClr val="14213D"/>
                </a:solidFill>
                <a:latin typeface="Calibri"/>
              </a:rPr>
              <a:t>Python captures, Node.js serves, the browser displays.</a:t>
            </a:r>
          </a:p>
        </p:txBody>
      </p:sp>
      <p:sp>
        <p:nvSpPr>
          <p:cNvPr id="5" name="TextBox 4"/>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6" name="TextBox 5"/>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Technology Stack</a:t>
            </a:r>
          </a:p>
        </p:txBody>
      </p:sp>
      <p:sp>
        <p:nvSpPr>
          <p:cNvPr id="3" name="Rounded Rectangle 2"/>
          <p:cNvSpPr/>
          <p:nvPr/>
        </p:nvSpPr>
        <p:spPr>
          <a:xfrm>
            <a:off x="548640" y="1508760"/>
            <a:ext cx="347472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764792"/>
            <a:ext cx="2926080" cy="27432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CAPTURE</a:t>
            </a:r>
          </a:p>
        </p:txBody>
      </p:sp>
      <p:sp>
        <p:nvSpPr>
          <p:cNvPr id="5" name="TextBox 4"/>
          <p:cNvSpPr txBox="1"/>
          <p:nvPr/>
        </p:nvSpPr>
        <p:spPr>
          <a:xfrm>
            <a:off x="822959" y="2075688"/>
            <a:ext cx="2926080" cy="685800"/>
          </a:xfrm>
          <a:prstGeom prst="rect">
            <a:avLst/>
          </a:prstGeom>
          <a:noFill/>
        </p:spPr>
        <p:txBody>
          <a:bodyPr wrap="square" lIns="0" rIns="0" tIns="0" bIns="0" anchor="t">
            <a:spAutoFit/>
          </a:bodyPr>
          <a:lstStyle/>
          <a:p>
            <a:pPr algn="l">
              <a:lnSpc>
                <a:spcPct val="95000"/>
              </a:lnSpc>
              <a:spcAft>
                <a:spcPts val="0"/>
              </a:spcAft>
            </a:pPr>
            <a:r>
              <a:rPr sz="1900" b="1" i="0">
                <a:solidFill>
                  <a:srgbClr val="14213D"/>
                </a:solidFill>
                <a:latin typeface="Calibri"/>
              </a:rPr>
              <a:t>Npcap 1.89</a:t>
            </a:r>
          </a:p>
        </p:txBody>
      </p:sp>
      <p:sp>
        <p:nvSpPr>
          <p:cNvPr id="6" name="TextBox 5"/>
          <p:cNvSpPr txBox="1"/>
          <p:nvPr/>
        </p:nvSpPr>
        <p:spPr>
          <a:xfrm>
            <a:off x="822959" y="2807208"/>
            <a:ext cx="2926080" cy="41148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raw packets on Windows</a:t>
            </a:r>
          </a:p>
        </p:txBody>
      </p:sp>
      <p:sp>
        <p:nvSpPr>
          <p:cNvPr id="7" name="Rounded Rectangle 6"/>
          <p:cNvSpPr/>
          <p:nvPr/>
        </p:nvSpPr>
        <p:spPr>
          <a:xfrm>
            <a:off x="4343400" y="1508760"/>
            <a:ext cx="347472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764792"/>
            <a:ext cx="2926080" cy="27432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SENSOR</a:t>
            </a:r>
          </a:p>
        </p:txBody>
      </p:sp>
      <p:sp>
        <p:nvSpPr>
          <p:cNvPr id="9" name="TextBox 8"/>
          <p:cNvSpPr txBox="1"/>
          <p:nvPr/>
        </p:nvSpPr>
        <p:spPr>
          <a:xfrm>
            <a:off x="4617720" y="2075688"/>
            <a:ext cx="2926080" cy="685800"/>
          </a:xfrm>
          <a:prstGeom prst="rect">
            <a:avLst/>
          </a:prstGeom>
          <a:noFill/>
        </p:spPr>
        <p:txBody>
          <a:bodyPr wrap="square" lIns="0" rIns="0" tIns="0" bIns="0" anchor="t">
            <a:spAutoFit/>
          </a:bodyPr>
          <a:lstStyle/>
          <a:p>
            <a:pPr algn="l">
              <a:lnSpc>
                <a:spcPct val="95000"/>
              </a:lnSpc>
              <a:spcAft>
                <a:spcPts val="0"/>
              </a:spcAft>
            </a:pPr>
            <a:r>
              <a:rPr sz="1900" b="1" i="0">
                <a:solidFill>
                  <a:srgbClr val="14213D"/>
                </a:solidFill>
                <a:latin typeface="Calibri"/>
              </a:rPr>
              <a:t>Python 3.13 + Scapy 2.8</a:t>
            </a:r>
          </a:p>
        </p:txBody>
      </p:sp>
      <p:sp>
        <p:nvSpPr>
          <p:cNvPr id="10" name="TextBox 9"/>
          <p:cNvSpPr txBox="1"/>
          <p:nvPr/>
        </p:nvSpPr>
        <p:spPr>
          <a:xfrm>
            <a:off x="4617720" y="2807208"/>
            <a:ext cx="2926080" cy="41148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decodes IP, TCP, UDP, ARP</a:t>
            </a:r>
          </a:p>
        </p:txBody>
      </p:sp>
      <p:sp>
        <p:nvSpPr>
          <p:cNvPr id="11" name="Rounded Rectangle 10"/>
          <p:cNvSpPr/>
          <p:nvPr/>
        </p:nvSpPr>
        <p:spPr>
          <a:xfrm>
            <a:off x="8138160" y="1508760"/>
            <a:ext cx="347472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764792"/>
            <a:ext cx="2926080" cy="27432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RULES</a:t>
            </a:r>
          </a:p>
        </p:txBody>
      </p:sp>
      <p:sp>
        <p:nvSpPr>
          <p:cNvPr id="13" name="TextBox 12"/>
          <p:cNvSpPr txBox="1"/>
          <p:nvPr/>
        </p:nvSpPr>
        <p:spPr>
          <a:xfrm>
            <a:off x="8412480" y="2075688"/>
            <a:ext cx="2926080" cy="685800"/>
          </a:xfrm>
          <a:prstGeom prst="rect">
            <a:avLst/>
          </a:prstGeom>
          <a:noFill/>
        </p:spPr>
        <p:txBody>
          <a:bodyPr wrap="square" lIns="0" rIns="0" tIns="0" bIns="0" anchor="t">
            <a:spAutoFit/>
          </a:bodyPr>
          <a:lstStyle/>
          <a:p>
            <a:pPr algn="l">
              <a:lnSpc>
                <a:spcPct val="95000"/>
              </a:lnSpc>
              <a:spcAft>
                <a:spcPts val="0"/>
              </a:spcAft>
            </a:pPr>
            <a:r>
              <a:rPr sz="1900" b="1" i="0">
                <a:solidFill>
                  <a:srgbClr val="14213D"/>
                </a:solidFill>
                <a:latin typeface="Calibri"/>
              </a:rPr>
              <a:t>Python standard library</a:t>
            </a:r>
          </a:p>
        </p:txBody>
      </p:sp>
      <p:sp>
        <p:nvSpPr>
          <p:cNvPr id="14" name="TextBox 13"/>
          <p:cNvSpPr txBox="1"/>
          <p:nvPr/>
        </p:nvSpPr>
        <p:spPr>
          <a:xfrm>
            <a:off x="8412480" y="2807208"/>
            <a:ext cx="2926080" cy="41148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deque window, set of ports</a:t>
            </a:r>
          </a:p>
        </p:txBody>
      </p:sp>
      <p:sp>
        <p:nvSpPr>
          <p:cNvPr id="15" name="Rounded Rectangle 14"/>
          <p:cNvSpPr/>
          <p:nvPr/>
        </p:nvSpPr>
        <p:spPr>
          <a:xfrm>
            <a:off x="548640" y="3611879"/>
            <a:ext cx="347472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3867911"/>
            <a:ext cx="2926080" cy="27432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SERVER</a:t>
            </a:r>
          </a:p>
        </p:txBody>
      </p:sp>
      <p:sp>
        <p:nvSpPr>
          <p:cNvPr id="17" name="TextBox 16"/>
          <p:cNvSpPr txBox="1"/>
          <p:nvPr/>
        </p:nvSpPr>
        <p:spPr>
          <a:xfrm>
            <a:off x="822959" y="4178807"/>
            <a:ext cx="2926080" cy="685800"/>
          </a:xfrm>
          <a:prstGeom prst="rect">
            <a:avLst/>
          </a:prstGeom>
          <a:noFill/>
        </p:spPr>
        <p:txBody>
          <a:bodyPr wrap="square" lIns="0" rIns="0" tIns="0" bIns="0" anchor="t">
            <a:spAutoFit/>
          </a:bodyPr>
          <a:lstStyle/>
          <a:p>
            <a:pPr algn="l">
              <a:lnSpc>
                <a:spcPct val="95000"/>
              </a:lnSpc>
              <a:spcAft>
                <a:spcPts val="0"/>
              </a:spcAft>
            </a:pPr>
            <a:r>
              <a:rPr sz="1900" b="1" i="0">
                <a:solidFill>
                  <a:srgbClr val="14213D"/>
                </a:solidFill>
                <a:latin typeface="Calibri"/>
              </a:rPr>
              <a:t>Node.js 24 + Express 5</a:t>
            </a:r>
          </a:p>
        </p:txBody>
      </p:sp>
      <p:sp>
        <p:nvSpPr>
          <p:cNvPr id="18" name="TextBox 17"/>
          <p:cNvSpPr txBox="1"/>
          <p:nvPr/>
        </p:nvSpPr>
        <p:spPr>
          <a:xfrm>
            <a:off x="822959" y="4910327"/>
            <a:ext cx="2926080" cy="41148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receives alerts by HTTP POST</a:t>
            </a:r>
          </a:p>
        </p:txBody>
      </p:sp>
      <p:sp>
        <p:nvSpPr>
          <p:cNvPr id="19" name="Rounded Rectangle 18"/>
          <p:cNvSpPr/>
          <p:nvPr/>
        </p:nvSpPr>
        <p:spPr>
          <a:xfrm>
            <a:off x="4343400" y="3611879"/>
            <a:ext cx="347472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867911"/>
            <a:ext cx="2926080" cy="27432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LIVE PUSH</a:t>
            </a:r>
          </a:p>
        </p:txBody>
      </p:sp>
      <p:sp>
        <p:nvSpPr>
          <p:cNvPr id="21" name="TextBox 20"/>
          <p:cNvSpPr txBox="1"/>
          <p:nvPr/>
        </p:nvSpPr>
        <p:spPr>
          <a:xfrm>
            <a:off x="4617720" y="4178807"/>
            <a:ext cx="2926080" cy="685800"/>
          </a:xfrm>
          <a:prstGeom prst="rect">
            <a:avLst/>
          </a:prstGeom>
          <a:noFill/>
        </p:spPr>
        <p:txBody>
          <a:bodyPr wrap="square" lIns="0" rIns="0" tIns="0" bIns="0" anchor="t">
            <a:spAutoFit/>
          </a:bodyPr>
          <a:lstStyle/>
          <a:p>
            <a:pPr algn="l">
              <a:lnSpc>
                <a:spcPct val="95000"/>
              </a:lnSpc>
              <a:spcAft>
                <a:spcPts val="0"/>
              </a:spcAft>
            </a:pPr>
            <a:r>
              <a:rPr sz="1900" b="1" i="0">
                <a:solidFill>
                  <a:srgbClr val="14213D"/>
                </a:solidFill>
                <a:latin typeface="Calibri"/>
              </a:rPr>
              <a:t>Socket.IO 4</a:t>
            </a:r>
          </a:p>
        </p:txBody>
      </p:sp>
      <p:sp>
        <p:nvSpPr>
          <p:cNvPr id="22" name="TextBox 21"/>
          <p:cNvSpPr txBox="1"/>
          <p:nvPr/>
        </p:nvSpPr>
        <p:spPr>
          <a:xfrm>
            <a:off x="4617720" y="4910327"/>
            <a:ext cx="2926080" cy="41148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alerts reach the browser instantly</a:t>
            </a:r>
          </a:p>
        </p:txBody>
      </p:sp>
      <p:sp>
        <p:nvSpPr>
          <p:cNvPr id="23" name="Rounded Rectangle 22"/>
          <p:cNvSpPr/>
          <p:nvPr/>
        </p:nvSpPr>
        <p:spPr>
          <a:xfrm>
            <a:off x="8138160" y="3611879"/>
            <a:ext cx="347472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3867911"/>
            <a:ext cx="2926080" cy="27432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DASHBOARD</a:t>
            </a:r>
          </a:p>
        </p:txBody>
      </p:sp>
      <p:sp>
        <p:nvSpPr>
          <p:cNvPr id="25" name="TextBox 24"/>
          <p:cNvSpPr txBox="1"/>
          <p:nvPr/>
        </p:nvSpPr>
        <p:spPr>
          <a:xfrm>
            <a:off x="8412480" y="4178807"/>
            <a:ext cx="2926080" cy="685800"/>
          </a:xfrm>
          <a:prstGeom prst="rect">
            <a:avLst/>
          </a:prstGeom>
          <a:noFill/>
        </p:spPr>
        <p:txBody>
          <a:bodyPr wrap="square" lIns="0" rIns="0" tIns="0" bIns="0" anchor="t">
            <a:spAutoFit/>
          </a:bodyPr>
          <a:lstStyle/>
          <a:p>
            <a:pPr algn="l">
              <a:lnSpc>
                <a:spcPct val="95000"/>
              </a:lnSpc>
              <a:spcAft>
                <a:spcPts val="0"/>
              </a:spcAft>
            </a:pPr>
            <a:r>
              <a:rPr sz="1900" b="1" i="0">
                <a:solidFill>
                  <a:srgbClr val="14213D"/>
                </a:solidFill>
                <a:latin typeface="Calibri"/>
              </a:rPr>
              <a:t>HTML, CSS, JS + Chart.js</a:t>
            </a:r>
          </a:p>
        </p:txBody>
      </p:sp>
      <p:sp>
        <p:nvSpPr>
          <p:cNvPr id="26" name="TextBox 25"/>
          <p:cNvSpPr txBox="1"/>
          <p:nvPr/>
        </p:nvSpPr>
        <p:spPr>
          <a:xfrm>
            <a:off x="8412480" y="4910327"/>
            <a:ext cx="2926080" cy="41148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live chart, table and banner</a:t>
            </a:r>
          </a:p>
        </p:txBody>
      </p:sp>
      <p:sp>
        <p:nvSpPr>
          <p:cNvPr id="27" name="TextBox 26"/>
          <p:cNvSpPr txBox="1"/>
          <p:nvPr/>
        </p:nvSpPr>
        <p:spPr>
          <a:xfrm>
            <a:off x="548640" y="5806440"/>
            <a:ext cx="10972800" cy="36576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Storage: </a:t>
            </a:r>
            <a:r>
              <a:rPr sz="1400" b="0" i="0">
                <a:solidFill>
                  <a:srgbClr val="1F2937"/>
                </a:solidFill>
                <a:latin typeface="Calibri"/>
              </a:rPr>
              <a:t>JSON alert log  </a:t>
            </a:r>
            <a:r>
              <a:rPr sz="1400" b="1" i="0">
                <a:solidFill>
                  <a:srgbClr val="14213D"/>
                </a:solidFill>
                <a:latin typeface="Calibri"/>
              </a:rPr>
              <a:t>Testing: </a:t>
            </a:r>
            <a:r>
              <a:rPr sz="1400" b="0" i="0">
                <a:solidFill>
                  <a:srgbClr val="1F2937"/>
                </a:solidFill>
                <a:latin typeface="Calibri"/>
              </a:rPr>
              <a:t>unittest, Nmap, Wireshark  </a:t>
            </a:r>
            <a:r>
              <a:rPr sz="1400" b="1" i="0">
                <a:solidFill>
                  <a:srgbClr val="14213D"/>
                </a:solidFill>
                <a:latin typeface="Calibri"/>
              </a:rPr>
              <a:t>Tools: </a:t>
            </a:r>
            <a:r>
              <a:rPr sz="1400" b="0" i="0">
                <a:solidFill>
                  <a:srgbClr val="1F2937"/>
                </a:solidFill>
                <a:latin typeface="Calibri"/>
              </a:rPr>
              <a:t>VS Code, Git, GitHub</a:t>
            </a:r>
          </a:p>
        </p:txBody>
      </p:sp>
      <p:sp>
        <p:nvSpPr>
          <p:cNvPr id="28" name="TextBox 27"/>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9" name="TextBox 28"/>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System Design</a:t>
            </a:r>
          </a:p>
        </p:txBody>
      </p:sp>
      <p:pic>
        <p:nvPicPr>
          <p:cNvPr id="3" name="Picture 2" descr="dfd_level1.png"/>
          <p:cNvPicPr>
            <a:picLocks noChangeAspect="1"/>
          </p:cNvPicPr>
          <p:nvPr/>
        </p:nvPicPr>
        <p:blipFill>
          <a:blip r:embed="rId2"/>
          <a:stretch>
            <a:fillRect/>
          </a:stretch>
        </p:blipFill>
        <p:spPr>
          <a:xfrm>
            <a:off x="548640" y="1554480"/>
            <a:ext cx="6583680" cy="3800019"/>
          </a:xfrm>
          <a:prstGeom prst="rect">
            <a:avLst/>
          </a:prstGeom>
          <a:ln w="9525">
            <a:solidFill>
              <a:srgbClr val="D5DCE6"/>
            </a:solidFill>
          </a:ln>
        </p:spPr>
      </p:pic>
      <p:sp>
        <p:nvSpPr>
          <p:cNvPr id="4" name="TextBox 3"/>
          <p:cNvSpPr txBox="1"/>
          <p:nvPr/>
        </p:nvSpPr>
        <p:spPr>
          <a:xfrm>
            <a:off x="548640" y="5445939"/>
            <a:ext cx="6583680" cy="274320"/>
          </a:xfrm>
          <a:prstGeom prst="rect">
            <a:avLst/>
          </a:prstGeom>
          <a:noFill/>
        </p:spPr>
        <p:txBody>
          <a:bodyPr wrap="square" lIns="0" rIns="0" tIns="0" bIns="0" anchor="t">
            <a:spAutoFit/>
          </a:bodyPr>
          <a:lstStyle/>
          <a:p>
            <a:pPr algn="ctr">
              <a:spcAft>
                <a:spcPts val="0"/>
              </a:spcAft>
            </a:pPr>
            <a:r>
              <a:rPr sz="1200" b="0" i="0">
                <a:solidFill>
                  <a:srgbClr val="5B6472"/>
                </a:solidFill>
                <a:latin typeface="Calibri"/>
              </a:rPr>
              <a:t>Level-1 Data Flow Diagram</a:t>
            </a:r>
          </a:p>
        </p:txBody>
      </p:sp>
      <p:sp>
        <p:nvSpPr>
          <p:cNvPr id="5" name="TextBox 4"/>
          <p:cNvSpPr txBox="1"/>
          <p:nvPr/>
        </p:nvSpPr>
        <p:spPr>
          <a:xfrm>
            <a:off x="7406640" y="1554480"/>
            <a:ext cx="4206240" cy="36576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DESIGN ARTEFACTS</a:t>
            </a:r>
          </a:p>
        </p:txBody>
      </p:sp>
      <p:sp>
        <p:nvSpPr>
          <p:cNvPr id="6" name="Oval 5"/>
          <p:cNvSpPr/>
          <p:nvPr/>
        </p:nvSpPr>
        <p:spPr>
          <a:xfrm>
            <a:off x="7406640" y="206654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201168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Context and level-1 DFDs</a:t>
            </a:r>
          </a:p>
        </p:txBody>
      </p:sp>
      <p:sp>
        <p:nvSpPr>
          <p:cNvPr id="8" name="Oval 7"/>
          <p:cNvSpPr/>
          <p:nvPr/>
        </p:nvSpPr>
        <p:spPr>
          <a:xfrm>
            <a:off x="7406640" y="261518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256032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Use-case diagram</a:t>
            </a:r>
          </a:p>
        </p:txBody>
      </p:sp>
      <p:sp>
        <p:nvSpPr>
          <p:cNvPr id="10" name="Oval 9"/>
          <p:cNvSpPr/>
          <p:nvPr/>
        </p:nvSpPr>
        <p:spPr>
          <a:xfrm>
            <a:off x="7406640" y="316382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79" y="310896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Sequence diagram</a:t>
            </a:r>
          </a:p>
        </p:txBody>
      </p:sp>
      <p:sp>
        <p:nvSpPr>
          <p:cNvPr id="12" name="Oval 11"/>
          <p:cNvSpPr/>
          <p:nvPr/>
        </p:nvSpPr>
        <p:spPr>
          <a:xfrm>
            <a:off x="7406640" y="3712463"/>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365760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Component diagram</a:t>
            </a:r>
          </a:p>
        </p:txBody>
      </p:sp>
      <p:sp>
        <p:nvSpPr>
          <p:cNvPr id="14" name="Oval 13"/>
          <p:cNvSpPr/>
          <p:nvPr/>
        </p:nvSpPr>
        <p:spPr>
          <a:xfrm>
            <a:off x="7406640" y="4261103"/>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420624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Deployment diagram</a:t>
            </a:r>
          </a:p>
        </p:txBody>
      </p:sp>
      <p:sp>
        <p:nvSpPr>
          <p:cNvPr id="16" name="Oval 15"/>
          <p:cNvSpPr/>
          <p:nvPr/>
        </p:nvSpPr>
        <p:spPr>
          <a:xfrm>
            <a:off x="7406640" y="480974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475488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Flowchart of the port-scan rule</a:t>
            </a:r>
          </a:p>
        </p:txBody>
      </p:sp>
      <p:sp>
        <p:nvSpPr>
          <p:cNvPr id="18" name="TextBox 17"/>
          <p:cNvSpPr txBox="1"/>
          <p:nvPr/>
        </p:nvSpPr>
        <p:spPr>
          <a:xfrm>
            <a:off x="7406640" y="5394960"/>
            <a:ext cx="4206240" cy="82296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All diagrams are in the report, </a:t>
            </a:r>
            <a:r>
              <a:rPr sz="1400" b="1" i="0">
                <a:solidFill>
                  <a:srgbClr val="14213D"/>
                </a:solidFill>
                <a:latin typeface="Calibri"/>
              </a:rPr>
              <a:t>numbered chapter-wise</a:t>
            </a:r>
            <a:r>
              <a:rPr sz="1400" b="0" i="0">
                <a:solidFill>
                  <a:srgbClr val="1F2937"/>
                </a:solidFill>
                <a:latin typeface="Calibri"/>
              </a:rPr>
              <a:t> as Fig. 3.1 to 4.2.</a:t>
            </a:r>
          </a:p>
        </p:txBody>
      </p:sp>
      <p:sp>
        <p:nvSpPr>
          <p:cNvPr id="19" name="TextBox 18"/>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0" name="TextBox 19"/>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Detection Rules</a:t>
            </a:r>
          </a:p>
        </p:txBody>
      </p:sp>
      <p:sp>
        <p:nvSpPr>
          <p:cNvPr id="3" name="Rounded Rectangle 2"/>
          <p:cNvSpPr/>
          <p:nvPr/>
        </p:nvSpPr>
        <p:spPr>
          <a:xfrm>
            <a:off x="548640" y="1508760"/>
            <a:ext cx="3474720" cy="3200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508760"/>
            <a:ext cx="3474720" cy="822960"/>
          </a:xfrm>
          <a:prstGeom prst="roundRect">
            <a:avLst>
              <a:gd name="adj" fmla="val 8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64208"/>
            <a:ext cx="3474720" cy="548640"/>
          </a:xfrm>
          <a:prstGeom prst="rect">
            <a:avLst/>
          </a:prstGeom>
          <a:noFill/>
        </p:spPr>
        <p:txBody>
          <a:bodyPr wrap="square" lIns="0" rIns="0" tIns="0" bIns="0" anchor="t">
            <a:spAutoFit/>
          </a:bodyPr>
          <a:lstStyle/>
          <a:p>
            <a:pPr algn="ctr">
              <a:spcAft>
                <a:spcPts val="0"/>
              </a:spcAft>
            </a:pPr>
            <a:r>
              <a:rPr sz="2200" b="1" i="0">
                <a:solidFill>
                  <a:srgbClr val="FFFFFF"/>
                </a:solidFill>
                <a:latin typeface="Calibri"/>
              </a:rPr>
              <a:t>Port Scan</a:t>
            </a:r>
          </a:p>
        </p:txBody>
      </p:sp>
      <p:sp>
        <p:nvSpPr>
          <p:cNvPr id="6" name="TextBox 5"/>
          <p:cNvSpPr txBox="1"/>
          <p:nvPr/>
        </p:nvSpPr>
        <p:spPr>
          <a:xfrm>
            <a:off x="822959" y="269748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&gt; 15 distinct ports</a:t>
            </a:r>
          </a:p>
        </p:txBody>
      </p:sp>
      <p:sp>
        <p:nvSpPr>
          <p:cNvPr id="7" name="TextBox 6"/>
          <p:cNvSpPr txBox="1"/>
          <p:nvPr/>
        </p:nvSpPr>
        <p:spPr>
          <a:xfrm>
            <a:off x="822959" y="320040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from one source</a:t>
            </a:r>
          </a:p>
        </p:txBody>
      </p:sp>
      <p:sp>
        <p:nvSpPr>
          <p:cNvPr id="8" name="TextBox 7"/>
          <p:cNvSpPr txBox="1"/>
          <p:nvPr/>
        </p:nvSpPr>
        <p:spPr>
          <a:xfrm>
            <a:off x="822959" y="370332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within 5 seconds</a:t>
            </a:r>
          </a:p>
        </p:txBody>
      </p:sp>
      <p:sp>
        <p:nvSpPr>
          <p:cNvPr id="9" name="Rounded Rectangle 8"/>
          <p:cNvSpPr/>
          <p:nvPr/>
        </p:nvSpPr>
        <p:spPr>
          <a:xfrm>
            <a:off x="1737360" y="4251960"/>
            <a:ext cx="1097280" cy="329184"/>
          </a:xfrm>
          <a:prstGeom prst="roundRect">
            <a:avLst>
              <a:gd name="adj" fmla="val 5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medium</a:t>
            </a:r>
          </a:p>
        </p:txBody>
      </p:sp>
      <p:sp>
        <p:nvSpPr>
          <p:cNvPr id="10" name="Rounded Rectangle 9"/>
          <p:cNvSpPr/>
          <p:nvPr/>
        </p:nvSpPr>
        <p:spPr>
          <a:xfrm>
            <a:off x="4343400" y="1508760"/>
            <a:ext cx="3474720" cy="3200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508760"/>
            <a:ext cx="3474720" cy="82296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664208"/>
            <a:ext cx="3474720" cy="548640"/>
          </a:xfrm>
          <a:prstGeom prst="rect">
            <a:avLst/>
          </a:prstGeom>
          <a:noFill/>
        </p:spPr>
        <p:txBody>
          <a:bodyPr wrap="square" lIns="0" rIns="0" tIns="0" bIns="0" anchor="t">
            <a:spAutoFit/>
          </a:bodyPr>
          <a:lstStyle/>
          <a:p>
            <a:pPr algn="ctr">
              <a:spcAft>
                <a:spcPts val="0"/>
              </a:spcAft>
            </a:pPr>
            <a:r>
              <a:rPr sz="2200" b="1" i="0">
                <a:solidFill>
                  <a:srgbClr val="FFFFFF"/>
                </a:solidFill>
                <a:latin typeface="Calibri"/>
              </a:rPr>
              <a:t>SYN Flood</a:t>
            </a:r>
          </a:p>
        </p:txBody>
      </p:sp>
      <p:sp>
        <p:nvSpPr>
          <p:cNvPr id="13" name="TextBox 12"/>
          <p:cNvSpPr txBox="1"/>
          <p:nvPr/>
        </p:nvSpPr>
        <p:spPr>
          <a:xfrm>
            <a:off x="4617720" y="269748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100+ half-open SYNs</a:t>
            </a:r>
          </a:p>
        </p:txBody>
      </p:sp>
      <p:sp>
        <p:nvSpPr>
          <p:cNvPr id="14" name="TextBox 13"/>
          <p:cNvSpPr txBox="1"/>
          <p:nvPr/>
        </p:nvSpPr>
        <p:spPr>
          <a:xfrm>
            <a:off x="4617720" y="320040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to one host</a:t>
            </a:r>
          </a:p>
        </p:txBody>
      </p:sp>
      <p:sp>
        <p:nvSpPr>
          <p:cNvPr id="15" name="TextBox 14"/>
          <p:cNvSpPr txBox="1"/>
          <p:nvPr/>
        </p:nvSpPr>
        <p:spPr>
          <a:xfrm>
            <a:off x="4617720" y="370332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few completed</a:t>
            </a:r>
          </a:p>
        </p:txBody>
      </p:sp>
      <p:sp>
        <p:nvSpPr>
          <p:cNvPr id="16" name="Rounded Rectangle 15"/>
          <p:cNvSpPr/>
          <p:nvPr/>
        </p:nvSpPr>
        <p:spPr>
          <a:xfrm>
            <a:off x="5532120" y="4251960"/>
            <a:ext cx="1097280" cy="329184"/>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high</a:t>
            </a:r>
          </a:p>
        </p:txBody>
      </p:sp>
      <p:sp>
        <p:nvSpPr>
          <p:cNvPr id="17" name="Rounded Rectangle 16"/>
          <p:cNvSpPr/>
          <p:nvPr/>
        </p:nvSpPr>
        <p:spPr>
          <a:xfrm>
            <a:off x="8138160" y="1508760"/>
            <a:ext cx="3474720" cy="3200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38160" y="1508760"/>
            <a:ext cx="3474720" cy="822960"/>
          </a:xfrm>
          <a:prstGeom prst="roundRect">
            <a:avLst>
              <a:gd name="adj" fmla="val 8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664208"/>
            <a:ext cx="3474720" cy="548640"/>
          </a:xfrm>
          <a:prstGeom prst="rect">
            <a:avLst/>
          </a:prstGeom>
          <a:noFill/>
        </p:spPr>
        <p:txBody>
          <a:bodyPr wrap="square" lIns="0" rIns="0" tIns="0" bIns="0" anchor="t">
            <a:spAutoFit/>
          </a:bodyPr>
          <a:lstStyle/>
          <a:p>
            <a:pPr algn="ctr">
              <a:spcAft>
                <a:spcPts val="0"/>
              </a:spcAft>
            </a:pPr>
            <a:r>
              <a:rPr sz="2200" b="1" i="0">
                <a:solidFill>
                  <a:srgbClr val="FFFFFF"/>
                </a:solidFill>
                <a:latin typeface="Calibri"/>
              </a:rPr>
              <a:t>ARP Spoofing</a:t>
            </a:r>
          </a:p>
        </p:txBody>
      </p:sp>
      <p:sp>
        <p:nvSpPr>
          <p:cNvPr id="20" name="TextBox 19"/>
          <p:cNvSpPr txBox="1"/>
          <p:nvPr/>
        </p:nvSpPr>
        <p:spPr>
          <a:xfrm>
            <a:off x="8412480" y="269748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gateway IP seen</a:t>
            </a:r>
          </a:p>
        </p:txBody>
      </p:sp>
      <p:sp>
        <p:nvSpPr>
          <p:cNvPr id="21" name="TextBox 20"/>
          <p:cNvSpPr txBox="1"/>
          <p:nvPr/>
        </p:nvSpPr>
        <p:spPr>
          <a:xfrm>
            <a:off x="8412480" y="320040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with a different</a:t>
            </a:r>
          </a:p>
        </p:txBody>
      </p:sp>
      <p:sp>
        <p:nvSpPr>
          <p:cNvPr id="22" name="TextBox 21"/>
          <p:cNvSpPr txBox="1"/>
          <p:nvPr/>
        </p:nvSpPr>
        <p:spPr>
          <a:xfrm>
            <a:off x="8412480" y="370332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MAC address</a:t>
            </a:r>
          </a:p>
        </p:txBody>
      </p:sp>
      <p:sp>
        <p:nvSpPr>
          <p:cNvPr id="23" name="Rounded Rectangle 22"/>
          <p:cNvSpPr/>
          <p:nvPr/>
        </p:nvSpPr>
        <p:spPr>
          <a:xfrm>
            <a:off x="9326880" y="4251960"/>
            <a:ext cx="1097280" cy="329184"/>
          </a:xfrm>
          <a:prstGeom prst="roundRect">
            <a:avLst>
              <a:gd name="adj" fmla="val 50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critical</a:t>
            </a:r>
          </a:p>
        </p:txBody>
      </p:sp>
      <p:sp>
        <p:nvSpPr>
          <p:cNvPr id="24" name="TextBox 23"/>
          <p:cNvSpPr txBox="1"/>
          <p:nvPr/>
        </p:nvSpPr>
        <p:spPr>
          <a:xfrm>
            <a:off x="548640" y="5029200"/>
            <a:ext cx="11064240" cy="1097280"/>
          </a:xfrm>
          <a:prstGeom prst="rect">
            <a:avLst/>
          </a:prstGeom>
          <a:noFill/>
        </p:spPr>
        <p:txBody>
          <a:bodyPr wrap="square" lIns="0" rIns="0" tIns="0" bIns="0" anchor="t">
            <a:spAutoFit/>
          </a:bodyPr>
          <a:lstStyle/>
          <a:p>
            <a:pPr algn="l">
              <a:lnSpc>
                <a:spcPct val="110000"/>
              </a:lnSpc>
              <a:spcAft>
                <a:spcPts val="0"/>
              </a:spcAft>
            </a:pPr>
            <a:r>
              <a:rPr sz="1600" b="1" i="0">
                <a:solidFill>
                  <a:srgbClr val="14213D"/>
                </a:solidFill>
                <a:latin typeface="Calibri"/>
              </a:rPr>
              <a:t>All rules are deterministic. </a:t>
            </a:r>
            <a:r>
              <a:rPr sz="1600" b="0" i="0">
                <a:solidFill>
                  <a:srgbClr val="1F2937"/>
                </a:solidFill>
                <a:latin typeface="Calibri"/>
              </a:rPr>
              <a:t>Each keeps a few seconds of history in a sliding window, compares a count against a threshold, and raises an alert with a cool-down so one attack gives one alert.</a:t>
            </a:r>
          </a:p>
        </p:txBody>
      </p:sp>
      <p:sp>
        <p:nvSpPr>
          <p:cNvPr id="25" name="TextBox 24"/>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6" name="TextBox 25"/>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Testing</a:t>
            </a:r>
          </a:p>
        </p:txBody>
      </p:sp>
      <p:sp>
        <p:nvSpPr>
          <p:cNvPr id="3" name="Rounded Rectangle 2"/>
          <p:cNvSpPr/>
          <p:nvPr/>
        </p:nvSpPr>
        <p:spPr>
          <a:xfrm>
            <a:off x="548640" y="1508760"/>
            <a:ext cx="539496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4846320" cy="365760"/>
          </a:xfrm>
          <a:prstGeom prst="rect">
            <a:avLst/>
          </a:prstGeom>
          <a:noFill/>
        </p:spPr>
        <p:txBody>
          <a:bodyPr wrap="square" lIns="0" rIns="0" tIns="0" bIns="0" anchor="t">
            <a:spAutoFit/>
          </a:bodyPr>
          <a:lstStyle/>
          <a:p>
            <a:pPr algn="l">
              <a:spcAft>
                <a:spcPts val="0"/>
              </a:spcAft>
            </a:pPr>
            <a:r>
              <a:rPr sz="1300" b="1" i="0">
                <a:solidFill>
                  <a:srgbClr val="5B6472"/>
                </a:solidFill>
                <a:latin typeface="Calibri"/>
              </a:rPr>
              <a:t>UNIT TESTS</a:t>
            </a:r>
          </a:p>
        </p:txBody>
      </p:sp>
      <p:sp>
        <p:nvSpPr>
          <p:cNvPr id="5" name="TextBox 4"/>
          <p:cNvSpPr txBox="1"/>
          <p:nvPr/>
        </p:nvSpPr>
        <p:spPr>
          <a:xfrm>
            <a:off x="822960" y="2103120"/>
            <a:ext cx="1828800" cy="914400"/>
          </a:xfrm>
          <a:prstGeom prst="rect">
            <a:avLst/>
          </a:prstGeom>
          <a:noFill/>
        </p:spPr>
        <p:txBody>
          <a:bodyPr wrap="square" lIns="0" rIns="0" tIns="0" bIns="0" anchor="t">
            <a:spAutoFit/>
          </a:bodyPr>
          <a:lstStyle/>
          <a:p>
            <a:pPr algn="l">
              <a:spcAft>
                <a:spcPts val="0"/>
              </a:spcAft>
            </a:pPr>
            <a:r>
              <a:rPr sz="4400" b="1" i="0">
                <a:solidFill>
                  <a:srgbClr val="1B7F73"/>
                </a:solidFill>
                <a:latin typeface="Calibri"/>
              </a:rPr>
              <a:t>10 / 10</a:t>
            </a:r>
          </a:p>
        </p:txBody>
      </p:sp>
      <p:sp>
        <p:nvSpPr>
          <p:cNvPr id="6" name="TextBox 5"/>
          <p:cNvSpPr txBox="1"/>
          <p:nvPr/>
        </p:nvSpPr>
        <p:spPr>
          <a:xfrm>
            <a:off x="2926080" y="2240280"/>
            <a:ext cx="2926080" cy="914400"/>
          </a:xfrm>
          <a:prstGeom prst="rect">
            <a:avLst/>
          </a:prstGeom>
          <a:noFill/>
        </p:spPr>
        <p:txBody>
          <a:bodyPr wrap="square" lIns="0" rIns="0" tIns="0" bIns="0" anchor="t">
            <a:spAutoFit/>
          </a:bodyPr>
          <a:lstStyle/>
          <a:p>
            <a:pPr algn="l">
              <a:spcAft>
                <a:spcPts val="200"/>
              </a:spcAft>
            </a:pPr>
            <a:r>
              <a:rPr sz="1500" b="0" i="0">
                <a:solidFill>
                  <a:srgbClr val="1F2937"/>
                </a:solidFill>
                <a:latin typeface="Calibri"/>
              </a:rPr>
              <a:t>tests passing</a:t>
            </a:r>
          </a:p>
          <a:p>
            <a:pPr algn="l">
              <a:spcAft>
                <a:spcPts val="200"/>
              </a:spcAft>
            </a:pPr>
            <a:r>
              <a:rPr sz="1500" b="0" i="0">
                <a:solidFill>
                  <a:srgbClr val="1F2937"/>
                </a:solidFill>
                <a:latin typeface="Calibri"/>
              </a:rPr>
              <a:t>one per rule, with</a:t>
            </a:r>
          </a:p>
          <a:p>
            <a:pPr algn="l">
              <a:spcAft>
                <a:spcPts val="200"/>
              </a:spcAft>
            </a:pPr>
            <a:r>
              <a:rPr sz="1500" b="0" i="0">
                <a:solidFill>
                  <a:srgbClr val="1F2937"/>
                </a:solidFill>
                <a:latin typeface="Calibri"/>
              </a:rPr>
              <a:t>positive and negative cases</a:t>
            </a:r>
          </a:p>
        </p:txBody>
      </p:sp>
      <p:sp>
        <p:nvSpPr>
          <p:cNvPr id="7" name="Rounded Rectangle 6"/>
          <p:cNvSpPr/>
          <p:nvPr/>
        </p:nvSpPr>
        <p:spPr>
          <a:xfrm>
            <a:off x="6126480" y="1508760"/>
            <a:ext cx="539496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37360"/>
            <a:ext cx="4846320" cy="365760"/>
          </a:xfrm>
          <a:prstGeom prst="rect">
            <a:avLst/>
          </a:prstGeom>
          <a:noFill/>
        </p:spPr>
        <p:txBody>
          <a:bodyPr wrap="square" lIns="0" rIns="0" tIns="0" bIns="0" anchor="t">
            <a:spAutoFit/>
          </a:bodyPr>
          <a:lstStyle/>
          <a:p>
            <a:pPr algn="l">
              <a:spcAft>
                <a:spcPts val="0"/>
              </a:spcAft>
            </a:pPr>
            <a:r>
              <a:rPr sz="1300" b="1" i="0">
                <a:solidFill>
                  <a:srgbClr val="5B6472"/>
                </a:solidFill>
                <a:latin typeface="Calibri"/>
              </a:rPr>
              <a:t>INTEGRATION TESTS</a:t>
            </a:r>
          </a:p>
        </p:txBody>
      </p:sp>
      <p:sp>
        <p:nvSpPr>
          <p:cNvPr id="9" name="TextBox 8"/>
          <p:cNvSpPr txBox="1"/>
          <p:nvPr/>
        </p:nvSpPr>
        <p:spPr>
          <a:xfrm>
            <a:off x="6400800" y="2148840"/>
            <a:ext cx="4846320" cy="1097280"/>
          </a:xfrm>
          <a:prstGeom prst="rect">
            <a:avLst/>
          </a:prstGeom>
          <a:noFill/>
        </p:spPr>
        <p:txBody>
          <a:bodyPr wrap="square" lIns="0" rIns="0" tIns="0" bIns="0" anchor="t">
            <a:spAutoFit/>
          </a:bodyPr>
          <a:lstStyle/>
          <a:p>
            <a:pPr algn="l">
              <a:spcAft>
                <a:spcPts val="400"/>
              </a:spcAft>
            </a:pPr>
            <a:r>
              <a:rPr sz="1400" b="0" i="0">
                <a:solidFill>
                  <a:srgbClr val="1F2937"/>
                </a:solidFill>
                <a:latin typeface="Calibri"/>
              </a:rPr>
              <a:t>Real port scan and SYN flood against the host</a:t>
            </a:r>
          </a:p>
          <a:p>
            <a:pPr algn="l">
              <a:spcAft>
                <a:spcPts val="400"/>
              </a:spcAft>
            </a:pPr>
            <a:r>
              <a:rPr sz="1400" b="0" i="0">
                <a:solidFill>
                  <a:srgbClr val="1F2937"/>
                </a:solidFill>
                <a:latin typeface="Calibri"/>
              </a:rPr>
              <a:t>Alert reached the dashboard and log in a few ms</a:t>
            </a:r>
          </a:p>
          <a:p>
            <a:pPr algn="l">
              <a:spcAft>
                <a:spcPts val="400"/>
              </a:spcAft>
            </a:pPr>
            <a:r>
              <a:rPr sz="1400" b="0" i="0">
                <a:solidFill>
                  <a:srgbClr val="1F2937"/>
                </a:solidFill>
                <a:latin typeface="Calibri"/>
              </a:rPr>
              <a:t>No false alarm during normal browsing</a:t>
            </a:r>
          </a:p>
        </p:txBody>
      </p:sp>
      <p:sp>
        <p:nvSpPr>
          <p:cNvPr id="10" name="TextBox 9"/>
          <p:cNvSpPr txBox="1"/>
          <p:nvPr/>
        </p:nvSpPr>
        <p:spPr>
          <a:xfrm>
            <a:off x="548640" y="3657600"/>
            <a:ext cx="10972800" cy="365760"/>
          </a:xfrm>
          <a:prstGeom prst="rect">
            <a:avLst/>
          </a:prstGeom>
          <a:noFill/>
        </p:spPr>
        <p:txBody>
          <a:bodyPr wrap="square" lIns="0" rIns="0" tIns="0" bIns="0" anchor="t">
            <a:spAutoFit/>
          </a:bodyPr>
          <a:lstStyle/>
          <a:p>
            <a:pPr algn="l">
              <a:spcAft>
                <a:spcPts val="0"/>
              </a:spcAft>
            </a:pPr>
            <a:r>
              <a:rPr sz="1600" b="1" i="0">
                <a:solidFill>
                  <a:srgbClr val="14213D"/>
                </a:solidFill>
                <a:latin typeface="Calibri"/>
              </a:rPr>
              <a:t>What the negative tests confirm</a:t>
            </a:r>
          </a:p>
        </p:txBody>
      </p:sp>
      <p:sp>
        <p:nvSpPr>
          <p:cNvPr id="11" name="Oval 10"/>
          <p:cNvSpPr/>
          <p:nvPr/>
        </p:nvSpPr>
        <p:spPr>
          <a:xfrm>
            <a:off x="640080" y="414223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12394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3" name="TextBox 12"/>
          <p:cNvSpPr txBox="1"/>
          <p:nvPr/>
        </p:nvSpPr>
        <p:spPr>
          <a:xfrm>
            <a:off x="1005840" y="4114800"/>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Reply (SYN-ACK) packets are not a scan</a:t>
            </a:r>
          </a:p>
        </p:txBody>
      </p:sp>
      <p:sp>
        <p:nvSpPr>
          <p:cNvPr id="14" name="Oval 13"/>
          <p:cNvSpPr/>
          <p:nvPr/>
        </p:nvSpPr>
        <p:spPr>
          <a:xfrm>
            <a:off x="6309360" y="414223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412394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6" name="TextBox 15"/>
          <p:cNvSpPr txBox="1"/>
          <p:nvPr/>
        </p:nvSpPr>
        <p:spPr>
          <a:xfrm>
            <a:off x="6675120" y="4114800"/>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Slow activity below the threshold stays silent</a:t>
            </a:r>
          </a:p>
        </p:txBody>
      </p:sp>
      <p:sp>
        <p:nvSpPr>
          <p:cNvPr id="17" name="Oval 16"/>
          <p:cNvSpPr/>
          <p:nvPr/>
        </p:nvSpPr>
        <p:spPr>
          <a:xfrm>
            <a:off x="640080" y="47091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6908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9" name="TextBox 18"/>
          <p:cNvSpPr txBox="1"/>
          <p:nvPr/>
        </p:nvSpPr>
        <p:spPr>
          <a:xfrm>
            <a:off x="1005840" y="4681728"/>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Completed handshakes are not a flood</a:t>
            </a:r>
          </a:p>
        </p:txBody>
      </p:sp>
      <p:sp>
        <p:nvSpPr>
          <p:cNvPr id="20" name="Oval 19"/>
          <p:cNvSpPr/>
          <p:nvPr/>
        </p:nvSpPr>
        <p:spPr>
          <a:xfrm>
            <a:off x="6309360" y="47091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46908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2" name="TextBox 21"/>
          <p:cNvSpPr txBox="1"/>
          <p:nvPr/>
        </p:nvSpPr>
        <p:spPr>
          <a:xfrm>
            <a:off x="6675120" y="4681728"/>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 port scan is not mistaken for a flood</a:t>
            </a:r>
          </a:p>
        </p:txBody>
      </p:sp>
      <p:sp>
        <p:nvSpPr>
          <p:cNvPr id="23" name="Oval 22"/>
          <p:cNvSpPr/>
          <p:nvPr/>
        </p:nvSpPr>
        <p:spPr>
          <a:xfrm>
            <a:off x="640080" y="5276088"/>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257800"/>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5" name="TextBox 24"/>
          <p:cNvSpPr txBox="1"/>
          <p:nvPr/>
        </p:nvSpPr>
        <p:spPr>
          <a:xfrm>
            <a:off x="1005840" y="5248656"/>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Genuine ARP replies raise no alarm</a:t>
            </a:r>
          </a:p>
        </p:txBody>
      </p:sp>
      <p:sp>
        <p:nvSpPr>
          <p:cNvPr id="26" name="Oval 25"/>
          <p:cNvSpPr/>
          <p:nvPr/>
        </p:nvSpPr>
        <p:spPr>
          <a:xfrm>
            <a:off x="6309360" y="5276088"/>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5257800"/>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8" name="TextBox 27"/>
          <p:cNvSpPr txBox="1"/>
          <p:nvPr/>
        </p:nvSpPr>
        <p:spPr>
          <a:xfrm>
            <a:off x="6675120" y="5248656"/>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 cool-down stops duplicate alerts</a:t>
            </a:r>
          </a:p>
        </p:txBody>
      </p:sp>
      <p:sp>
        <p:nvSpPr>
          <p:cNvPr id="29" name="TextBox 28"/>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30" name="TextBox 29"/>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Results: Live Dashboard</a:t>
            </a:r>
          </a:p>
        </p:txBody>
      </p:sp>
      <p:pic>
        <p:nvPicPr>
          <p:cNvPr id="3" name="Picture 2" descr="dash_final.png"/>
          <p:cNvPicPr>
            <a:picLocks noChangeAspect="1"/>
          </p:cNvPicPr>
          <p:nvPr/>
        </p:nvPicPr>
        <p:blipFill>
          <a:blip r:embed="rId2"/>
          <a:stretch>
            <a:fillRect/>
          </a:stretch>
        </p:blipFill>
        <p:spPr>
          <a:xfrm>
            <a:off x="548640" y="1463040"/>
            <a:ext cx="7406640" cy="3977411"/>
          </a:xfrm>
          <a:prstGeom prst="rect">
            <a:avLst/>
          </a:prstGeom>
          <a:ln w="9525">
            <a:solidFill>
              <a:srgbClr val="D5DCE6"/>
            </a:solidFill>
          </a:ln>
        </p:spPr>
      </p:pic>
      <p:sp>
        <p:nvSpPr>
          <p:cNvPr id="4" name="TextBox 3"/>
          <p:cNvSpPr txBox="1"/>
          <p:nvPr/>
        </p:nvSpPr>
        <p:spPr>
          <a:xfrm>
            <a:off x="548640" y="5513603"/>
            <a:ext cx="7406640" cy="274320"/>
          </a:xfrm>
          <a:prstGeom prst="rect">
            <a:avLst/>
          </a:prstGeom>
          <a:noFill/>
        </p:spPr>
        <p:txBody>
          <a:bodyPr wrap="square" lIns="0" rIns="0" tIns="0" bIns="0" anchor="t">
            <a:spAutoFit/>
          </a:bodyPr>
          <a:lstStyle/>
          <a:p>
            <a:pPr algn="ctr">
              <a:spcAft>
                <a:spcPts val="0"/>
              </a:spcAft>
            </a:pPr>
            <a:r>
              <a:rPr sz="1200" b="0" i="0">
                <a:solidFill>
                  <a:srgbClr val="5B6472"/>
                </a:solidFill>
                <a:latin typeface="Calibri"/>
              </a:rPr>
              <a:t>Dashboard after detecting a port scan and a SYN flood</a:t>
            </a:r>
          </a:p>
        </p:txBody>
      </p:sp>
      <p:sp>
        <p:nvSpPr>
          <p:cNvPr id="5" name="Rounded Rectangle 4"/>
          <p:cNvSpPr/>
          <p:nvPr/>
        </p:nvSpPr>
        <p:spPr>
          <a:xfrm>
            <a:off x="8229600" y="1554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58200" y="1664207"/>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3</a:t>
            </a:r>
          </a:p>
        </p:txBody>
      </p:sp>
      <p:sp>
        <p:nvSpPr>
          <p:cNvPr id="7" name="TextBox 6"/>
          <p:cNvSpPr txBox="1"/>
          <p:nvPr/>
        </p:nvSpPr>
        <p:spPr>
          <a:xfrm>
            <a:off x="9692640" y="1828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attacks detected</a:t>
            </a:r>
          </a:p>
        </p:txBody>
      </p:sp>
      <p:sp>
        <p:nvSpPr>
          <p:cNvPr id="8" name="Rounded Rectangle 7"/>
          <p:cNvSpPr/>
          <p:nvPr/>
        </p:nvSpPr>
        <p:spPr>
          <a:xfrm>
            <a:off x="8229600" y="2697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2807208"/>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~2 ms</a:t>
            </a:r>
          </a:p>
        </p:txBody>
      </p:sp>
      <p:sp>
        <p:nvSpPr>
          <p:cNvPr id="10" name="TextBox 9"/>
          <p:cNvSpPr txBox="1"/>
          <p:nvPr/>
        </p:nvSpPr>
        <p:spPr>
          <a:xfrm>
            <a:off x="9692640" y="2971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detection latency</a:t>
            </a:r>
          </a:p>
        </p:txBody>
      </p:sp>
      <p:sp>
        <p:nvSpPr>
          <p:cNvPr id="11" name="Rounded Rectangle 10"/>
          <p:cNvSpPr/>
          <p:nvPr/>
        </p:nvSpPr>
        <p:spPr>
          <a:xfrm>
            <a:off x="8229600" y="3840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200" y="3950208"/>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10/10</a:t>
            </a:r>
          </a:p>
        </p:txBody>
      </p:sp>
      <p:sp>
        <p:nvSpPr>
          <p:cNvPr id="13" name="TextBox 12"/>
          <p:cNvSpPr txBox="1"/>
          <p:nvPr/>
        </p:nvSpPr>
        <p:spPr>
          <a:xfrm>
            <a:off x="9692640" y="4114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unit tests pass</a:t>
            </a:r>
          </a:p>
        </p:txBody>
      </p:sp>
      <p:sp>
        <p:nvSpPr>
          <p:cNvPr id="14" name="Rounded Rectangle 13"/>
          <p:cNvSpPr/>
          <p:nvPr/>
        </p:nvSpPr>
        <p:spPr>
          <a:xfrm>
            <a:off x="8229600" y="4983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5093208"/>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~200</a:t>
            </a:r>
          </a:p>
        </p:txBody>
      </p:sp>
      <p:sp>
        <p:nvSpPr>
          <p:cNvPr id="16" name="TextBox 15"/>
          <p:cNvSpPr txBox="1"/>
          <p:nvPr/>
        </p:nvSpPr>
        <p:spPr>
          <a:xfrm>
            <a:off x="9692640" y="5257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lines of code</a:t>
            </a:r>
          </a:p>
        </p:txBody>
      </p:sp>
      <p:sp>
        <p:nvSpPr>
          <p:cNvPr id="17" name="TextBox 16"/>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18" name="TextBox 17"/>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Conclusion and Future Scope</a:t>
            </a:r>
          </a:p>
        </p:txBody>
      </p:sp>
      <p:sp>
        <p:nvSpPr>
          <p:cNvPr id="3" name="TextBox 2"/>
          <p:cNvSpPr txBox="1"/>
          <p:nvPr/>
        </p:nvSpPr>
        <p:spPr>
          <a:xfrm>
            <a:off x="548640" y="1417320"/>
            <a:ext cx="11064240" cy="1371600"/>
          </a:xfrm>
          <a:prstGeom prst="rect">
            <a:avLst/>
          </a:prstGeom>
          <a:noFill/>
        </p:spPr>
        <p:txBody>
          <a:bodyPr wrap="square" lIns="0" rIns="0" tIns="0" bIns="0" anchor="t">
            <a:spAutoFit/>
          </a:bodyPr>
          <a:lstStyle/>
          <a:p>
            <a:pPr algn="l">
              <a:lnSpc>
                <a:spcPct val="115000"/>
              </a:lnSpc>
              <a:spcAft>
                <a:spcPts val="0"/>
              </a:spcAft>
            </a:pPr>
            <a:r>
              <a:rPr sz="1800" b="1" i="0">
                <a:solidFill>
                  <a:srgbClr val="14213D"/>
                </a:solidFill>
                <a:latin typeface="Calibri"/>
              </a:rPr>
              <a:t>A complete, working NIDS. </a:t>
            </a:r>
            <a:r>
              <a:rPr sz="1800" b="0" i="0">
                <a:solidFill>
                  <a:srgbClr val="1F2937"/>
                </a:solidFill>
                <a:latin typeface="Calibri"/>
              </a:rPr>
              <a:t>All objectives met: live capture, three transparent detection rules, an alert pipeline, and a real-time dashboard, verified by ten unit tests and live attacks, in about 200 lines of code.</a:t>
            </a:r>
          </a:p>
        </p:txBody>
      </p:sp>
      <p:sp>
        <p:nvSpPr>
          <p:cNvPr id="4" name="TextBox 3"/>
          <p:cNvSpPr txBox="1"/>
          <p:nvPr/>
        </p:nvSpPr>
        <p:spPr>
          <a:xfrm>
            <a:off x="548640" y="3200400"/>
            <a:ext cx="5394960" cy="365760"/>
          </a:xfrm>
          <a:prstGeom prst="rect">
            <a:avLst/>
          </a:prstGeom>
          <a:noFill/>
        </p:spPr>
        <p:txBody>
          <a:bodyPr wrap="square" lIns="0" rIns="0" tIns="0" bIns="0" anchor="t">
            <a:spAutoFit/>
          </a:bodyPr>
          <a:lstStyle/>
          <a:p>
            <a:pPr algn="l">
              <a:spcAft>
                <a:spcPts val="0"/>
              </a:spcAft>
            </a:pPr>
            <a:r>
              <a:rPr sz="1300" b="1" i="0">
                <a:solidFill>
                  <a:srgbClr val="1B7F73"/>
                </a:solidFill>
                <a:latin typeface="Calibri"/>
              </a:rPr>
              <a:t>KEY STRENGTHS</a:t>
            </a:r>
          </a:p>
        </p:txBody>
      </p:sp>
      <p:sp>
        <p:nvSpPr>
          <p:cNvPr id="5" name="Oval 4"/>
          <p:cNvSpPr/>
          <p:nvPr/>
        </p:nvSpPr>
        <p:spPr>
          <a:xfrm>
            <a:off x="640080" y="363931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62102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7" name="TextBox 6"/>
          <p:cNvSpPr txBox="1"/>
          <p:nvPr/>
        </p:nvSpPr>
        <p:spPr>
          <a:xfrm>
            <a:off x="1005840" y="361188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Every alert traceable to a threshold</a:t>
            </a:r>
          </a:p>
        </p:txBody>
      </p:sp>
      <p:sp>
        <p:nvSpPr>
          <p:cNvPr id="8" name="Oval 7"/>
          <p:cNvSpPr/>
          <p:nvPr/>
        </p:nvSpPr>
        <p:spPr>
          <a:xfrm>
            <a:off x="640080" y="414223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2394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0" name="TextBox 9"/>
          <p:cNvSpPr txBox="1"/>
          <p:nvPr/>
        </p:nvSpPr>
        <p:spPr>
          <a:xfrm>
            <a:off x="1005840" y="411480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Real-time: under one second</a:t>
            </a:r>
          </a:p>
        </p:txBody>
      </p:sp>
      <p:sp>
        <p:nvSpPr>
          <p:cNvPr id="11" name="Oval 10"/>
          <p:cNvSpPr/>
          <p:nvPr/>
        </p:nvSpPr>
        <p:spPr>
          <a:xfrm>
            <a:off x="640080" y="464515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62686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3" name="TextBox 12"/>
          <p:cNvSpPr txBox="1"/>
          <p:nvPr/>
        </p:nvSpPr>
        <p:spPr>
          <a:xfrm>
            <a:off x="1005840" y="461772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Small, readable, easy to extend</a:t>
            </a:r>
          </a:p>
        </p:txBody>
      </p:sp>
      <p:sp>
        <p:nvSpPr>
          <p:cNvPr id="14" name="Oval 13"/>
          <p:cNvSpPr/>
          <p:nvPr/>
        </p:nvSpPr>
        <p:spPr>
          <a:xfrm>
            <a:off x="640080" y="514807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12978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6" name="TextBox 15"/>
          <p:cNvSpPr txBox="1"/>
          <p:nvPr/>
        </p:nvSpPr>
        <p:spPr>
          <a:xfrm>
            <a:off x="1005840" y="512064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Fails safely if the server is down</a:t>
            </a:r>
          </a:p>
        </p:txBody>
      </p:sp>
      <p:sp>
        <p:nvSpPr>
          <p:cNvPr id="17" name="TextBox 16"/>
          <p:cNvSpPr txBox="1"/>
          <p:nvPr/>
        </p:nvSpPr>
        <p:spPr>
          <a:xfrm>
            <a:off x="6400800" y="3200400"/>
            <a:ext cx="5120640" cy="365760"/>
          </a:xfrm>
          <a:prstGeom prst="rect">
            <a:avLst/>
          </a:prstGeom>
          <a:noFill/>
        </p:spPr>
        <p:txBody>
          <a:bodyPr wrap="square" lIns="0" rIns="0" tIns="0" bIns="0" anchor="t">
            <a:spAutoFit/>
          </a:bodyPr>
          <a:lstStyle/>
          <a:p>
            <a:pPr algn="l">
              <a:spcAft>
                <a:spcPts val="0"/>
              </a:spcAft>
            </a:pPr>
            <a:r>
              <a:rPr sz="1300" b="1" i="0">
                <a:solidFill>
                  <a:srgbClr val="5B6472"/>
                </a:solidFill>
                <a:latin typeface="Calibri"/>
              </a:rPr>
              <a:t>FUTURE SCOPE</a:t>
            </a:r>
          </a:p>
        </p:txBody>
      </p:sp>
      <p:sp>
        <p:nvSpPr>
          <p:cNvPr id="18" name="Oval 17"/>
          <p:cNvSpPr/>
          <p:nvPr/>
        </p:nvSpPr>
        <p:spPr>
          <a:xfrm>
            <a:off x="6492240" y="366674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361188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More rules: ICMP flood, DNS tunnelling</a:t>
            </a:r>
          </a:p>
        </p:txBody>
      </p:sp>
      <p:sp>
        <p:nvSpPr>
          <p:cNvPr id="20" name="Oval 19"/>
          <p:cNvSpPr/>
          <p:nvPr/>
        </p:nvSpPr>
        <p:spPr>
          <a:xfrm>
            <a:off x="6492240" y="4169663"/>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411480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E-mail or messaging notifications</a:t>
            </a:r>
          </a:p>
        </p:txBody>
      </p:sp>
      <p:sp>
        <p:nvSpPr>
          <p:cNvPr id="22" name="Oval 21"/>
          <p:cNvSpPr/>
          <p:nvPr/>
        </p:nvSpPr>
        <p:spPr>
          <a:xfrm>
            <a:off x="6492240" y="467258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461772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Store alerts in SQLite, searchable</a:t>
            </a:r>
          </a:p>
        </p:txBody>
      </p:sp>
      <p:sp>
        <p:nvSpPr>
          <p:cNvPr id="24" name="Oval 23"/>
          <p:cNvSpPr/>
          <p:nvPr/>
        </p:nvSpPr>
        <p:spPr>
          <a:xfrm>
            <a:off x="6492240" y="517550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512064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Authenticate the sensor to the server</a:t>
            </a:r>
          </a:p>
        </p:txBody>
      </p:sp>
      <p:sp>
        <p:nvSpPr>
          <p:cNvPr id="26" name="Oval 25"/>
          <p:cNvSpPr/>
          <p:nvPr/>
        </p:nvSpPr>
        <p:spPr>
          <a:xfrm>
            <a:off x="6492240" y="567842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562356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Active response: firewall the attacker</a:t>
            </a:r>
          </a:p>
        </p:txBody>
      </p:sp>
      <p:sp>
        <p:nvSpPr>
          <p:cNvPr id="28" name="TextBox 27"/>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9" name="TextBox 28"/>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2103120"/>
            <a:ext cx="11064240" cy="914400"/>
          </a:xfrm>
          <a:prstGeom prst="rect">
            <a:avLst/>
          </a:prstGeom>
          <a:noFill/>
        </p:spPr>
        <p:txBody>
          <a:bodyPr wrap="square" lIns="0" rIns="0" tIns="0" bIns="0" anchor="t">
            <a:spAutoFit/>
          </a:bodyPr>
          <a:lstStyle/>
          <a:p>
            <a:pPr algn="ctr">
              <a:spcAft>
                <a:spcPts val="0"/>
              </a:spcAft>
            </a:pPr>
            <a:r>
              <a:rPr sz="5400" b="1" i="0">
                <a:solidFill>
                  <a:srgbClr val="FFFFFF"/>
                </a:solidFill>
                <a:latin typeface="Calibri"/>
              </a:rPr>
              <a:t>Thank You</a:t>
            </a:r>
          </a:p>
        </p:txBody>
      </p:sp>
      <p:sp>
        <p:nvSpPr>
          <p:cNvPr id="3" name="TextBox 2"/>
          <p:cNvSpPr txBox="1"/>
          <p:nvPr/>
        </p:nvSpPr>
        <p:spPr>
          <a:xfrm>
            <a:off x="548640" y="3108960"/>
            <a:ext cx="11064240" cy="457200"/>
          </a:xfrm>
          <a:prstGeom prst="rect">
            <a:avLst/>
          </a:prstGeom>
          <a:noFill/>
        </p:spPr>
        <p:txBody>
          <a:bodyPr wrap="square" lIns="0" rIns="0" tIns="0" bIns="0" anchor="t">
            <a:spAutoFit/>
          </a:bodyPr>
          <a:lstStyle/>
          <a:p>
            <a:pPr algn="ctr">
              <a:spcAft>
                <a:spcPts val="0"/>
              </a:spcAft>
            </a:pPr>
            <a:r>
              <a:rPr sz="2200" b="0" i="0">
                <a:solidFill>
                  <a:srgbClr val="C9D6EA"/>
                </a:solidFill>
                <a:latin typeface="Calibri"/>
              </a:rPr>
              <a:t>Questions are welcome</a:t>
            </a:r>
          </a:p>
        </p:txBody>
      </p:sp>
      <p:sp>
        <p:nvSpPr>
          <p:cNvPr id="4" name="TextBox 3"/>
          <p:cNvSpPr txBox="1"/>
          <p:nvPr/>
        </p:nvSpPr>
        <p:spPr>
          <a:xfrm>
            <a:off x="548640" y="4206240"/>
            <a:ext cx="11064240" cy="365760"/>
          </a:xfrm>
          <a:prstGeom prst="rect">
            <a:avLst/>
          </a:prstGeom>
          <a:noFill/>
        </p:spPr>
        <p:txBody>
          <a:bodyPr wrap="square" lIns="0" rIns="0" tIns="0" bIns="0" anchor="t">
            <a:spAutoFit/>
          </a:bodyPr>
          <a:lstStyle/>
          <a:p>
            <a:pPr algn="ctr">
              <a:spcAft>
                <a:spcPts val="0"/>
              </a:spcAft>
            </a:pPr>
            <a:r>
              <a:rPr sz="1500" b="0" i="0">
                <a:solidFill>
                  <a:srgbClr val="9FB3D1"/>
                </a:solidFill>
                <a:latin typeface="Calibri"/>
              </a:rPr>
              <a:t>github.com/rohanpandey436/realtime-nids</a:t>
            </a:r>
          </a:p>
        </p:txBody>
      </p:sp>
      <p:sp>
        <p:nvSpPr>
          <p:cNvPr id="5" name="TextBox 4"/>
          <p:cNvSpPr txBox="1"/>
          <p:nvPr/>
        </p:nvSpPr>
        <p:spPr>
          <a:xfrm>
            <a:off x="548640" y="5303520"/>
            <a:ext cx="11064240" cy="365760"/>
          </a:xfrm>
          <a:prstGeom prst="rect">
            <a:avLst/>
          </a:prstGeom>
          <a:noFill/>
        </p:spPr>
        <p:txBody>
          <a:bodyPr wrap="square" lIns="0" rIns="0" tIns="0" bIns="0" anchor="t">
            <a:spAutoFit/>
          </a:bodyPr>
          <a:lstStyle/>
          <a:p>
            <a:pPr algn="ctr">
              <a:spcAft>
                <a:spcPts val="0"/>
              </a:spcAft>
            </a:pPr>
            <a:r>
              <a:rPr sz="1400" b="0" i="0">
                <a:solidFill>
                  <a:srgbClr val="B8C4D9"/>
                </a:solidFill>
                <a:latin typeface="Calibri"/>
              </a:rPr>
              <a:t>Rohan Pandey  |  Roll No. 2501720100117  |  Guide: Mr. Vikas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