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is the final evaluation of my real-time network intrusion detection system. The project is complete: it captures live traffic, detects three attacks with transparent rules, and shows alerts on a web dashboard. I will cover the problem, the design, the implementation, the testing and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Homes, hostels and labs have no monitoring. Three common attacks leave clear patterns in packets but go unnoticed. Existing tools do not fit: Wireshark only captures and does not alert, Snort and Zeek need expert setup and write to log files, and machine learning systems cannot explain an alert. My system detects all three attacks, explains every alert, and shows them live.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objective set in the synopsis has been achieved. Unlike the mid-term, where only the port-scan rule worked, all three rules are now complete, tested and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sensor captures packets with Scapy and runs the rules. Alerts go as JSON over HTTP to the Node.js server, which logs them and pushes them to the dashboard through Socket.IO.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tool is used where it is strongest. The two halves talk over HTTP with small JSON messages, so each can be tested on its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was captured in standard diagrams: data-flow, use-case, sequence, component and deployment, plus a flowchart of the detection logic. The level-1 data-flow diagram shown here breaks the system into five processes.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rule is a simple threshold on a counter. The port scan counts distinct ports, the SYN flood counts half-open handshakes, and the ARP rule watches for a changed gateway MAC. Every alert can be explained by its counter and threshold, which is the key advantage over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unit tests feed crafted packets straight to the detector and all pass. The negative tests matter as much as the positive ones, because a detector that cries wolf would be ignored. Integration tests confirmed the whole pipeline with real attacks against my own machine.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dashboard during testing. The medium port-scan alert and the high SYN-flood alert are both shown, with the live chart and the per-type totals. Detection latency was about two milliseconds, and no false alarm was raised during normal browsing.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project is a complete and working intrusion detection system that meets every objective and is small enough to explain in full. The modular rule engine means each future extension can be added and tested on its own. Thank you, I am happy to take questions or show any part of the code or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731520"/>
            <a:ext cx="7315200" cy="365760"/>
          </a:xfrm>
          <a:prstGeom prst="rect">
            <a:avLst/>
          </a:prstGeom>
          <a:noFill/>
        </p:spPr>
        <p:txBody>
          <a:bodyPr wrap="square" lIns="0" rIns="0" tIns="0" bIns="0" anchor="t">
            <a:spAutoFit/>
          </a:bodyPr>
          <a:lstStyle/>
          <a:p>
            <a:pPr algn="l">
              <a:spcAft>
                <a:spcPts val="0"/>
              </a:spcAft>
            </a:pPr>
            <a:r>
              <a:rPr sz="1400" b="1" i="0">
                <a:solidFill>
                  <a:srgbClr val="9FB3D1"/>
                </a:solidFill>
                <a:latin typeface="Calibri"/>
              </a:rPr>
              <a:t>MINI PROJECT  |  FINAL EVALUATION</a:t>
            </a:r>
          </a:p>
        </p:txBody>
      </p:sp>
      <p:sp>
        <p:nvSpPr>
          <p:cNvPr id="3" name="TextBox 2"/>
          <p:cNvSpPr txBox="1"/>
          <p:nvPr/>
        </p:nvSpPr>
        <p:spPr>
          <a:xfrm>
            <a:off x="731520" y="1234440"/>
            <a:ext cx="7772400" cy="1463040"/>
          </a:xfrm>
          <a:prstGeom prst="rect">
            <a:avLst/>
          </a:prstGeom>
          <a:noFill/>
        </p:spPr>
        <p:txBody>
          <a:bodyPr wrap="square" lIns="0" rIns="0" tIns="0" bIns="0" anchor="t">
            <a:spAutoFit/>
          </a:bodyPr>
          <a:lstStyle/>
          <a:p>
            <a:pPr algn="l">
              <a:lnSpc>
                <a:spcPct val="95000"/>
              </a:lnSpc>
              <a:spcAft>
                <a:spcPts val="0"/>
              </a:spcAft>
            </a:pPr>
            <a:r>
              <a:rPr sz="3800" b="1" i="0">
                <a:solidFill>
                  <a:srgbClr val="FFFFFF"/>
                </a:solidFill>
                <a:latin typeface="Calibri"/>
              </a:rPr>
              <a:t>Real-Time Network Intrusion Detection System</a:t>
            </a:r>
          </a:p>
        </p:txBody>
      </p:sp>
      <p:sp>
        <p:nvSpPr>
          <p:cNvPr id="4" name="TextBox 3"/>
          <p:cNvSpPr txBox="1"/>
          <p:nvPr/>
        </p:nvSpPr>
        <p:spPr>
          <a:xfrm>
            <a:off x="731520" y="2697480"/>
            <a:ext cx="7772400" cy="457200"/>
          </a:xfrm>
          <a:prstGeom prst="rect">
            <a:avLst/>
          </a:prstGeom>
          <a:noFill/>
        </p:spPr>
        <p:txBody>
          <a:bodyPr wrap="square" lIns="0" rIns="0" tIns="0" bIns="0" anchor="t">
            <a:spAutoFit/>
          </a:bodyPr>
          <a:lstStyle/>
          <a:p>
            <a:pPr algn="l">
              <a:spcAft>
                <a:spcPts val="0"/>
              </a:spcAft>
            </a:pPr>
            <a:r>
              <a:rPr sz="2100" b="0" i="0">
                <a:solidFill>
                  <a:srgbClr val="C9D6EA"/>
                </a:solidFill>
                <a:latin typeface="Calibri"/>
              </a:rPr>
              <a:t>using Packet Inspection and Web-Based Alerting</a:t>
            </a:r>
          </a:p>
        </p:txBody>
      </p:sp>
      <p:sp>
        <p:nvSpPr>
          <p:cNvPr id="5" name="TextBox 4"/>
          <p:cNvSpPr txBox="1"/>
          <p:nvPr/>
        </p:nvSpPr>
        <p:spPr>
          <a:xfrm>
            <a:off x="731520" y="3657600"/>
            <a:ext cx="7315200" cy="1188720"/>
          </a:xfrm>
          <a:prstGeom prst="rect">
            <a:avLst/>
          </a:prstGeom>
          <a:noFill/>
        </p:spPr>
        <p:txBody>
          <a:bodyPr wrap="square" lIns="0" rIns="0" tIns="0" bIns="0" anchor="t">
            <a:spAutoFit/>
          </a:bodyPr>
          <a:lstStyle/>
          <a:p>
            <a:pPr algn="l">
              <a:spcAft>
                <a:spcPts val="400"/>
              </a:spcAft>
            </a:pPr>
            <a:r>
              <a:rPr sz="2200" b="1" i="0">
                <a:solidFill>
                  <a:srgbClr val="FFFFFF"/>
                </a:solidFill>
                <a:latin typeface="Calibri"/>
              </a:rPr>
              <a:t>Rohan Pandey</a:t>
            </a:r>
          </a:p>
          <a:p>
            <a:pPr algn="l">
              <a:spcAft>
                <a:spcPts val="400"/>
              </a:spcAft>
            </a:pPr>
            <a:r>
              <a:rPr sz="1600" b="0" i="0">
                <a:solidFill>
                  <a:srgbClr val="C9D6EA"/>
                </a:solidFill>
                <a:latin typeface="Calibri"/>
              </a:rPr>
              <a:t>Roll No. 2501720100117  |  Section 2D</a:t>
            </a:r>
          </a:p>
          <a:p>
            <a:pPr algn="l">
              <a:spcAft>
                <a:spcPts val="400"/>
              </a:spcAft>
            </a:pPr>
            <a:r>
              <a:rPr sz="1600" b="0" i="0">
                <a:solidFill>
                  <a:srgbClr val="C9D6EA"/>
                </a:solidFill>
                <a:latin typeface="Calibri"/>
              </a:rPr>
              <a:t>Guide: Mr. Vikas, Assistant Professor</a:t>
            </a:r>
          </a:p>
        </p:txBody>
      </p:sp>
      <p:sp>
        <p:nvSpPr>
          <p:cNvPr id="6" name="TextBox 5"/>
          <p:cNvSpPr txBox="1"/>
          <p:nvPr/>
        </p:nvSpPr>
        <p:spPr>
          <a:xfrm>
            <a:off x="731520" y="5303520"/>
            <a:ext cx="7772400" cy="914400"/>
          </a:xfrm>
          <a:prstGeom prst="rect">
            <a:avLst/>
          </a:prstGeom>
          <a:noFill/>
        </p:spPr>
        <p:txBody>
          <a:bodyPr wrap="square" lIns="0" rIns="0" tIns="0" bIns="0" anchor="t">
            <a:spAutoFit/>
          </a:bodyPr>
          <a:lstStyle/>
          <a:p>
            <a:pPr algn="l">
              <a:spcAft>
                <a:spcPts val="200"/>
              </a:spcAft>
            </a:pPr>
            <a:r>
              <a:rPr sz="1300" b="0" i="0">
                <a:solidFill>
                  <a:srgbClr val="B8C4D9"/>
                </a:solidFill>
                <a:latin typeface="Calibri"/>
              </a:rPr>
              <a:t>Department of Computer Science &amp; Engineering &amp; Allied Branches</a:t>
            </a:r>
          </a:p>
          <a:p>
            <a:pPr algn="l">
              <a:spcAft>
                <a:spcPts val="200"/>
              </a:spcAft>
            </a:pPr>
            <a:r>
              <a:rPr sz="1300" b="0" i="0">
                <a:solidFill>
                  <a:srgbClr val="B8C4D9"/>
                </a:solidFill>
                <a:latin typeface="Calibri"/>
              </a:rPr>
              <a:t>Lloyd Institute of Management and Technology  |  Session 2026-27</a:t>
            </a:r>
          </a:p>
        </p:txBody>
      </p:sp>
      <p:sp>
        <p:nvSpPr>
          <p:cNvPr id="7" name="Oval 6"/>
          <p:cNvSpPr/>
          <p:nvPr/>
        </p:nvSpPr>
        <p:spPr>
          <a:xfrm>
            <a:off x="9052560" y="182880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loyd_logo.png"/>
          <p:cNvPicPr>
            <a:picLocks noChangeAspect="1"/>
          </p:cNvPicPr>
          <p:nvPr/>
        </p:nvPicPr>
        <p:blipFill>
          <a:blip r:embed="rId2"/>
          <a:stretch>
            <a:fillRect/>
          </a:stretch>
        </p:blipFill>
        <p:spPr>
          <a:xfrm>
            <a:off x="9418320" y="2194560"/>
            <a:ext cx="1645920" cy="163509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Problem Statement</a:t>
            </a:r>
          </a:p>
        </p:txBody>
      </p:sp>
      <p:sp>
        <p:nvSpPr>
          <p:cNvPr id="3" name="TextBox 2"/>
          <p:cNvSpPr txBox="1"/>
          <p:nvPr/>
        </p:nvSpPr>
        <p:spPr>
          <a:xfrm>
            <a:off x="548640" y="1554480"/>
            <a:ext cx="5760720" cy="1188720"/>
          </a:xfrm>
          <a:prstGeom prst="rect">
            <a:avLst/>
          </a:prstGeom>
          <a:noFill/>
        </p:spPr>
        <p:txBody>
          <a:bodyPr wrap="square" lIns="0" rIns="0" tIns="0" bIns="0" anchor="t">
            <a:spAutoFit/>
          </a:bodyPr>
          <a:lstStyle/>
          <a:p>
            <a:pPr algn="l">
              <a:spcAft>
                <a:spcPts val="0"/>
              </a:spcAft>
            </a:pPr>
            <a:r>
              <a:rPr sz="2400" b="1" i="0">
                <a:solidFill>
                  <a:srgbClr val="14213D"/>
                </a:solidFill>
                <a:latin typeface="Calibri"/>
              </a:rPr>
              <a:t>Small networks have no real-time way to see attacks as they happen.</a:t>
            </a:r>
          </a:p>
        </p:txBody>
      </p:sp>
      <p:sp>
        <p:nvSpPr>
          <p:cNvPr id="4" name="TextBox 3"/>
          <p:cNvSpPr txBox="1"/>
          <p:nvPr/>
        </p:nvSpPr>
        <p:spPr>
          <a:xfrm>
            <a:off x="548640" y="3063240"/>
            <a:ext cx="5760720" cy="2926080"/>
          </a:xfrm>
          <a:prstGeom prst="rect">
            <a:avLst/>
          </a:prstGeom>
          <a:noFill/>
        </p:spPr>
        <p:txBody>
          <a:bodyPr wrap="square" lIns="0" rIns="0" tIns="0" bIns="0" anchor="t">
            <a:spAutoFit/>
          </a:bodyPr>
          <a:lstStyle/>
          <a:p>
            <a:pPr algn="l">
              <a:spcAft>
                <a:spcPts val="1600"/>
              </a:spcAft>
            </a:pPr>
            <a:r>
              <a:rPr sz="1900" b="1" i="0">
                <a:solidFill>
                  <a:srgbClr val="14213D"/>
                </a:solidFill>
                <a:latin typeface="Calibri"/>
              </a:rPr>
              <a:t>Where: </a:t>
            </a:r>
            <a:r>
              <a:rPr sz="1900" b="0" i="0">
                <a:solidFill>
                  <a:srgbClr val="1F2937"/>
                </a:solidFill>
                <a:latin typeface="Calibri"/>
              </a:rPr>
              <a:t>homes, hostels and college labs</a:t>
            </a:r>
          </a:p>
          <a:p>
            <a:pPr algn="l">
              <a:spcAft>
                <a:spcPts val="1600"/>
              </a:spcAft>
            </a:pPr>
            <a:r>
              <a:rPr sz="1900" b="1" i="0">
                <a:solidFill>
                  <a:srgbClr val="14213D"/>
                </a:solidFill>
                <a:latin typeface="Calibri"/>
              </a:rPr>
              <a:t>Today: </a:t>
            </a:r>
            <a:r>
              <a:rPr sz="1900" b="0" i="0">
                <a:solidFill>
                  <a:srgbClr val="1F2937"/>
                </a:solidFill>
                <a:latin typeface="Calibri"/>
              </a:rPr>
              <a:t>attacks pass unseen in the packets</a:t>
            </a:r>
          </a:p>
          <a:p>
            <a:pPr algn="l">
              <a:spcAft>
                <a:spcPts val="1600"/>
              </a:spcAft>
            </a:pPr>
            <a:r>
              <a:rPr sz="1900" b="1" i="0">
                <a:solidFill>
                  <a:srgbClr val="14213D"/>
                </a:solidFill>
                <a:latin typeface="Calibri"/>
              </a:rPr>
              <a:t>Gap: </a:t>
            </a:r>
            <a:r>
              <a:rPr sz="1900" b="0" i="0">
                <a:solidFill>
                  <a:srgbClr val="1F2937"/>
                </a:solidFill>
                <a:latin typeface="Calibri"/>
              </a:rPr>
              <a:t>tools are manual, complex or unexplainable</a:t>
            </a:r>
          </a:p>
          <a:p>
            <a:pPr algn="l">
              <a:spcAft>
                <a:spcPts val="1600"/>
              </a:spcAft>
            </a:pPr>
            <a:r>
              <a:rPr sz="1900" b="1" i="0">
                <a:solidFill>
                  <a:srgbClr val="14213D"/>
                </a:solidFill>
                <a:latin typeface="Calibri"/>
              </a:rPr>
              <a:t>Need: </a:t>
            </a:r>
            <a:r>
              <a:rPr sz="1900" b="0" i="0">
                <a:solidFill>
                  <a:srgbClr val="1F2937"/>
                </a:solidFill>
                <a:latin typeface="Calibri"/>
              </a:rPr>
              <a:t>light, explainable, alerts within a second</a:t>
            </a:r>
          </a:p>
        </p:txBody>
      </p:sp>
      <p:sp>
        <p:nvSpPr>
          <p:cNvPr id="5" name="TextBox 4"/>
          <p:cNvSpPr txBox="1"/>
          <p:nvPr/>
        </p:nvSpPr>
        <p:spPr>
          <a:xfrm>
            <a:off x="6949440" y="1207008"/>
            <a:ext cx="4572000" cy="32004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ATTACKS DETECTED</a:t>
            </a:r>
          </a:p>
        </p:txBody>
      </p:sp>
      <p:sp>
        <p:nvSpPr>
          <p:cNvPr id="6" name="Rounded Rectangle 5"/>
          <p:cNvSpPr/>
          <p:nvPr/>
        </p:nvSpPr>
        <p:spPr>
          <a:xfrm>
            <a:off x="6949440" y="1600200"/>
            <a:ext cx="4690872" cy="13258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949440" y="1600200"/>
            <a:ext cx="128016" cy="1325880"/>
          </a:xfrm>
          <a:prstGeom prst="roundRect">
            <a:avLst>
              <a:gd name="adj" fmla="val 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4114800" cy="411480"/>
          </a:xfrm>
          <a:prstGeom prst="rect">
            <a:avLst/>
          </a:prstGeom>
          <a:noFill/>
        </p:spPr>
        <p:txBody>
          <a:bodyPr wrap="square" lIns="0" rIns="0" tIns="0" bIns="0" anchor="t">
            <a:spAutoFit/>
          </a:bodyPr>
          <a:lstStyle/>
          <a:p>
            <a:pPr algn="l">
              <a:spcAft>
                <a:spcPts val="0"/>
              </a:spcAft>
            </a:pPr>
            <a:r>
              <a:rPr sz="2000" b="1" i="0">
                <a:solidFill>
                  <a:srgbClr val="14213D"/>
                </a:solidFill>
                <a:latin typeface="Calibri"/>
              </a:rPr>
              <a:t>Port Scan</a:t>
            </a:r>
          </a:p>
        </p:txBody>
      </p:sp>
      <p:sp>
        <p:nvSpPr>
          <p:cNvPr id="9" name="TextBox 8"/>
          <p:cNvSpPr txBox="1"/>
          <p:nvPr/>
        </p:nvSpPr>
        <p:spPr>
          <a:xfrm>
            <a:off x="7315200" y="2313432"/>
            <a:ext cx="4114800" cy="45720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tries every port to find an open one</a:t>
            </a:r>
          </a:p>
        </p:txBody>
      </p:sp>
      <p:sp>
        <p:nvSpPr>
          <p:cNvPr id="10" name="Rounded Rectangle 9"/>
          <p:cNvSpPr/>
          <p:nvPr/>
        </p:nvSpPr>
        <p:spPr>
          <a:xfrm>
            <a:off x="6949440" y="3154680"/>
            <a:ext cx="4690872" cy="13258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49440" y="3154680"/>
            <a:ext cx="128016" cy="1325880"/>
          </a:xfrm>
          <a:prstGeom prst="roundRect">
            <a:avLst>
              <a:gd name="adj" fmla="val 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3383280"/>
            <a:ext cx="4114800" cy="411480"/>
          </a:xfrm>
          <a:prstGeom prst="rect">
            <a:avLst/>
          </a:prstGeom>
          <a:noFill/>
        </p:spPr>
        <p:txBody>
          <a:bodyPr wrap="square" lIns="0" rIns="0" tIns="0" bIns="0" anchor="t">
            <a:spAutoFit/>
          </a:bodyPr>
          <a:lstStyle/>
          <a:p>
            <a:pPr algn="l">
              <a:spcAft>
                <a:spcPts val="0"/>
              </a:spcAft>
            </a:pPr>
            <a:r>
              <a:rPr sz="2000" b="1" i="0">
                <a:solidFill>
                  <a:srgbClr val="14213D"/>
                </a:solidFill>
                <a:latin typeface="Calibri"/>
              </a:rPr>
              <a:t>SYN Flood</a:t>
            </a:r>
          </a:p>
        </p:txBody>
      </p:sp>
      <p:sp>
        <p:nvSpPr>
          <p:cNvPr id="13" name="TextBox 12"/>
          <p:cNvSpPr txBox="1"/>
          <p:nvPr/>
        </p:nvSpPr>
        <p:spPr>
          <a:xfrm>
            <a:off x="7315200" y="3867912"/>
            <a:ext cx="4114800" cy="45720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floods a server with half-open connections</a:t>
            </a:r>
          </a:p>
        </p:txBody>
      </p:sp>
      <p:sp>
        <p:nvSpPr>
          <p:cNvPr id="14" name="Rounded Rectangle 13"/>
          <p:cNvSpPr/>
          <p:nvPr/>
        </p:nvSpPr>
        <p:spPr>
          <a:xfrm>
            <a:off x="6949440" y="4709160"/>
            <a:ext cx="4690872" cy="13258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9440" y="4709160"/>
            <a:ext cx="128016" cy="1325880"/>
          </a:xfrm>
          <a:prstGeom prst="roundRect">
            <a:avLst>
              <a:gd name="adj" fmla="val 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937760"/>
            <a:ext cx="4114800" cy="411480"/>
          </a:xfrm>
          <a:prstGeom prst="rect">
            <a:avLst/>
          </a:prstGeom>
          <a:noFill/>
        </p:spPr>
        <p:txBody>
          <a:bodyPr wrap="square" lIns="0" rIns="0" tIns="0" bIns="0" anchor="t">
            <a:spAutoFit/>
          </a:bodyPr>
          <a:lstStyle/>
          <a:p>
            <a:pPr algn="l">
              <a:spcAft>
                <a:spcPts val="0"/>
              </a:spcAft>
            </a:pPr>
            <a:r>
              <a:rPr sz="2000" b="1" i="0">
                <a:solidFill>
                  <a:srgbClr val="14213D"/>
                </a:solidFill>
                <a:latin typeface="Calibri"/>
              </a:rPr>
              <a:t>ARP Spoofing</a:t>
            </a:r>
          </a:p>
        </p:txBody>
      </p:sp>
      <p:sp>
        <p:nvSpPr>
          <p:cNvPr id="17" name="TextBox 16"/>
          <p:cNvSpPr txBox="1"/>
          <p:nvPr/>
        </p:nvSpPr>
        <p:spPr>
          <a:xfrm>
            <a:off x="7315200" y="5422392"/>
            <a:ext cx="4114800" cy="45720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puts the attacker in the middle of traffic</a:t>
            </a:r>
          </a:p>
        </p:txBody>
      </p:sp>
      <p:sp>
        <p:nvSpPr>
          <p:cNvPr id="18" name="TextBox 17"/>
          <p:cNvSpPr txBox="1"/>
          <p:nvPr/>
        </p:nvSpPr>
        <p:spPr>
          <a:xfrm>
            <a:off x="548640" y="6419088"/>
            <a:ext cx="82296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Final Evaluation</a:t>
            </a:r>
          </a:p>
        </p:txBody>
      </p:sp>
      <p:sp>
        <p:nvSpPr>
          <p:cNvPr id="19" name="TextBox 18"/>
          <p:cNvSpPr txBox="1"/>
          <p:nvPr/>
        </p:nvSpPr>
        <p:spPr>
          <a:xfrm>
            <a:off x="10881360" y="6419088"/>
            <a:ext cx="73152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Objectives: All Achieved</a:t>
            </a:r>
          </a:p>
        </p:txBody>
      </p:sp>
      <p:sp>
        <p:nvSpPr>
          <p:cNvPr id="3" name="Oval 2"/>
          <p:cNvSpPr/>
          <p:nvPr/>
        </p:nvSpPr>
        <p:spPr>
          <a:xfrm>
            <a:off x="640080" y="1508760"/>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90472"/>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5" name="TextBox 4"/>
          <p:cNvSpPr txBox="1"/>
          <p:nvPr/>
        </p:nvSpPr>
        <p:spPr>
          <a:xfrm>
            <a:off x="1051560" y="1463040"/>
            <a:ext cx="5029200" cy="457200"/>
          </a:xfrm>
          <a:prstGeom prst="rect">
            <a:avLst/>
          </a:prstGeom>
          <a:noFill/>
        </p:spPr>
        <p:txBody>
          <a:bodyPr wrap="square" lIns="0" rIns="0" tIns="0" bIns="0" anchor="t">
            <a:spAutoFit/>
          </a:bodyPr>
          <a:lstStyle/>
          <a:p>
            <a:pPr algn="l">
              <a:spcAft>
                <a:spcPts val="0"/>
              </a:spcAft>
            </a:pPr>
            <a:r>
              <a:rPr sz="1700" b="0" i="0">
                <a:solidFill>
                  <a:srgbClr val="1F2937"/>
                </a:solidFill>
                <a:latin typeface="Calibri"/>
              </a:rPr>
              <a:t>Capture live TCP, UDP and ARP packets</a:t>
            </a:r>
          </a:p>
        </p:txBody>
      </p:sp>
      <p:sp>
        <p:nvSpPr>
          <p:cNvPr id="6" name="Oval 5"/>
          <p:cNvSpPr/>
          <p:nvPr/>
        </p:nvSpPr>
        <p:spPr>
          <a:xfrm>
            <a:off x="6309360" y="1508760"/>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490472"/>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8" name="TextBox 7"/>
          <p:cNvSpPr txBox="1"/>
          <p:nvPr/>
        </p:nvSpPr>
        <p:spPr>
          <a:xfrm>
            <a:off x="6720840" y="1463040"/>
            <a:ext cx="5029200" cy="457200"/>
          </a:xfrm>
          <a:prstGeom prst="rect">
            <a:avLst/>
          </a:prstGeom>
          <a:noFill/>
        </p:spPr>
        <p:txBody>
          <a:bodyPr wrap="square" lIns="0" rIns="0" tIns="0" bIns="0" anchor="t">
            <a:spAutoFit/>
          </a:bodyPr>
          <a:lstStyle/>
          <a:p>
            <a:pPr algn="l">
              <a:spcAft>
                <a:spcPts val="0"/>
              </a:spcAft>
            </a:pPr>
            <a:r>
              <a:rPr sz="1700" b="0" i="0">
                <a:solidFill>
                  <a:srgbClr val="1F2937"/>
                </a:solidFill>
                <a:latin typeface="Calibri"/>
              </a:rPr>
              <a:t>Detect port scans with a sliding-window rule</a:t>
            </a:r>
          </a:p>
        </p:txBody>
      </p:sp>
      <p:sp>
        <p:nvSpPr>
          <p:cNvPr id="9" name="Oval 8"/>
          <p:cNvSpPr/>
          <p:nvPr/>
        </p:nvSpPr>
        <p:spPr>
          <a:xfrm>
            <a:off x="640080" y="2377439"/>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59151"/>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11" name="TextBox 10"/>
          <p:cNvSpPr txBox="1"/>
          <p:nvPr/>
        </p:nvSpPr>
        <p:spPr>
          <a:xfrm>
            <a:off x="1051560" y="2331720"/>
            <a:ext cx="5029200" cy="457200"/>
          </a:xfrm>
          <a:prstGeom prst="rect">
            <a:avLst/>
          </a:prstGeom>
          <a:noFill/>
        </p:spPr>
        <p:txBody>
          <a:bodyPr wrap="square" lIns="0" rIns="0" tIns="0" bIns="0" anchor="t">
            <a:spAutoFit/>
          </a:bodyPr>
          <a:lstStyle/>
          <a:p>
            <a:pPr algn="l">
              <a:spcAft>
                <a:spcPts val="0"/>
              </a:spcAft>
            </a:pPr>
            <a:r>
              <a:rPr sz="1700" b="0" i="0">
                <a:solidFill>
                  <a:srgbClr val="1F2937"/>
                </a:solidFill>
                <a:latin typeface="Calibri"/>
              </a:rPr>
              <a:t>Detect SYN floods from half-open handshakes</a:t>
            </a:r>
          </a:p>
        </p:txBody>
      </p:sp>
      <p:sp>
        <p:nvSpPr>
          <p:cNvPr id="12" name="Oval 11"/>
          <p:cNvSpPr/>
          <p:nvPr/>
        </p:nvSpPr>
        <p:spPr>
          <a:xfrm>
            <a:off x="6309360" y="2377439"/>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2359151"/>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14" name="TextBox 13"/>
          <p:cNvSpPr txBox="1"/>
          <p:nvPr/>
        </p:nvSpPr>
        <p:spPr>
          <a:xfrm>
            <a:off x="6720840" y="2331720"/>
            <a:ext cx="5029200" cy="457200"/>
          </a:xfrm>
          <a:prstGeom prst="rect">
            <a:avLst/>
          </a:prstGeom>
          <a:noFill/>
        </p:spPr>
        <p:txBody>
          <a:bodyPr wrap="square" lIns="0" rIns="0" tIns="0" bIns="0" anchor="t">
            <a:spAutoFit/>
          </a:bodyPr>
          <a:lstStyle/>
          <a:p>
            <a:pPr algn="l">
              <a:spcAft>
                <a:spcPts val="0"/>
              </a:spcAft>
            </a:pPr>
            <a:r>
              <a:rPr sz="1700" b="0" i="0">
                <a:solidFill>
                  <a:srgbClr val="1F2937"/>
                </a:solidFill>
                <a:latin typeface="Calibri"/>
              </a:rPr>
              <a:t>Detect ARP spoofing from a trust table</a:t>
            </a:r>
          </a:p>
        </p:txBody>
      </p:sp>
      <p:sp>
        <p:nvSpPr>
          <p:cNvPr id="15" name="Oval 14"/>
          <p:cNvSpPr/>
          <p:nvPr/>
        </p:nvSpPr>
        <p:spPr>
          <a:xfrm>
            <a:off x="640080" y="3246120"/>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27832"/>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17" name="TextBox 16"/>
          <p:cNvSpPr txBox="1"/>
          <p:nvPr/>
        </p:nvSpPr>
        <p:spPr>
          <a:xfrm>
            <a:off x="1051560" y="3200400"/>
            <a:ext cx="5029200" cy="457200"/>
          </a:xfrm>
          <a:prstGeom prst="rect">
            <a:avLst/>
          </a:prstGeom>
          <a:noFill/>
        </p:spPr>
        <p:txBody>
          <a:bodyPr wrap="square" lIns="0" rIns="0" tIns="0" bIns="0" anchor="t">
            <a:spAutoFit/>
          </a:bodyPr>
          <a:lstStyle/>
          <a:p>
            <a:pPr algn="l">
              <a:spcAft>
                <a:spcPts val="0"/>
              </a:spcAft>
            </a:pPr>
            <a:r>
              <a:rPr sz="1700" b="0" i="0">
                <a:solidFill>
                  <a:srgbClr val="1F2937"/>
                </a:solidFill>
                <a:latin typeface="Calibri"/>
              </a:rPr>
              <a:t>Alert pipeline to a Node.js and Express server</a:t>
            </a:r>
          </a:p>
        </p:txBody>
      </p:sp>
      <p:sp>
        <p:nvSpPr>
          <p:cNvPr id="18" name="Oval 17"/>
          <p:cNvSpPr/>
          <p:nvPr/>
        </p:nvSpPr>
        <p:spPr>
          <a:xfrm>
            <a:off x="6309360" y="3246120"/>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227832"/>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20" name="TextBox 19"/>
          <p:cNvSpPr txBox="1"/>
          <p:nvPr/>
        </p:nvSpPr>
        <p:spPr>
          <a:xfrm>
            <a:off x="6720840" y="3200400"/>
            <a:ext cx="5029200" cy="457200"/>
          </a:xfrm>
          <a:prstGeom prst="rect">
            <a:avLst/>
          </a:prstGeom>
          <a:noFill/>
        </p:spPr>
        <p:txBody>
          <a:bodyPr wrap="square" lIns="0" rIns="0" tIns="0" bIns="0" anchor="t">
            <a:spAutoFit/>
          </a:bodyPr>
          <a:lstStyle/>
          <a:p>
            <a:pPr algn="l">
              <a:spcAft>
                <a:spcPts val="0"/>
              </a:spcAft>
            </a:pPr>
            <a:r>
              <a:rPr sz="1700" b="0" i="0">
                <a:solidFill>
                  <a:srgbClr val="1F2937"/>
                </a:solidFill>
                <a:latin typeface="Calibri"/>
              </a:rPr>
              <a:t>Live web dashboard, updated without refresh</a:t>
            </a:r>
          </a:p>
        </p:txBody>
      </p:sp>
      <p:sp>
        <p:nvSpPr>
          <p:cNvPr id="21" name="Oval 20"/>
          <p:cNvSpPr/>
          <p:nvPr/>
        </p:nvSpPr>
        <p:spPr>
          <a:xfrm>
            <a:off x="640080" y="4114799"/>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96511"/>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23" name="TextBox 22"/>
          <p:cNvSpPr txBox="1"/>
          <p:nvPr/>
        </p:nvSpPr>
        <p:spPr>
          <a:xfrm>
            <a:off x="1051560" y="4069079"/>
            <a:ext cx="5029200" cy="457200"/>
          </a:xfrm>
          <a:prstGeom prst="rect">
            <a:avLst/>
          </a:prstGeom>
          <a:noFill/>
        </p:spPr>
        <p:txBody>
          <a:bodyPr wrap="square" lIns="0" rIns="0" tIns="0" bIns="0" anchor="t">
            <a:spAutoFit/>
          </a:bodyPr>
          <a:lstStyle/>
          <a:p>
            <a:pPr algn="l">
              <a:spcAft>
                <a:spcPts val="0"/>
              </a:spcAft>
            </a:pPr>
            <a:r>
              <a:rPr sz="1700" b="0" i="0">
                <a:solidFill>
                  <a:srgbClr val="1F2937"/>
                </a:solidFill>
                <a:latin typeface="Calibri"/>
              </a:rPr>
              <a:t>Automated tests and measured performance</a:t>
            </a:r>
          </a:p>
        </p:txBody>
      </p:sp>
      <p:sp>
        <p:nvSpPr>
          <p:cNvPr id="24" name="Rounded Rectangle 23"/>
          <p:cNvSpPr/>
          <p:nvPr/>
        </p:nvSpPr>
        <p:spPr>
          <a:xfrm>
            <a:off x="640080" y="5486400"/>
            <a:ext cx="10881360" cy="868680"/>
          </a:xfrm>
          <a:prstGeom prst="roundRect">
            <a:avLst>
              <a:gd name="adj" fmla="val 8000"/>
            </a:avLst>
          </a:prstGeom>
          <a:solidFill>
            <a:srgbClr val="DD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650992"/>
            <a:ext cx="10424160" cy="548640"/>
          </a:xfrm>
          <a:prstGeom prst="rect">
            <a:avLst/>
          </a:prstGeom>
          <a:noFill/>
        </p:spPr>
        <p:txBody>
          <a:bodyPr wrap="square" lIns="0" rIns="0" tIns="0" bIns="0" anchor="t">
            <a:spAutoFit/>
          </a:bodyPr>
          <a:lstStyle/>
          <a:p>
            <a:pPr algn="l">
              <a:spcAft>
                <a:spcPts val="0"/>
              </a:spcAft>
            </a:pPr>
            <a:r>
              <a:rPr sz="1600" b="1" i="0">
                <a:solidFill>
                  <a:srgbClr val="1B7F73"/>
                </a:solidFill>
                <a:latin typeface="Calibri"/>
              </a:rPr>
              <a:t>All seven objectives were met. </a:t>
            </a:r>
            <a:r>
              <a:rPr sz="1600" b="0" i="0">
                <a:solidFill>
                  <a:srgbClr val="1F2937"/>
                </a:solidFill>
                <a:latin typeface="Calibri"/>
              </a:rPr>
              <a:t>All three attack rules are implemented, tested and shown live on the dashboard.</a:t>
            </a:r>
          </a:p>
        </p:txBody>
      </p:sp>
      <p:sp>
        <p:nvSpPr>
          <p:cNvPr id="26" name="TextBox 25"/>
          <p:cNvSpPr txBox="1"/>
          <p:nvPr/>
        </p:nvSpPr>
        <p:spPr>
          <a:xfrm>
            <a:off x="548640" y="6419088"/>
            <a:ext cx="82296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Final Evaluation</a:t>
            </a:r>
          </a:p>
        </p:txBody>
      </p:sp>
      <p:sp>
        <p:nvSpPr>
          <p:cNvPr id="27" name="TextBox 26"/>
          <p:cNvSpPr txBox="1"/>
          <p:nvPr/>
        </p:nvSpPr>
        <p:spPr>
          <a:xfrm>
            <a:off x="10881360" y="6419088"/>
            <a:ext cx="73152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System Architecture</a:t>
            </a:r>
          </a:p>
        </p:txBody>
      </p:sp>
      <p:pic>
        <p:nvPicPr>
          <p:cNvPr id="3" name="Picture 2" descr="architecture.png"/>
          <p:cNvPicPr>
            <a:picLocks noChangeAspect="1"/>
          </p:cNvPicPr>
          <p:nvPr/>
        </p:nvPicPr>
        <p:blipFill>
          <a:blip r:embed="rId2"/>
          <a:stretch>
            <a:fillRect/>
          </a:stretch>
        </p:blipFill>
        <p:spPr>
          <a:xfrm>
            <a:off x="1097280" y="1554480"/>
            <a:ext cx="9966960" cy="5801538"/>
          </a:xfrm>
          <a:prstGeom prst="rect">
            <a:avLst/>
          </a:prstGeom>
          <a:ln w="9525">
            <a:solidFill>
              <a:srgbClr val="D5DCE6"/>
            </a:solidFill>
          </a:ln>
        </p:spPr>
      </p:pic>
      <p:sp>
        <p:nvSpPr>
          <p:cNvPr id="4" name="TextBox 3"/>
          <p:cNvSpPr txBox="1"/>
          <p:nvPr/>
        </p:nvSpPr>
        <p:spPr>
          <a:xfrm>
            <a:off x="548640" y="9093378"/>
            <a:ext cx="11064240" cy="54864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Packets flow left to right; alerts flow from the detector to the browser. </a:t>
            </a:r>
            <a:r>
              <a:rPr sz="1600" b="1" i="0">
                <a:solidFill>
                  <a:srgbClr val="14213D"/>
                </a:solidFill>
                <a:latin typeface="Calibri"/>
              </a:rPr>
              <a:t>Python captures, Node.js serves, the browser displays.</a:t>
            </a:r>
          </a:p>
        </p:txBody>
      </p:sp>
      <p:sp>
        <p:nvSpPr>
          <p:cNvPr id="5" name="TextBox 4"/>
          <p:cNvSpPr txBox="1"/>
          <p:nvPr/>
        </p:nvSpPr>
        <p:spPr>
          <a:xfrm>
            <a:off x="548640" y="6419088"/>
            <a:ext cx="82296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Final Evaluation</a:t>
            </a:r>
          </a:p>
        </p:txBody>
      </p:sp>
      <p:sp>
        <p:nvSpPr>
          <p:cNvPr id="6" name="TextBox 5"/>
          <p:cNvSpPr txBox="1"/>
          <p:nvPr/>
        </p:nvSpPr>
        <p:spPr>
          <a:xfrm>
            <a:off x="10881360" y="6419088"/>
            <a:ext cx="73152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Technology Stack</a:t>
            </a:r>
          </a:p>
        </p:txBody>
      </p:sp>
      <p:sp>
        <p:nvSpPr>
          <p:cNvPr id="3" name="Rounded Rectangle 2"/>
          <p:cNvSpPr/>
          <p:nvPr/>
        </p:nvSpPr>
        <p:spPr>
          <a:xfrm>
            <a:off x="548640" y="1508760"/>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764792"/>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CAPTURE</a:t>
            </a:r>
          </a:p>
        </p:txBody>
      </p:sp>
      <p:sp>
        <p:nvSpPr>
          <p:cNvPr id="5" name="TextBox 4"/>
          <p:cNvSpPr txBox="1"/>
          <p:nvPr/>
        </p:nvSpPr>
        <p:spPr>
          <a:xfrm>
            <a:off x="822959" y="2075688"/>
            <a:ext cx="2926080" cy="685800"/>
          </a:xfrm>
          <a:prstGeom prst="rect">
            <a:avLst/>
          </a:prstGeom>
          <a:noFill/>
        </p:spPr>
        <p:txBody>
          <a:bodyPr wrap="square" lIns="0" rIns="0" tIns="0" bIns="0" anchor="t">
            <a:spAutoFit/>
          </a:bodyPr>
          <a:lstStyle/>
          <a:p>
            <a:pPr algn="l">
              <a:lnSpc>
                <a:spcPct val="95000"/>
              </a:lnSpc>
              <a:spcAft>
                <a:spcPts val="0"/>
              </a:spcAft>
            </a:pPr>
            <a:r>
              <a:rPr sz="1900" b="1" i="0">
                <a:solidFill>
                  <a:srgbClr val="14213D"/>
                </a:solidFill>
                <a:latin typeface="Calibri"/>
              </a:rPr>
              <a:t>Npcap 1.89</a:t>
            </a:r>
          </a:p>
        </p:txBody>
      </p:sp>
      <p:sp>
        <p:nvSpPr>
          <p:cNvPr id="6" name="TextBox 5"/>
          <p:cNvSpPr txBox="1"/>
          <p:nvPr/>
        </p:nvSpPr>
        <p:spPr>
          <a:xfrm>
            <a:off x="822959" y="2807208"/>
            <a:ext cx="2926080" cy="41148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raw packets on Windows</a:t>
            </a:r>
          </a:p>
        </p:txBody>
      </p:sp>
      <p:sp>
        <p:nvSpPr>
          <p:cNvPr id="7" name="Rounded Rectangle 6"/>
          <p:cNvSpPr/>
          <p:nvPr/>
        </p:nvSpPr>
        <p:spPr>
          <a:xfrm>
            <a:off x="4343400" y="1508760"/>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764792"/>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SENSOR</a:t>
            </a:r>
          </a:p>
        </p:txBody>
      </p:sp>
      <p:sp>
        <p:nvSpPr>
          <p:cNvPr id="9" name="TextBox 8"/>
          <p:cNvSpPr txBox="1"/>
          <p:nvPr/>
        </p:nvSpPr>
        <p:spPr>
          <a:xfrm>
            <a:off x="4617720" y="2075688"/>
            <a:ext cx="2926080" cy="685800"/>
          </a:xfrm>
          <a:prstGeom prst="rect">
            <a:avLst/>
          </a:prstGeom>
          <a:noFill/>
        </p:spPr>
        <p:txBody>
          <a:bodyPr wrap="square" lIns="0" rIns="0" tIns="0" bIns="0" anchor="t">
            <a:spAutoFit/>
          </a:bodyPr>
          <a:lstStyle/>
          <a:p>
            <a:pPr algn="l">
              <a:lnSpc>
                <a:spcPct val="95000"/>
              </a:lnSpc>
              <a:spcAft>
                <a:spcPts val="0"/>
              </a:spcAft>
            </a:pPr>
            <a:r>
              <a:rPr sz="1900" b="1" i="0">
                <a:solidFill>
                  <a:srgbClr val="14213D"/>
                </a:solidFill>
                <a:latin typeface="Calibri"/>
              </a:rPr>
              <a:t>Python 3.13 + Scapy 2.8</a:t>
            </a:r>
          </a:p>
        </p:txBody>
      </p:sp>
      <p:sp>
        <p:nvSpPr>
          <p:cNvPr id="10" name="TextBox 9"/>
          <p:cNvSpPr txBox="1"/>
          <p:nvPr/>
        </p:nvSpPr>
        <p:spPr>
          <a:xfrm>
            <a:off x="4617720" y="2807208"/>
            <a:ext cx="2926080" cy="41148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decodes IP, TCP, UDP, ARP</a:t>
            </a:r>
          </a:p>
        </p:txBody>
      </p:sp>
      <p:sp>
        <p:nvSpPr>
          <p:cNvPr id="11" name="Rounded Rectangle 10"/>
          <p:cNvSpPr/>
          <p:nvPr/>
        </p:nvSpPr>
        <p:spPr>
          <a:xfrm>
            <a:off x="8138160" y="1508760"/>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764792"/>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RULES</a:t>
            </a:r>
          </a:p>
        </p:txBody>
      </p:sp>
      <p:sp>
        <p:nvSpPr>
          <p:cNvPr id="13" name="TextBox 12"/>
          <p:cNvSpPr txBox="1"/>
          <p:nvPr/>
        </p:nvSpPr>
        <p:spPr>
          <a:xfrm>
            <a:off x="8412480" y="2075688"/>
            <a:ext cx="2926080" cy="685800"/>
          </a:xfrm>
          <a:prstGeom prst="rect">
            <a:avLst/>
          </a:prstGeom>
          <a:noFill/>
        </p:spPr>
        <p:txBody>
          <a:bodyPr wrap="square" lIns="0" rIns="0" tIns="0" bIns="0" anchor="t">
            <a:spAutoFit/>
          </a:bodyPr>
          <a:lstStyle/>
          <a:p>
            <a:pPr algn="l">
              <a:lnSpc>
                <a:spcPct val="95000"/>
              </a:lnSpc>
              <a:spcAft>
                <a:spcPts val="0"/>
              </a:spcAft>
            </a:pPr>
            <a:r>
              <a:rPr sz="1900" b="1" i="0">
                <a:solidFill>
                  <a:srgbClr val="14213D"/>
                </a:solidFill>
                <a:latin typeface="Calibri"/>
              </a:rPr>
              <a:t>Python standard library</a:t>
            </a:r>
          </a:p>
        </p:txBody>
      </p:sp>
      <p:sp>
        <p:nvSpPr>
          <p:cNvPr id="14" name="TextBox 13"/>
          <p:cNvSpPr txBox="1"/>
          <p:nvPr/>
        </p:nvSpPr>
        <p:spPr>
          <a:xfrm>
            <a:off x="8412480" y="2807208"/>
            <a:ext cx="2926080" cy="41148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deque window, set of ports</a:t>
            </a:r>
          </a:p>
        </p:txBody>
      </p:sp>
      <p:sp>
        <p:nvSpPr>
          <p:cNvPr id="15" name="Rounded Rectangle 14"/>
          <p:cNvSpPr/>
          <p:nvPr/>
        </p:nvSpPr>
        <p:spPr>
          <a:xfrm>
            <a:off x="548640" y="3611879"/>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867911"/>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SERVER</a:t>
            </a:r>
          </a:p>
        </p:txBody>
      </p:sp>
      <p:sp>
        <p:nvSpPr>
          <p:cNvPr id="17" name="TextBox 16"/>
          <p:cNvSpPr txBox="1"/>
          <p:nvPr/>
        </p:nvSpPr>
        <p:spPr>
          <a:xfrm>
            <a:off x="822959" y="4178807"/>
            <a:ext cx="2926080" cy="685800"/>
          </a:xfrm>
          <a:prstGeom prst="rect">
            <a:avLst/>
          </a:prstGeom>
          <a:noFill/>
        </p:spPr>
        <p:txBody>
          <a:bodyPr wrap="square" lIns="0" rIns="0" tIns="0" bIns="0" anchor="t">
            <a:spAutoFit/>
          </a:bodyPr>
          <a:lstStyle/>
          <a:p>
            <a:pPr algn="l">
              <a:lnSpc>
                <a:spcPct val="95000"/>
              </a:lnSpc>
              <a:spcAft>
                <a:spcPts val="0"/>
              </a:spcAft>
            </a:pPr>
            <a:r>
              <a:rPr sz="1900" b="1" i="0">
                <a:solidFill>
                  <a:srgbClr val="14213D"/>
                </a:solidFill>
                <a:latin typeface="Calibri"/>
              </a:rPr>
              <a:t>Node.js 24 + Express 5</a:t>
            </a:r>
          </a:p>
        </p:txBody>
      </p:sp>
      <p:sp>
        <p:nvSpPr>
          <p:cNvPr id="18" name="TextBox 17"/>
          <p:cNvSpPr txBox="1"/>
          <p:nvPr/>
        </p:nvSpPr>
        <p:spPr>
          <a:xfrm>
            <a:off x="822959" y="4910327"/>
            <a:ext cx="2926080" cy="41148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receives alerts by HTTP POST</a:t>
            </a:r>
          </a:p>
        </p:txBody>
      </p:sp>
      <p:sp>
        <p:nvSpPr>
          <p:cNvPr id="19" name="Rounded Rectangle 18"/>
          <p:cNvSpPr/>
          <p:nvPr/>
        </p:nvSpPr>
        <p:spPr>
          <a:xfrm>
            <a:off x="4343400" y="3611879"/>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867911"/>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LIVE PUSH</a:t>
            </a:r>
          </a:p>
        </p:txBody>
      </p:sp>
      <p:sp>
        <p:nvSpPr>
          <p:cNvPr id="21" name="TextBox 20"/>
          <p:cNvSpPr txBox="1"/>
          <p:nvPr/>
        </p:nvSpPr>
        <p:spPr>
          <a:xfrm>
            <a:off x="4617720" y="4178807"/>
            <a:ext cx="2926080" cy="685800"/>
          </a:xfrm>
          <a:prstGeom prst="rect">
            <a:avLst/>
          </a:prstGeom>
          <a:noFill/>
        </p:spPr>
        <p:txBody>
          <a:bodyPr wrap="square" lIns="0" rIns="0" tIns="0" bIns="0" anchor="t">
            <a:spAutoFit/>
          </a:bodyPr>
          <a:lstStyle/>
          <a:p>
            <a:pPr algn="l">
              <a:lnSpc>
                <a:spcPct val="95000"/>
              </a:lnSpc>
              <a:spcAft>
                <a:spcPts val="0"/>
              </a:spcAft>
            </a:pPr>
            <a:r>
              <a:rPr sz="1900" b="1" i="0">
                <a:solidFill>
                  <a:srgbClr val="14213D"/>
                </a:solidFill>
                <a:latin typeface="Calibri"/>
              </a:rPr>
              <a:t>Socket.IO 4</a:t>
            </a:r>
          </a:p>
        </p:txBody>
      </p:sp>
      <p:sp>
        <p:nvSpPr>
          <p:cNvPr id="22" name="TextBox 21"/>
          <p:cNvSpPr txBox="1"/>
          <p:nvPr/>
        </p:nvSpPr>
        <p:spPr>
          <a:xfrm>
            <a:off x="4617720" y="4910327"/>
            <a:ext cx="2926080" cy="41148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alerts reach the browser instantly</a:t>
            </a:r>
          </a:p>
        </p:txBody>
      </p:sp>
      <p:sp>
        <p:nvSpPr>
          <p:cNvPr id="23" name="Rounded Rectangle 22"/>
          <p:cNvSpPr/>
          <p:nvPr/>
        </p:nvSpPr>
        <p:spPr>
          <a:xfrm>
            <a:off x="8138160" y="3611879"/>
            <a:ext cx="347472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3867911"/>
            <a:ext cx="2926080" cy="27432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DASHBOARD</a:t>
            </a:r>
          </a:p>
        </p:txBody>
      </p:sp>
      <p:sp>
        <p:nvSpPr>
          <p:cNvPr id="25" name="TextBox 24"/>
          <p:cNvSpPr txBox="1"/>
          <p:nvPr/>
        </p:nvSpPr>
        <p:spPr>
          <a:xfrm>
            <a:off x="8412480" y="4178807"/>
            <a:ext cx="2926080" cy="685800"/>
          </a:xfrm>
          <a:prstGeom prst="rect">
            <a:avLst/>
          </a:prstGeom>
          <a:noFill/>
        </p:spPr>
        <p:txBody>
          <a:bodyPr wrap="square" lIns="0" rIns="0" tIns="0" bIns="0" anchor="t">
            <a:spAutoFit/>
          </a:bodyPr>
          <a:lstStyle/>
          <a:p>
            <a:pPr algn="l">
              <a:lnSpc>
                <a:spcPct val="95000"/>
              </a:lnSpc>
              <a:spcAft>
                <a:spcPts val="0"/>
              </a:spcAft>
            </a:pPr>
            <a:r>
              <a:rPr sz="1900" b="1" i="0">
                <a:solidFill>
                  <a:srgbClr val="14213D"/>
                </a:solidFill>
                <a:latin typeface="Calibri"/>
              </a:rPr>
              <a:t>HTML, CSS, JS + Chart.js</a:t>
            </a:r>
          </a:p>
        </p:txBody>
      </p:sp>
      <p:sp>
        <p:nvSpPr>
          <p:cNvPr id="26" name="TextBox 25"/>
          <p:cNvSpPr txBox="1"/>
          <p:nvPr/>
        </p:nvSpPr>
        <p:spPr>
          <a:xfrm>
            <a:off x="8412480" y="4910327"/>
            <a:ext cx="2926080" cy="41148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live chart, table and banner</a:t>
            </a:r>
          </a:p>
        </p:txBody>
      </p:sp>
      <p:sp>
        <p:nvSpPr>
          <p:cNvPr id="27" name="TextBox 26"/>
          <p:cNvSpPr txBox="1"/>
          <p:nvPr/>
        </p:nvSpPr>
        <p:spPr>
          <a:xfrm>
            <a:off x="548640" y="5806440"/>
            <a:ext cx="10972800" cy="365760"/>
          </a:xfrm>
          <a:prstGeom prst="rect">
            <a:avLst/>
          </a:prstGeom>
          <a:noFill/>
        </p:spPr>
        <p:txBody>
          <a:bodyPr wrap="square" lIns="0" rIns="0" tIns="0" bIns="0" anchor="t">
            <a:spAutoFit/>
          </a:bodyPr>
          <a:lstStyle/>
          <a:p>
            <a:pPr algn="l">
              <a:spcAft>
                <a:spcPts val="0"/>
              </a:spcAft>
            </a:pPr>
            <a:r>
              <a:rPr sz="1400" b="1" i="0">
                <a:solidFill>
                  <a:srgbClr val="14213D"/>
                </a:solidFill>
                <a:latin typeface="Calibri"/>
              </a:rPr>
              <a:t>Storage: </a:t>
            </a:r>
            <a:r>
              <a:rPr sz="1400" b="0" i="0">
                <a:solidFill>
                  <a:srgbClr val="1F2937"/>
                </a:solidFill>
                <a:latin typeface="Calibri"/>
              </a:rPr>
              <a:t>JSON alert log  </a:t>
            </a:r>
            <a:r>
              <a:rPr sz="1400" b="1" i="0">
                <a:solidFill>
                  <a:srgbClr val="14213D"/>
                </a:solidFill>
                <a:latin typeface="Calibri"/>
              </a:rPr>
              <a:t>Testing: </a:t>
            </a:r>
            <a:r>
              <a:rPr sz="1400" b="0" i="0">
                <a:solidFill>
                  <a:srgbClr val="1F2937"/>
                </a:solidFill>
                <a:latin typeface="Calibri"/>
              </a:rPr>
              <a:t>unittest, Nmap, Wireshark  </a:t>
            </a:r>
            <a:r>
              <a:rPr sz="1400" b="1" i="0">
                <a:solidFill>
                  <a:srgbClr val="14213D"/>
                </a:solidFill>
                <a:latin typeface="Calibri"/>
              </a:rPr>
              <a:t>Tools: </a:t>
            </a:r>
            <a:r>
              <a:rPr sz="1400" b="0" i="0">
                <a:solidFill>
                  <a:srgbClr val="1F2937"/>
                </a:solidFill>
                <a:latin typeface="Calibri"/>
              </a:rPr>
              <a:t>VS Code, Git, GitHub</a:t>
            </a:r>
          </a:p>
        </p:txBody>
      </p:sp>
      <p:sp>
        <p:nvSpPr>
          <p:cNvPr id="28" name="TextBox 27"/>
          <p:cNvSpPr txBox="1"/>
          <p:nvPr/>
        </p:nvSpPr>
        <p:spPr>
          <a:xfrm>
            <a:off x="548640" y="6419088"/>
            <a:ext cx="82296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Final Evaluation</a:t>
            </a:r>
          </a:p>
        </p:txBody>
      </p:sp>
      <p:sp>
        <p:nvSpPr>
          <p:cNvPr id="29" name="TextBox 28"/>
          <p:cNvSpPr txBox="1"/>
          <p:nvPr/>
        </p:nvSpPr>
        <p:spPr>
          <a:xfrm>
            <a:off x="10881360" y="6419088"/>
            <a:ext cx="73152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System Design</a:t>
            </a:r>
          </a:p>
        </p:txBody>
      </p:sp>
      <p:pic>
        <p:nvPicPr>
          <p:cNvPr id="3" name="Picture 2" descr="dfd_level1.png"/>
          <p:cNvPicPr>
            <a:picLocks noChangeAspect="1"/>
          </p:cNvPicPr>
          <p:nvPr/>
        </p:nvPicPr>
        <p:blipFill>
          <a:blip r:embed="rId2"/>
          <a:stretch>
            <a:fillRect/>
          </a:stretch>
        </p:blipFill>
        <p:spPr>
          <a:xfrm>
            <a:off x="548640" y="1554480"/>
            <a:ext cx="6583680" cy="3800019"/>
          </a:xfrm>
          <a:prstGeom prst="rect">
            <a:avLst/>
          </a:prstGeom>
          <a:ln w="9525">
            <a:solidFill>
              <a:srgbClr val="D5DCE6"/>
            </a:solidFill>
          </a:ln>
        </p:spPr>
      </p:pic>
      <p:sp>
        <p:nvSpPr>
          <p:cNvPr id="4" name="TextBox 3"/>
          <p:cNvSpPr txBox="1"/>
          <p:nvPr/>
        </p:nvSpPr>
        <p:spPr>
          <a:xfrm>
            <a:off x="548640" y="5445939"/>
            <a:ext cx="6583680" cy="274320"/>
          </a:xfrm>
          <a:prstGeom prst="rect">
            <a:avLst/>
          </a:prstGeom>
          <a:noFill/>
        </p:spPr>
        <p:txBody>
          <a:bodyPr wrap="square" lIns="0" rIns="0" tIns="0" bIns="0" anchor="t">
            <a:spAutoFit/>
          </a:bodyPr>
          <a:lstStyle/>
          <a:p>
            <a:pPr algn="ctr">
              <a:spcAft>
                <a:spcPts val="0"/>
              </a:spcAft>
            </a:pPr>
            <a:r>
              <a:rPr sz="1200" b="0" i="0">
                <a:solidFill>
                  <a:srgbClr val="5B6472"/>
                </a:solidFill>
                <a:latin typeface="Calibri"/>
              </a:rPr>
              <a:t>Level-1 Data Flow Diagram</a:t>
            </a:r>
          </a:p>
        </p:txBody>
      </p:sp>
      <p:sp>
        <p:nvSpPr>
          <p:cNvPr id="5" name="TextBox 4"/>
          <p:cNvSpPr txBox="1"/>
          <p:nvPr/>
        </p:nvSpPr>
        <p:spPr>
          <a:xfrm>
            <a:off x="7406640" y="1554480"/>
            <a:ext cx="4206240" cy="365760"/>
          </a:xfrm>
          <a:prstGeom prst="rect">
            <a:avLst/>
          </a:prstGeom>
          <a:noFill/>
        </p:spPr>
        <p:txBody>
          <a:bodyPr wrap="square" lIns="0" rIns="0" tIns="0" bIns="0" anchor="t">
            <a:spAutoFit/>
          </a:bodyPr>
          <a:lstStyle/>
          <a:p>
            <a:pPr algn="l">
              <a:spcAft>
                <a:spcPts val="0"/>
              </a:spcAft>
            </a:pPr>
            <a:r>
              <a:rPr sz="1200" b="1" i="0">
                <a:solidFill>
                  <a:srgbClr val="5B6472"/>
                </a:solidFill>
                <a:latin typeface="Calibri"/>
              </a:rPr>
              <a:t>DESIGN ARTEFACTS</a:t>
            </a:r>
          </a:p>
        </p:txBody>
      </p:sp>
      <p:sp>
        <p:nvSpPr>
          <p:cNvPr id="6" name="Oval 5"/>
          <p:cNvSpPr/>
          <p:nvPr/>
        </p:nvSpPr>
        <p:spPr>
          <a:xfrm>
            <a:off x="7406640" y="2066544"/>
            <a:ext cx="164592" cy="164592"/>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2011680"/>
            <a:ext cx="393192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Context and level-1 DFDs</a:t>
            </a:r>
          </a:p>
        </p:txBody>
      </p:sp>
      <p:sp>
        <p:nvSpPr>
          <p:cNvPr id="8" name="Oval 7"/>
          <p:cNvSpPr/>
          <p:nvPr/>
        </p:nvSpPr>
        <p:spPr>
          <a:xfrm>
            <a:off x="7406640" y="2615184"/>
            <a:ext cx="164592" cy="164592"/>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560320"/>
            <a:ext cx="393192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Use-case diagram</a:t>
            </a:r>
          </a:p>
        </p:txBody>
      </p:sp>
      <p:sp>
        <p:nvSpPr>
          <p:cNvPr id="10" name="Oval 9"/>
          <p:cNvSpPr/>
          <p:nvPr/>
        </p:nvSpPr>
        <p:spPr>
          <a:xfrm>
            <a:off x="7406640" y="3163824"/>
            <a:ext cx="164592" cy="164592"/>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3108960"/>
            <a:ext cx="393192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Sequence diagram</a:t>
            </a:r>
          </a:p>
        </p:txBody>
      </p:sp>
      <p:sp>
        <p:nvSpPr>
          <p:cNvPr id="12" name="Oval 11"/>
          <p:cNvSpPr/>
          <p:nvPr/>
        </p:nvSpPr>
        <p:spPr>
          <a:xfrm>
            <a:off x="7406640" y="3712463"/>
            <a:ext cx="164592" cy="164592"/>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3657600"/>
            <a:ext cx="393192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Component diagram</a:t>
            </a:r>
          </a:p>
        </p:txBody>
      </p:sp>
      <p:sp>
        <p:nvSpPr>
          <p:cNvPr id="14" name="Oval 13"/>
          <p:cNvSpPr/>
          <p:nvPr/>
        </p:nvSpPr>
        <p:spPr>
          <a:xfrm>
            <a:off x="7406640" y="4261103"/>
            <a:ext cx="164592" cy="164592"/>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206240"/>
            <a:ext cx="393192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Deployment diagram</a:t>
            </a:r>
          </a:p>
        </p:txBody>
      </p:sp>
      <p:sp>
        <p:nvSpPr>
          <p:cNvPr id="16" name="Oval 15"/>
          <p:cNvSpPr/>
          <p:nvPr/>
        </p:nvSpPr>
        <p:spPr>
          <a:xfrm>
            <a:off x="7406640" y="4809744"/>
            <a:ext cx="164592" cy="164592"/>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4754880"/>
            <a:ext cx="393192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Flowchart of the port-scan rule</a:t>
            </a:r>
          </a:p>
        </p:txBody>
      </p:sp>
      <p:sp>
        <p:nvSpPr>
          <p:cNvPr id="18" name="TextBox 17"/>
          <p:cNvSpPr txBox="1"/>
          <p:nvPr/>
        </p:nvSpPr>
        <p:spPr>
          <a:xfrm>
            <a:off x="7406640" y="5394960"/>
            <a:ext cx="4206240" cy="82296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All diagrams are in the report, </a:t>
            </a:r>
            <a:r>
              <a:rPr sz="1400" b="1" i="0">
                <a:solidFill>
                  <a:srgbClr val="14213D"/>
                </a:solidFill>
                <a:latin typeface="Calibri"/>
              </a:rPr>
              <a:t>numbered chapter-wise</a:t>
            </a:r>
            <a:r>
              <a:rPr sz="1400" b="0" i="0">
                <a:solidFill>
                  <a:srgbClr val="1F2937"/>
                </a:solidFill>
                <a:latin typeface="Calibri"/>
              </a:rPr>
              <a:t> as Fig. 3.1 to 4.2.</a:t>
            </a:r>
          </a:p>
        </p:txBody>
      </p:sp>
      <p:sp>
        <p:nvSpPr>
          <p:cNvPr id="19" name="TextBox 18"/>
          <p:cNvSpPr txBox="1"/>
          <p:nvPr/>
        </p:nvSpPr>
        <p:spPr>
          <a:xfrm>
            <a:off x="548640" y="6419088"/>
            <a:ext cx="82296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Final Evaluation</a:t>
            </a:r>
          </a:p>
        </p:txBody>
      </p:sp>
      <p:sp>
        <p:nvSpPr>
          <p:cNvPr id="20" name="TextBox 19"/>
          <p:cNvSpPr txBox="1"/>
          <p:nvPr/>
        </p:nvSpPr>
        <p:spPr>
          <a:xfrm>
            <a:off x="10881360" y="6419088"/>
            <a:ext cx="73152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Detection Rules</a:t>
            </a:r>
          </a:p>
        </p:txBody>
      </p:sp>
      <p:sp>
        <p:nvSpPr>
          <p:cNvPr id="3" name="Rounded Rectangle 2"/>
          <p:cNvSpPr/>
          <p:nvPr/>
        </p:nvSpPr>
        <p:spPr>
          <a:xfrm>
            <a:off x="548640" y="1508760"/>
            <a:ext cx="3474720" cy="3200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508760"/>
            <a:ext cx="3474720" cy="822960"/>
          </a:xfrm>
          <a:prstGeom prst="roundRect">
            <a:avLst>
              <a:gd name="adj" fmla="val 8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64208"/>
            <a:ext cx="3474720" cy="548640"/>
          </a:xfrm>
          <a:prstGeom prst="rect">
            <a:avLst/>
          </a:prstGeom>
          <a:noFill/>
        </p:spPr>
        <p:txBody>
          <a:bodyPr wrap="square" lIns="0" rIns="0" tIns="0" bIns="0" anchor="t">
            <a:spAutoFit/>
          </a:bodyPr>
          <a:lstStyle/>
          <a:p>
            <a:pPr algn="ctr">
              <a:spcAft>
                <a:spcPts val="0"/>
              </a:spcAft>
            </a:pPr>
            <a:r>
              <a:rPr sz="2200" b="1" i="0">
                <a:solidFill>
                  <a:srgbClr val="FFFFFF"/>
                </a:solidFill>
                <a:latin typeface="Calibri"/>
              </a:rPr>
              <a:t>Port Scan</a:t>
            </a:r>
          </a:p>
        </p:txBody>
      </p:sp>
      <p:sp>
        <p:nvSpPr>
          <p:cNvPr id="6" name="TextBox 5"/>
          <p:cNvSpPr txBox="1"/>
          <p:nvPr/>
        </p:nvSpPr>
        <p:spPr>
          <a:xfrm>
            <a:off x="822959" y="2697480"/>
            <a:ext cx="2926080" cy="45720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&gt; 15 distinct ports</a:t>
            </a:r>
          </a:p>
        </p:txBody>
      </p:sp>
      <p:sp>
        <p:nvSpPr>
          <p:cNvPr id="7" name="TextBox 6"/>
          <p:cNvSpPr txBox="1"/>
          <p:nvPr/>
        </p:nvSpPr>
        <p:spPr>
          <a:xfrm>
            <a:off x="822959" y="3200400"/>
            <a:ext cx="2926080" cy="45720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from one source</a:t>
            </a:r>
          </a:p>
        </p:txBody>
      </p:sp>
      <p:sp>
        <p:nvSpPr>
          <p:cNvPr id="8" name="TextBox 7"/>
          <p:cNvSpPr txBox="1"/>
          <p:nvPr/>
        </p:nvSpPr>
        <p:spPr>
          <a:xfrm>
            <a:off x="822959" y="3703320"/>
            <a:ext cx="2926080" cy="45720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within 5 seconds</a:t>
            </a:r>
          </a:p>
        </p:txBody>
      </p:sp>
      <p:sp>
        <p:nvSpPr>
          <p:cNvPr id="9" name="Rounded Rectangle 8"/>
          <p:cNvSpPr/>
          <p:nvPr/>
        </p:nvSpPr>
        <p:spPr>
          <a:xfrm>
            <a:off x="1737360" y="4251960"/>
            <a:ext cx="1097280" cy="329184"/>
          </a:xfrm>
          <a:prstGeom prst="roundRect">
            <a:avLst>
              <a:gd name="adj" fmla="val 5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medium</a:t>
            </a:r>
          </a:p>
        </p:txBody>
      </p:sp>
      <p:sp>
        <p:nvSpPr>
          <p:cNvPr id="10" name="Rounded Rectangle 9"/>
          <p:cNvSpPr/>
          <p:nvPr/>
        </p:nvSpPr>
        <p:spPr>
          <a:xfrm>
            <a:off x="4343400" y="1508760"/>
            <a:ext cx="3474720" cy="3200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1508760"/>
            <a:ext cx="3474720" cy="822960"/>
          </a:xfrm>
          <a:prstGeom prst="roundRect">
            <a:avLst>
              <a:gd name="adj" fmla="val 8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1664208"/>
            <a:ext cx="3474720" cy="548640"/>
          </a:xfrm>
          <a:prstGeom prst="rect">
            <a:avLst/>
          </a:prstGeom>
          <a:noFill/>
        </p:spPr>
        <p:txBody>
          <a:bodyPr wrap="square" lIns="0" rIns="0" tIns="0" bIns="0" anchor="t">
            <a:spAutoFit/>
          </a:bodyPr>
          <a:lstStyle/>
          <a:p>
            <a:pPr algn="ctr">
              <a:spcAft>
                <a:spcPts val="0"/>
              </a:spcAft>
            </a:pPr>
            <a:r>
              <a:rPr sz="2200" b="1" i="0">
                <a:solidFill>
                  <a:srgbClr val="FFFFFF"/>
                </a:solidFill>
                <a:latin typeface="Calibri"/>
              </a:rPr>
              <a:t>SYN Flood</a:t>
            </a:r>
          </a:p>
        </p:txBody>
      </p:sp>
      <p:sp>
        <p:nvSpPr>
          <p:cNvPr id="13" name="TextBox 12"/>
          <p:cNvSpPr txBox="1"/>
          <p:nvPr/>
        </p:nvSpPr>
        <p:spPr>
          <a:xfrm>
            <a:off x="4617720" y="2697480"/>
            <a:ext cx="2926080" cy="45720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100+ half-open SYNs</a:t>
            </a:r>
          </a:p>
        </p:txBody>
      </p:sp>
      <p:sp>
        <p:nvSpPr>
          <p:cNvPr id="14" name="TextBox 13"/>
          <p:cNvSpPr txBox="1"/>
          <p:nvPr/>
        </p:nvSpPr>
        <p:spPr>
          <a:xfrm>
            <a:off x="4617720" y="3200400"/>
            <a:ext cx="2926080" cy="45720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to one host</a:t>
            </a:r>
          </a:p>
        </p:txBody>
      </p:sp>
      <p:sp>
        <p:nvSpPr>
          <p:cNvPr id="15" name="TextBox 14"/>
          <p:cNvSpPr txBox="1"/>
          <p:nvPr/>
        </p:nvSpPr>
        <p:spPr>
          <a:xfrm>
            <a:off x="4617720" y="3703320"/>
            <a:ext cx="2926080" cy="45720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few completed</a:t>
            </a:r>
          </a:p>
        </p:txBody>
      </p:sp>
      <p:sp>
        <p:nvSpPr>
          <p:cNvPr id="16" name="Rounded Rectangle 15"/>
          <p:cNvSpPr/>
          <p:nvPr/>
        </p:nvSpPr>
        <p:spPr>
          <a:xfrm>
            <a:off x="5532120" y="4251960"/>
            <a:ext cx="1097280" cy="32918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high</a:t>
            </a:r>
          </a:p>
        </p:txBody>
      </p:sp>
      <p:sp>
        <p:nvSpPr>
          <p:cNvPr id="17" name="Rounded Rectangle 16"/>
          <p:cNvSpPr/>
          <p:nvPr/>
        </p:nvSpPr>
        <p:spPr>
          <a:xfrm>
            <a:off x="8138160" y="1508760"/>
            <a:ext cx="3474720" cy="3200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1508760"/>
            <a:ext cx="3474720" cy="822960"/>
          </a:xfrm>
          <a:prstGeom prst="roundRect">
            <a:avLst>
              <a:gd name="adj" fmla="val 8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1664208"/>
            <a:ext cx="3474720" cy="548640"/>
          </a:xfrm>
          <a:prstGeom prst="rect">
            <a:avLst/>
          </a:prstGeom>
          <a:noFill/>
        </p:spPr>
        <p:txBody>
          <a:bodyPr wrap="square" lIns="0" rIns="0" tIns="0" bIns="0" anchor="t">
            <a:spAutoFit/>
          </a:bodyPr>
          <a:lstStyle/>
          <a:p>
            <a:pPr algn="ctr">
              <a:spcAft>
                <a:spcPts val="0"/>
              </a:spcAft>
            </a:pPr>
            <a:r>
              <a:rPr sz="2200" b="1" i="0">
                <a:solidFill>
                  <a:srgbClr val="FFFFFF"/>
                </a:solidFill>
                <a:latin typeface="Calibri"/>
              </a:rPr>
              <a:t>ARP Spoofing</a:t>
            </a:r>
          </a:p>
        </p:txBody>
      </p:sp>
      <p:sp>
        <p:nvSpPr>
          <p:cNvPr id="20" name="TextBox 19"/>
          <p:cNvSpPr txBox="1"/>
          <p:nvPr/>
        </p:nvSpPr>
        <p:spPr>
          <a:xfrm>
            <a:off x="8412480" y="2697480"/>
            <a:ext cx="2926080" cy="45720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gateway IP seen</a:t>
            </a:r>
          </a:p>
        </p:txBody>
      </p:sp>
      <p:sp>
        <p:nvSpPr>
          <p:cNvPr id="21" name="TextBox 20"/>
          <p:cNvSpPr txBox="1"/>
          <p:nvPr/>
        </p:nvSpPr>
        <p:spPr>
          <a:xfrm>
            <a:off x="8412480" y="3200400"/>
            <a:ext cx="2926080" cy="45720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with a different</a:t>
            </a:r>
          </a:p>
        </p:txBody>
      </p:sp>
      <p:sp>
        <p:nvSpPr>
          <p:cNvPr id="22" name="TextBox 21"/>
          <p:cNvSpPr txBox="1"/>
          <p:nvPr/>
        </p:nvSpPr>
        <p:spPr>
          <a:xfrm>
            <a:off x="8412480" y="3703320"/>
            <a:ext cx="2926080" cy="457200"/>
          </a:xfrm>
          <a:prstGeom prst="rect">
            <a:avLst/>
          </a:prstGeom>
          <a:noFill/>
        </p:spPr>
        <p:txBody>
          <a:bodyPr wrap="square" lIns="0" rIns="0" tIns="0" bIns="0" anchor="t">
            <a:spAutoFit/>
          </a:bodyPr>
          <a:lstStyle/>
          <a:p>
            <a:pPr algn="ctr">
              <a:spcAft>
                <a:spcPts val="0"/>
              </a:spcAft>
            </a:pPr>
            <a:r>
              <a:rPr sz="1600" b="0" i="0">
                <a:solidFill>
                  <a:srgbClr val="1F2937"/>
                </a:solidFill>
                <a:latin typeface="Calibri"/>
              </a:rPr>
              <a:t>MAC address</a:t>
            </a:r>
          </a:p>
        </p:txBody>
      </p:sp>
      <p:sp>
        <p:nvSpPr>
          <p:cNvPr id="23" name="Rounded Rectangle 22"/>
          <p:cNvSpPr/>
          <p:nvPr/>
        </p:nvSpPr>
        <p:spPr>
          <a:xfrm>
            <a:off x="9326880" y="4251960"/>
            <a:ext cx="1097280" cy="329184"/>
          </a:xfrm>
          <a:prstGeom prst="roundRect">
            <a:avLst>
              <a:gd name="adj" fmla="val 50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a:solidFill>
                  <a:srgbClr val="FFFFFF"/>
                </a:solidFill>
                <a:latin typeface="Calibri"/>
              </a:rPr>
              <a:t>critical</a:t>
            </a:r>
          </a:p>
        </p:txBody>
      </p:sp>
      <p:sp>
        <p:nvSpPr>
          <p:cNvPr id="24" name="TextBox 23"/>
          <p:cNvSpPr txBox="1"/>
          <p:nvPr/>
        </p:nvSpPr>
        <p:spPr>
          <a:xfrm>
            <a:off x="548640" y="5029200"/>
            <a:ext cx="11064240" cy="1097280"/>
          </a:xfrm>
          <a:prstGeom prst="rect">
            <a:avLst/>
          </a:prstGeom>
          <a:noFill/>
        </p:spPr>
        <p:txBody>
          <a:bodyPr wrap="square" lIns="0" rIns="0" tIns="0" bIns="0" anchor="t">
            <a:spAutoFit/>
          </a:bodyPr>
          <a:lstStyle/>
          <a:p>
            <a:pPr algn="l">
              <a:lnSpc>
                <a:spcPct val="110000"/>
              </a:lnSpc>
              <a:spcAft>
                <a:spcPts val="0"/>
              </a:spcAft>
            </a:pPr>
            <a:r>
              <a:rPr sz="1600" b="1" i="0">
                <a:solidFill>
                  <a:srgbClr val="14213D"/>
                </a:solidFill>
                <a:latin typeface="Calibri"/>
              </a:rPr>
              <a:t>All rules are deterministic. </a:t>
            </a:r>
            <a:r>
              <a:rPr sz="1600" b="0" i="0">
                <a:solidFill>
                  <a:srgbClr val="1F2937"/>
                </a:solidFill>
                <a:latin typeface="Calibri"/>
              </a:rPr>
              <a:t>Each keeps a few seconds of history in a sliding window, compares a count against a threshold, and raises an alert with a cool-down so one attack gives one alert.</a:t>
            </a:r>
          </a:p>
        </p:txBody>
      </p:sp>
      <p:sp>
        <p:nvSpPr>
          <p:cNvPr id="25" name="TextBox 24"/>
          <p:cNvSpPr txBox="1"/>
          <p:nvPr/>
        </p:nvSpPr>
        <p:spPr>
          <a:xfrm>
            <a:off x="548640" y="6419088"/>
            <a:ext cx="82296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Final Evaluation</a:t>
            </a:r>
          </a:p>
        </p:txBody>
      </p:sp>
      <p:sp>
        <p:nvSpPr>
          <p:cNvPr id="26" name="TextBox 25"/>
          <p:cNvSpPr txBox="1"/>
          <p:nvPr/>
        </p:nvSpPr>
        <p:spPr>
          <a:xfrm>
            <a:off x="10881360" y="6419088"/>
            <a:ext cx="73152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Testing</a:t>
            </a:r>
          </a:p>
        </p:txBody>
      </p:sp>
      <p:sp>
        <p:nvSpPr>
          <p:cNvPr id="3" name="Rounded Rectangle 2"/>
          <p:cNvSpPr/>
          <p:nvPr/>
        </p:nvSpPr>
        <p:spPr>
          <a:xfrm>
            <a:off x="548640" y="1508760"/>
            <a:ext cx="539496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4846320" cy="365760"/>
          </a:xfrm>
          <a:prstGeom prst="rect">
            <a:avLst/>
          </a:prstGeom>
          <a:noFill/>
        </p:spPr>
        <p:txBody>
          <a:bodyPr wrap="square" lIns="0" rIns="0" tIns="0" bIns="0" anchor="t">
            <a:spAutoFit/>
          </a:bodyPr>
          <a:lstStyle/>
          <a:p>
            <a:pPr algn="l">
              <a:spcAft>
                <a:spcPts val="0"/>
              </a:spcAft>
            </a:pPr>
            <a:r>
              <a:rPr sz="1300" b="1" i="0">
                <a:solidFill>
                  <a:srgbClr val="5B6472"/>
                </a:solidFill>
                <a:latin typeface="Calibri"/>
              </a:rPr>
              <a:t>UNIT TESTS</a:t>
            </a:r>
          </a:p>
        </p:txBody>
      </p:sp>
      <p:sp>
        <p:nvSpPr>
          <p:cNvPr id="5" name="TextBox 4"/>
          <p:cNvSpPr txBox="1"/>
          <p:nvPr/>
        </p:nvSpPr>
        <p:spPr>
          <a:xfrm>
            <a:off x="822960" y="2103120"/>
            <a:ext cx="1828800" cy="914400"/>
          </a:xfrm>
          <a:prstGeom prst="rect">
            <a:avLst/>
          </a:prstGeom>
          <a:noFill/>
        </p:spPr>
        <p:txBody>
          <a:bodyPr wrap="square" lIns="0" rIns="0" tIns="0" bIns="0" anchor="t">
            <a:spAutoFit/>
          </a:bodyPr>
          <a:lstStyle/>
          <a:p>
            <a:pPr algn="l">
              <a:spcAft>
                <a:spcPts val="0"/>
              </a:spcAft>
            </a:pPr>
            <a:r>
              <a:rPr sz="4400" b="1" i="0">
                <a:solidFill>
                  <a:srgbClr val="1B7F73"/>
                </a:solidFill>
                <a:latin typeface="Calibri"/>
              </a:rPr>
              <a:t>10 / 10</a:t>
            </a:r>
          </a:p>
        </p:txBody>
      </p:sp>
      <p:sp>
        <p:nvSpPr>
          <p:cNvPr id="6" name="TextBox 5"/>
          <p:cNvSpPr txBox="1"/>
          <p:nvPr/>
        </p:nvSpPr>
        <p:spPr>
          <a:xfrm>
            <a:off x="2926080" y="2240280"/>
            <a:ext cx="2926080" cy="914400"/>
          </a:xfrm>
          <a:prstGeom prst="rect">
            <a:avLst/>
          </a:prstGeom>
          <a:noFill/>
        </p:spPr>
        <p:txBody>
          <a:bodyPr wrap="square" lIns="0" rIns="0" tIns="0" bIns="0" anchor="t">
            <a:spAutoFit/>
          </a:bodyPr>
          <a:lstStyle/>
          <a:p>
            <a:pPr algn="l">
              <a:spcAft>
                <a:spcPts val="200"/>
              </a:spcAft>
            </a:pPr>
            <a:r>
              <a:rPr sz="1500" b="0" i="0">
                <a:solidFill>
                  <a:srgbClr val="1F2937"/>
                </a:solidFill>
                <a:latin typeface="Calibri"/>
              </a:rPr>
              <a:t>tests passing</a:t>
            </a:r>
          </a:p>
          <a:p>
            <a:pPr algn="l">
              <a:spcAft>
                <a:spcPts val="200"/>
              </a:spcAft>
            </a:pPr>
            <a:r>
              <a:rPr sz="1500" b="0" i="0">
                <a:solidFill>
                  <a:srgbClr val="1F2937"/>
                </a:solidFill>
                <a:latin typeface="Calibri"/>
              </a:rPr>
              <a:t>one per rule, with</a:t>
            </a:r>
          </a:p>
          <a:p>
            <a:pPr algn="l">
              <a:spcAft>
                <a:spcPts val="200"/>
              </a:spcAft>
            </a:pPr>
            <a:r>
              <a:rPr sz="1500" b="0" i="0">
                <a:solidFill>
                  <a:srgbClr val="1F2937"/>
                </a:solidFill>
                <a:latin typeface="Calibri"/>
              </a:rPr>
              <a:t>positive and negative cases</a:t>
            </a:r>
          </a:p>
        </p:txBody>
      </p:sp>
      <p:sp>
        <p:nvSpPr>
          <p:cNvPr id="7" name="Rounded Rectangle 6"/>
          <p:cNvSpPr/>
          <p:nvPr/>
        </p:nvSpPr>
        <p:spPr>
          <a:xfrm>
            <a:off x="6126480" y="1508760"/>
            <a:ext cx="539496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365760"/>
          </a:xfrm>
          <a:prstGeom prst="rect">
            <a:avLst/>
          </a:prstGeom>
          <a:noFill/>
        </p:spPr>
        <p:txBody>
          <a:bodyPr wrap="square" lIns="0" rIns="0" tIns="0" bIns="0" anchor="t">
            <a:spAutoFit/>
          </a:bodyPr>
          <a:lstStyle/>
          <a:p>
            <a:pPr algn="l">
              <a:spcAft>
                <a:spcPts val="0"/>
              </a:spcAft>
            </a:pPr>
            <a:r>
              <a:rPr sz="1300" b="1" i="0">
                <a:solidFill>
                  <a:srgbClr val="5B6472"/>
                </a:solidFill>
                <a:latin typeface="Calibri"/>
              </a:rPr>
              <a:t>INTEGRATION TESTS</a:t>
            </a:r>
          </a:p>
        </p:txBody>
      </p:sp>
      <p:sp>
        <p:nvSpPr>
          <p:cNvPr id="9" name="TextBox 8"/>
          <p:cNvSpPr txBox="1"/>
          <p:nvPr/>
        </p:nvSpPr>
        <p:spPr>
          <a:xfrm>
            <a:off x="6400800" y="2148840"/>
            <a:ext cx="4846320" cy="1097280"/>
          </a:xfrm>
          <a:prstGeom prst="rect">
            <a:avLst/>
          </a:prstGeom>
          <a:noFill/>
        </p:spPr>
        <p:txBody>
          <a:bodyPr wrap="square" lIns="0" rIns="0" tIns="0" bIns="0" anchor="t">
            <a:spAutoFit/>
          </a:bodyPr>
          <a:lstStyle/>
          <a:p>
            <a:pPr algn="l">
              <a:spcAft>
                <a:spcPts val="400"/>
              </a:spcAft>
            </a:pPr>
            <a:r>
              <a:rPr sz="1400" b="0" i="0">
                <a:solidFill>
                  <a:srgbClr val="1F2937"/>
                </a:solidFill>
                <a:latin typeface="Calibri"/>
              </a:rPr>
              <a:t>Real port scan and SYN flood against the host</a:t>
            </a:r>
          </a:p>
          <a:p>
            <a:pPr algn="l">
              <a:spcAft>
                <a:spcPts val="400"/>
              </a:spcAft>
            </a:pPr>
            <a:r>
              <a:rPr sz="1400" b="0" i="0">
                <a:solidFill>
                  <a:srgbClr val="1F2937"/>
                </a:solidFill>
                <a:latin typeface="Calibri"/>
              </a:rPr>
              <a:t>Alert reached the dashboard and log in a few ms</a:t>
            </a:r>
          </a:p>
          <a:p>
            <a:pPr algn="l">
              <a:spcAft>
                <a:spcPts val="400"/>
              </a:spcAft>
            </a:pPr>
            <a:r>
              <a:rPr sz="1400" b="0" i="0">
                <a:solidFill>
                  <a:srgbClr val="1F2937"/>
                </a:solidFill>
                <a:latin typeface="Calibri"/>
              </a:rPr>
              <a:t>No false alarm during normal browsing</a:t>
            </a:r>
          </a:p>
        </p:txBody>
      </p:sp>
      <p:sp>
        <p:nvSpPr>
          <p:cNvPr id="10" name="TextBox 9"/>
          <p:cNvSpPr txBox="1"/>
          <p:nvPr/>
        </p:nvSpPr>
        <p:spPr>
          <a:xfrm>
            <a:off x="548640" y="3657600"/>
            <a:ext cx="10972800" cy="365760"/>
          </a:xfrm>
          <a:prstGeom prst="rect">
            <a:avLst/>
          </a:prstGeom>
          <a:noFill/>
        </p:spPr>
        <p:txBody>
          <a:bodyPr wrap="square" lIns="0" rIns="0" tIns="0" bIns="0" anchor="t">
            <a:spAutoFit/>
          </a:bodyPr>
          <a:lstStyle/>
          <a:p>
            <a:pPr algn="l">
              <a:spcAft>
                <a:spcPts val="0"/>
              </a:spcAft>
            </a:pPr>
            <a:r>
              <a:rPr sz="1600" b="1" i="0">
                <a:solidFill>
                  <a:srgbClr val="14213D"/>
                </a:solidFill>
                <a:latin typeface="Calibri"/>
              </a:rPr>
              <a:t>What the negative tests confirm</a:t>
            </a:r>
          </a:p>
        </p:txBody>
      </p:sp>
      <p:sp>
        <p:nvSpPr>
          <p:cNvPr id="11" name="Oval 10"/>
          <p:cNvSpPr/>
          <p:nvPr/>
        </p:nvSpPr>
        <p:spPr>
          <a:xfrm>
            <a:off x="640080" y="4142232"/>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123944"/>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13" name="TextBox 12"/>
          <p:cNvSpPr txBox="1"/>
          <p:nvPr/>
        </p:nvSpPr>
        <p:spPr>
          <a:xfrm>
            <a:off x="1005840" y="4114800"/>
            <a:ext cx="51206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Reply (SYN-ACK) packets are not a scan</a:t>
            </a:r>
          </a:p>
        </p:txBody>
      </p:sp>
      <p:sp>
        <p:nvSpPr>
          <p:cNvPr id="14" name="Oval 13"/>
          <p:cNvSpPr/>
          <p:nvPr/>
        </p:nvSpPr>
        <p:spPr>
          <a:xfrm>
            <a:off x="6309360" y="4142232"/>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123944"/>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16" name="TextBox 15"/>
          <p:cNvSpPr txBox="1"/>
          <p:nvPr/>
        </p:nvSpPr>
        <p:spPr>
          <a:xfrm>
            <a:off x="6675120" y="4114800"/>
            <a:ext cx="51206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Slow activity below the threshold stays silent</a:t>
            </a:r>
          </a:p>
        </p:txBody>
      </p:sp>
      <p:sp>
        <p:nvSpPr>
          <p:cNvPr id="17" name="Oval 16"/>
          <p:cNvSpPr/>
          <p:nvPr/>
        </p:nvSpPr>
        <p:spPr>
          <a:xfrm>
            <a:off x="640080" y="4709160"/>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690872"/>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19" name="TextBox 18"/>
          <p:cNvSpPr txBox="1"/>
          <p:nvPr/>
        </p:nvSpPr>
        <p:spPr>
          <a:xfrm>
            <a:off x="1005840" y="4681728"/>
            <a:ext cx="51206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Completed handshakes are not a flood</a:t>
            </a:r>
          </a:p>
        </p:txBody>
      </p:sp>
      <p:sp>
        <p:nvSpPr>
          <p:cNvPr id="20" name="Oval 19"/>
          <p:cNvSpPr/>
          <p:nvPr/>
        </p:nvSpPr>
        <p:spPr>
          <a:xfrm>
            <a:off x="6309360" y="4709160"/>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690872"/>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22" name="TextBox 21"/>
          <p:cNvSpPr txBox="1"/>
          <p:nvPr/>
        </p:nvSpPr>
        <p:spPr>
          <a:xfrm>
            <a:off x="6675120" y="4681728"/>
            <a:ext cx="51206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A port scan is not mistaken for a flood</a:t>
            </a:r>
          </a:p>
        </p:txBody>
      </p:sp>
      <p:sp>
        <p:nvSpPr>
          <p:cNvPr id="23" name="Oval 22"/>
          <p:cNvSpPr/>
          <p:nvPr/>
        </p:nvSpPr>
        <p:spPr>
          <a:xfrm>
            <a:off x="640080" y="5276088"/>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257800"/>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25" name="TextBox 24"/>
          <p:cNvSpPr txBox="1"/>
          <p:nvPr/>
        </p:nvSpPr>
        <p:spPr>
          <a:xfrm>
            <a:off x="1005840" y="5248656"/>
            <a:ext cx="51206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Genuine ARP replies raise no alarm</a:t>
            </a:r>
          </a:p>
        </p:txBody>
      </p:sp>
      <p:sp>
        <p:nvSpPr>
          <p:cNvPr id="26" name="Oval 25"/>
          <p:cNvSpPr/>
          <p:nvPr/>
        </p:nvSpPr>
        <p:spPr>
          <a:xfrm>
            <a:off x="6309360" y="5276088"/>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5257800"/>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28" name="TextBox 27"/>
          <p:cNvSpPr txBox="1"/>
          <p:nvPr/>
        </p:nvSpPr>
        <p:spPr>
          <a:xfrm>
            <a:off x="6675120" y="5248656"/>
            <a:ext cx="51206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A cool-down stops duplicate alerts</a:t>
            </a:r>
          </a:p>
        </p:txBody>
      </p:sp>
      <p:sp>
        <p:nvSpPr>
          <p:cNvPr id="29" name="TextBox 28"/>
          <p:cNvSpPr txBox="1"/>
          <p:nvPr/>
        </p:nvSpPr>
        <p:spPr>
          <a:xfrm>
            <a:off x="548640" y="6419088"/>
            <a:ext cx="82296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Final Evaluation</a:t>
            </a:r>
          </a:p>
        </p:txBody>
      </p:sp>
      <p:sp>
        <p:nvSpPr>
          <p:cNvPr id="30" name="TextBox 29"/>
          <p:cNvSpPr txBox="1"/>
          <p:nvPr/>
        </p:nvSpPr>
        <p:spPr>
          <a:xfrm>
            <a:off x="10881360" y="6419088"/>
            <a:ext cx="73152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Results: Live Dashboard</a:t>
            </a:r>
          </a:p>
        </p:txBody>
      </p:sp>
      <p:pic>
        <p:nvPicPr>
          <p:cNvPr id="3" name="Picture 2" descr="dash_final.png"/>
          <p:cNvPicPr>
            <a:picLocks noChangeAspect="1"/>
          </p:cNvPicPr>
          <p:nvPr/>
        </p:nvPicPr>
        <p:blipFill>
          <a:blip r:embed="rId2"/>
          <a:stretch>
            <a:fillRect/>
          </a:stretch>
        </p:blipFill>
        <p:spPr>
          <a:xfrm>
            <a:off x="548640" y="1463040"/>
            <a:ext cx="7406640" cy="3977411"/>
          </a:xfrm>
          <a:prstGeom prst="rect">
            <a:avLst/>
          </a:prstGeom>
          <a:ln w="9525">
            <a:solidFill>
              <a:srgbClr val="D5DCE6"/>
            </a:solidFill>
          </a:ln>
        </p:spPr>
      </p:pic>
      <p:sp>
        <p:nvSpPr>
          <p:cNvPr id="4" name="TextBox 3"/>
          <p:cNvSpPr txBox="1"/>
          <p:nvPr/>
        </p:nvSpPr>
        <p:spPr>
          <a:xfrm>
            <a:off x="548640" y="5513603"/>
            <a:ext cx="7406640" cy="274320"/>
          </a:xfrm>
          <a:prstGeom prst="rect">
            <a:avLst/>
          </a:prstGeom>
          <a:noFill/>
        </p:spPr>
        <p:txBody>
          <a:bodyPr wrap="square" lIns="0" rIns="0" tIns="0" bIns="0" anchor="t">
            <a:spAutoFit/>
          </a:bodyPr>
          <a:lstStyle/>
          <a:p>
            <a:pPr algn="ctr">
              <a:spcAft>
                <a:spcPts val="0"/>
              </a:spcAft>
            </a:pPr>
            <a:r>
              <a:rPr sz="1200" b="0" i="0">
                <a:solidFill>
                  <a:srgbClr val="5B6472"/>
                </a:solidFill>
                <a:latin typeface="Calibri"/>
              </a:rPr>
              <a:t>Dashboard after detecting a port scan and a SYN flood</a:t>
            </a:r>
          </a:p>
        </p:txBody>
      </p:sp>
      <p:sp>
        <p:nvSpPr>
          <p:cNvPr id="5" name="Rounded Rectangle 4"/>
          <p:cNvSpPr/>
          <p:nvPr/>
        </p:nvSpPr>
        <p:spPr>
          <a:xfrm>
            <a:off x="8229600" y="1554480"/>
            <a:ext cx="329184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58200" y="1664207"/>
            <a:ext cx="1371600" cy="640080"/>
          </a:xfrm>
          <a:prstGeom prst="rect">
            <a:avLst/>
          </a:prstGeom>
          <a:noFill/>
        </p:spPr>
        <p:txBody>
          <a:bodyPr wrap="square" lIns="0" rIns="0" tIns="0" bIns="0" anchor="t">
            <a:spAutoFit/>
          </a:bodyPr>
          <a:lstStyle/>
          <a:p>
            <a:pPr algn="l">
              <a:spcAft>
                <a:spcPts val="0"/>
              </a:spcAft>
            </a:pPr>
            <a:r>
              <a:rPr sz="3000" b="1" i="0">
                <a:solidFill>
                  <a:srgbClr val="14213D"/>
                </a:solidFill>
                <a:latin typeface="Calibri"/>
              </a:rPr>
              <a:t>3</a:t>
            </a:r>
          </a:p>
        </p:txBody>
      </p:sp>
      <p:sp>
        <p:nvSpPr>
          <p:cNvPr id="7" name="TextBox 6"/>
          <p:cNvSpPr txBox="1"/>
          <p:nvPr/>
        </p:nvSpPr>
        <p:spPr>
          <a:xfrm>
            <a:off x="9692640" y="1828800"/>
            <a:ext cx="1737360" cy="45720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attacks detected</a:t>
            </a:r>
          </a:p>
        </p:txBody>
      </p:sp>
      <p:sp>
        <p:nvSpPr>
          <p:cNvPr id="8" name="Rounded Rectangle 7"/>
          <p:cNvSpPr/>
          <p:nvPr/>
        </p:nvSpPr>
        <p:spPr>
          <a:xfrm>
            <a:off x="8229600" y="2697480"/>
            <a:ext cx="329184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2807208"/>
            <a:ext cx="1371600" cy="640080"/>
          </a:xfrm>
          <a:prstGeom prst="rect">
            <a:avLst/>
          </a:prstGeom>
          <a:noFill/>
        </p:spPr>
        <p:txBody>
          <a:bodyPr wrap="square" lIns="0" rIns="0" tIns="0" bIns="0" anchor="t">
            <a:spAutoFit/>
          </a:bodyPr>
          <a:lstStyle/>
          <a:p>
            <a:pPr algn="l">
              <a:spcAft>
                <a:spcPts val="0"/>
              </a:spcAft>
            </a:pPr>
            <a:r>
              <a:rPr sz="3000" b="1" i="0">
                <a:solidFill>
                  <a:srgbClr val="14213D"/>
                </a:solidFill>
                <a:latin typeface="Calibri"/>
              </a:rPr>
              <a:t>~2 ms</a:t>
            </a:r>
          </a:p>
        </p:txBody>
      </p:sp>
      <p:sp>
        <p:nvSpPr>
          <p:cNvPr id="10" name="TextBox 9"/>
          <p:cNvSpPr txBox="1"/>
          <p:nvPr/>
        </p:nvSpPr>
        <p:spPr>
          <a:xfrm>
            <a:off x="9692640" y="2971800"/>
            <a:ext cx="1737360" cy="45720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detection latency</a:t>
            </a:r>
          </a:p>
        </p:txBody>
      </p:sp>
      <p:sp>
        <p:nvSpPr>
          <p:cNvPr id="11" name="Rounded Rectangle 10"/>
          <p:cNvSpPr/>
          <p:nvPr/>
        </p:nvSpPr>
        <p:spPr>
          <a:xfrm>
            <a:off x="8229600" y="3840480"/>
            <a:ext cx="329184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3950208"/>
            <a:ext cx="1371600" cy="640080"/>
          </a:xfrm>
          <a:prstGeom prst="rect">
            <a:avLst/>
          </a:prstGeom>
          <a:noFill/>
        </p:spPr>
        <p:txBody>
          <a:bodyPr wrap="square" lIns="0" rIns="0" tIns="0" bIns="0" anchor="t">
            <a:spAutoFit/>
          </a:bodyPr>
          <a:lstStyle/>
          <a:p>
            <a:pPr algn="l">
              <a:spcAft>
                <a:spcPts val="0"/>
              </a:spcAft>
            </a:pPr>
            <a:r>
              <a:rPr sz="3000" b="1" i="0">
                <a:solidFill>
                  <a:srgbClr val="14213D"/>
                </a:solidFill>
                <a:latin typeface="Calibri"/>
              </a:rPr>
              <a:t>10/10</a:t>
            </a:r>
          </a:p>
        </p:txBody>
      </p:sp>
      <p:sp>
        <p:nvSpPr>
          <p:cNvPr id="13" name="TextBox 12"/>
          <p:cNvSpPr txBox="1"/>
          <p:nvPr/>
        </p:nvSpPr>
        <p:spPr>
          <a:xfrm>
            <a:off x="9692640" y="4114800"/>
            <a:ext cx="1737360" cy="45720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unit tests pass</a:t>
            </a:r>
          </a:p>
        </p:txBody>
      </p:sp>
      <p:sp>
        <p:nvSpPr>
          <p:cNvPr id="14" name="Rounded Rectangle 13"/>
          <p:cNvSpPr/>
          <p:nvPr/>
        </p:nvSpPr>
        <p:spPr>
          <a:xfrm>
            <a:off x="8229600" y="4983480"/>
            <a:ext cx="3291840" cy="960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5093208"/>
            <a:ext cx="1371600" cy="640080"/>
          </a:xfrm>
          <a:prstGeom prst="rect">
            <a:avLst/>
          </a:prstGeom>
          <a:noFill/>
        </p:spPr>
        <p:txBody>
          <a:bodyPr wrap="square" lIns="0" rIns="0" tIns="0" bIns="0" anchor="t">
            <a:spAutoFit/>
          </a:bodyPr>
          <a:lstStyle/>
          <a:p>
            <a:pPr algn="l">
              <a:spcAft>
                <a:spcPts val="0"/>
              </a:spcAft>
            </a:pPr>
            <a:r>
              <a:rPr sz="3000" b="1" i="0">
                <a:solidFill>
                  <a:srgbClr val="14213D"/>
                </a:solidFill>
                <a:latin typeface="Calibri"/>
              </a:rPr>
              <a:t>~200</a:t>
            </a:r>
          </a:p>
        </p:txBody>
      </p:sp>
      <p:sp>
        <p:nvSpPr>
          <p:cNvPr id="16" name="TextBox 15"/>
          <p:cNvSpPr txBox="1"/>
          <p:nvPr/>
        </p:nvSpPr>
        <p:spPr>
          <a:xfrm>
            <a:off x="9692640" y="5257800"/>
            <a:ext cx="1737360" cy="457200"/>
          </a:xfrm>
          <a:prstGeom prst="rect">
            <a:avLst/>
          </a:prstGeom>
          <a:noFill/>
        </p:spPr>
        <p:txBody>
          <a:bodyPr wrap="square" lIns="0" rIns="0" tIns="0" bIns="0" anchor="t">
            <a:spAutoFit/>
          </a:bodyPr>
          <a:lstStyle/>
          <a:p>
            <a:pPr algn="l">
              <a:spcAft>
                <a:spcPts val="0"/>
              </a:spcAft>
            </a:pPr>
            <a:r>
              <a:rPr sz="1400" b="0" i="0">
                <a:solidFill>
                  <a:srgbClr val="1F2937"/>
                </a:solidFill>
                <a:latin typeface="Calibri"/>
              </a:rPr>
              <a:t>lines of code</a:t>
            </a:r>
          </a:p>
        </p:txBody>
      </p:sp>
      <p:sp>
        <p:nvSpPr>
          <p:cNvPr id="17" name="TextBox 16"/>
          <p:cNvSpPr txBox="1"/>
          <p:nvPr/>
        </p:nvSpPr>
        <p:spPr>
          <a:xfrm>
            <a:off x="548640" y="6419088"/>
            <a:ext cx="82296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Final Evaluation</a:t>
            </a:r>
          </a:p>
        </p:txBody>
      </p:sp>
      <p:sp>
        <p:nvSpPr>
          <p:cNvPr id="18" name="TextBox 17"/>
          <p:cNvSpPr txBox="1"/>
          <p:nvPr/>
        </p:nvSpPr>
        <p:spPr>
          <a:xfrm>
            <a:off x="10881360" y="6419088"/>
            <a:ext cx="73152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spcAft>
                <a:spcPts val="0"/>
              </a:spcAft>
            </a:pPr>
            <a:r>
              <a:rPr sz="3200" b="1" i="0">
                <a:solidFill>
                  <a:srgbClr val="14213D"/>
                </a:solidFill>
                <a:latin typeface="Calibri"/>
              </a:rPr>
              <a:t>Conclusion and Future Scope</a:t>
            </a:r>
          </a:p>
        </p:txBody>
      </p:sp>
      <p:sp>
        <p:nvSpPr>
          <p:cNvPr id="3" name="TextBox 2"/>
          <p:cNvSpPr txBox="1"/>
          <p:nvPr/>
        </p:nvSpPr>
        <p:spPr>
          <a:xfrm>
            <a:off x="548640" y="1417320"/>
            <a:ext cx="11064240" cy="1371600"/>
          </a:xfrm>
          <a:prstGeom prst="rect">
            <a:avLst/>
          </a:prstGeom>
          <a:noFill/>
        </p:spPr>
        <p:txBody>
          <a:bodyPr wrap="square" lIns="0" rIns="0" tIns="0" bIns="0" anchor="t">
            <a:spAutoFit/>
          </a:bodyPr>
          <a:lstStyle/>
          <a:p>
            <a:pPr algn="l">
              <a:lnSpc>
                <a:spcPct val="115000"/>
              </a:lnSpc>
              <a:spcAft>
                <a:spcPts val="0"/>
              </a:spcAft>
            </a:pPr>
            <a:r>
              <a:rPr sz="1800" b="1" i="0">
                <a:solidFill>
                  <a:srgbClr val="14213D"/>
                </a:solidFill>
                <a:latin typeface="Calibri"/>
              </a:rPr>
              <a:t>A complete, working NIDS. </a:t>
            </a:r>
            <a:r>
              <a:rPr sz="1800" b="0" i="0">
                <a:solidFill>
                  <a:srgbClr val="1F2937"/>
                </a:solidFill>
                <a:latin typeface="Calibri"/>
              </a:rPr>
              <a:t>All objectives met: live capture, three transparent detection rules, an alert pipeline, and a real-time dashboard, verified by ten unit tests and live attacks, in about 200 lines of code.</a:t>
            </a:r>
          </a:p>
        </p:txBody>
      </p:sp>
      <p:sp>
        <p:nvSpPr>
          <p:cNvPr id="4" name="TextBox 3"/>
          <p:cNvSpPr txBox="1"/>
          <p:nvPr/>
        </p:nvSpPr>
        <p:spPr>
          <a:xfrm>
            <a:off x="548640" y="3200400"/>
            <a:ext cx="5394960" cy="365760"/>
          </a:xfrm>
          <a:prstGeom prst="rect">
            <a:avLst/>
          </a:prstGeom>
          <a:noFill/>
        </p:spPr>
        <p:txBody>
          <a:bodyPr wrap="square" lIns="0" rIns="0" tIns="0" bIns="0" anchor="t">
            <a:spAutoFit/>
          </a:bodyPr>
          <a:lstStyle/>
          <a:p>
            <a:pPr algn="l">
              <a:spcAft>
                <a:spcPts val="0"/>
              </a:spcAft>
            </a:pPr>
            <a:r>
              <a:rPr sz="1300" b="1" i="0">
                <a:solidFill>
                  <a:srgbClr val="1B7F73"/>
                </a:solidFill>
                <a:latin typeface="Calibri"/>
              </a:rPr>
              <a:t>KEY STRENGTHS</a:t>
            </a:r>
          </a:p>
        </p:txBody>
      </p:sp>
      <p:sp>
        <p:nvSpPr>
          <p:cNvPr id="5" name="Oval 4"/>
          <p:cNvSpPr/>
          <p:nvPr/>
        </p:nvSpPr>
        <p:spPr>
          <a:xfrm>
            <a:off x="640080" y="3639312"/>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621024"/>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7" name="TextBox 6"/>
          <p:cNvSpPr txBox="1"/>
          <p:nvPr/>
        </p:nvSpPr>
        <p:spPr>
          <a:xfrm>
            <a:off x="1005840" y="3611880"/>
            <a:ext cx="475488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Every alert traceable to a threshold</a:t>
            </a:r>
          </a:p>
        </p:txBody>
      </p:sp>
      <p:sp>
        <p:nvSpPr>
          <p:cNvPr id="8" name="Oval 7"/>
          <p:cNvSpPr/>
          <p:nvPr/>
        </p:nvSpPr>
        <p:spPr>
          <a:xfrm>
            <a:off x="640080" y="4142232"/>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123944"/>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10" name="TextBox 9"/>
          <p:cNvSpPr txBox="1"/>
          <p:nvPr/>
        </p:nvSpPr>
        <p:spPr>
          <a:xfrm>
            <a:off x="1005840" y="4114800"/>
            <a:ext cx="475488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Real-time: under one second</a:t>
            </a:r>
          </a:p>
        </p:txBody>
      </p:sp>
      <p:sp>
        <p:nvSpPr>
          <p:cNvPr id="11" name="Oval 10"/>
          <p:cNvSpPr/>
          <p:nvPr/>
        </p:nvSpPr>
        <p:spPr>
          <a:xfrm>
            <a:off x="640080" y="4645152"/>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626864"/>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13" name="TextBox 12"/>
          <p:cNvSpPr txBox="1"/>
          <p:nvPr/>
        </p:nvSpPr>
        <p:spPr>
          <a:xfrm>
            <a:off x="1005840" y="4617720"/>
            <a:ext cx="475488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Small, readable, easy to extend</a:t>
            </a:r>
          </a:p>
        </p:txBody>
      </p:sp>
      <p:sp>
        <p:nvSpPr>
          <p:cNvPr id="14" name="Oval 13"/>
          <p:cNvSpPr/>
          <p:nvPr/>
        </p:nvSpPr>
        <p:spPr>
          <a:xfrm>
            <a:off x="640080" y="5148072"/>
            <a:ext cx="237744" cy="237744"/>
          </a:xfrm>
          <a:prstGeom prst="ellipse">
            <a:avLst/>
          </a:prstGeom>
          <a:solidFill>
            <a:srgbClr val="1B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5129784"/>
            <a:ext cx="237744" cy="274320"/>
          </a:xfrm>
          <a:prstGeom prst="rect">
            <a:avLst/>
          </a:prstGeom>
          <a:noFill/>
        </p:spPr>
        <p:txBody>
          <a:bodyPr wrap="square" lIns="0" rIns="0" tIns="0" bIns="0" anchor="t">
            <a:spAutoFit/>
          </a:bodyPr>
          <a:lstStyle/>
          <a:p>
            <a:pPr algn="ctr">
              <a:spcAft>
                <a:spcPts val="0"/>
              </a:spcAft>
            </a:pPr>
            <a:r>
              <a:rPr sz="1300" b="1" i="0">
                <a:solidFill>
                  <a:srgbClr val="FFFFFF"/>
                </a:solidFill>
                <a:latin typeface="Calibri"/>
              </a:rPr>
              <a:t>✓</a:t>
            </a:r>
          </a:p>
        </p:txBody>
      </p:sp>
      <p:sp>
        <p:nvSpPr>
          <p:cNvPr id="16" name="TextBox 15"/>
          <p:cNvSpPr txBox="1"/>
          <p:nvPr/>
        </p:nvSpPr>
        <p:spPr>
          <a:xfrm>
            <a:off x="1005840" y="5120640"/>
            <a:ext cx="475488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Fails safely if the server is down</a:t>
            </a:r>
          </a:p>
        </p:txBody>
      </p:sp>
      <p:sp>
        <p:nvSpPr>
          <p:cNvPr id="17" name="TextBox 16"/>
          <p:cNvSpPr txBox="1"/>
          <p:nvPr/>
        </p:nvSpPr>
        <p:spPr>
          <a:xfrm>
            <a:off x="6400800" y="3200400"/>
            <a:ext cx="5120640" cy="365760"/>
          </a:xfrm>
          <a:prstGeom prst="rect">
            <a:avLst/>
          </a:prstGeom>
          <a:noFill/>
        </p:spPr>
        <p:txBody>
          <a:bodyPr wrap="square" lIns="0" rIns="0" tIns="0" bIns="0" anchor="t">
            <a:spAutoFit/>
          </a:bodyPr>
          <a:lstStyle/>
          <a:p>
            <a:pPr algn="l">
              <a:spcAft>
                <a:spcPts val="0"/>
              </a:spcAft>
            </a:pPr>
            <a:r>
              <a:rPr sz="1300" b="1" i="0">
                <a:solidFill>
                  <a:srgbClr val="5B6472"/>
                </a:solidFill>
                <a:latin typeface="Calibri"/>
              </a:rPr>
              <a:t>FUTURE SCOPE</a:t>
            </a:r>
          </a:p>
        </p:txBody>
      </p:sp>
      <p:sp>
        <p:nvSpPr>
          <p:cNvPr id="18" name="Oval 17"/>
          <p:cNvSpPr/>
          <p:nvPr/>
        </p:nvSpPr>
        <p:spPr>
          <a:xfrm>
            <a:off x="6492240" y="3666744"/>
            <a:ext cx="146304" cy="146304"/>
          </a:xfrm>
          <a:prstGeom prst="ellipse">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3611880"/>
            <a:ext cx="46634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More rules: ICMP flood, DNS tunnelling</a:t>
            </a:r>
          </a:p>
        </p:txBody>
      </p:sp>
      <p:sp>
        <p:nvSpPr>
          <p:cNvPr id="20" name="Oval 19"/>
          <p:cNvSpPr/>
          <p:nvPr/>
        </p:nvSpPr>
        <p:spPr>
          <a:xfrm>
            <a:off x="6492240" y="4169663"/>
            <a:ext cx="146304" cy="146304"/>
          </a:xfrm>
          <a:prstGeom prst="ellipse">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4114800"/>
            <a:ext cx="46634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E-mail or messaging notifications</a:t>
            </a:r>
          </a:p>
        </p:txBody>
      </p:sp>
      <p:sp>
        <p:nvSpPr>
          <p:cNvPr id="22" name="Oval 21"/>
          <p:cNvSpPr/>
          <p:nvPr/>
        </p:nvSpPr>
        <p:spPr>
          <a:xfrm>
            <a:off x="6492240" y="4672584"/>
            <a:ext cx="146304" cy="146304"/>
          </a:xfrm>
          <a:prstGeom prst="ellipse">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4617720"/>
            <a:ext cx="46634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Store alerts in SQLite, searchable</a:t>
            </a:r>
          </a:p>
        </p:txBody>
      </p:sp>
      <p:sp>
        <p:nvSpPr>
          <p:cNvPr id="24" name="Oval 23"/>
          <p:cNvSpPr/>
          <p:nvPr/>
        </p:nvSpPr>
        <p:spPr>
          <a:xfrm>
            <a:off x="6492240" y="5175504"/>
            <a:ext cx="146304" cy="146304"/>
          </a:xfrm>
          <a:prstGeom prst="ellipse">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12280" y="5120640"/>
            <a:ext cx="46634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Authenticate the sensor to the server</a:t>
            </a:r>
          </a:p>
        </p:txBody>
      </p:sp>
      <p:sp>
        <p:nvSpPr>
          <p:cNvPr id="26" name="Oval 25"/>
          <p:cNvSpPr/>
          <p:nvPr/>
        </p:nvSpPr>
        <p:spPr>
          <a:xfrm>
            <a:off x="6492240" y="5678424"/>
            <a:ext cx="146304" cy="146304"/>
          </a:xfrm>
          <a:prstGeom prst="ellipse">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12280" y="5623560"/>
            <a:ext cx="4663440" cy="365760"/>
          </a:xfrm>
          <a:prstGeom prst="rect">
            <a:avLst/>
          </a:prstGeom>
          <a:noFill/>
        </p:spPr>
        <p:txBody>
          <a:bodyPr wrap="square" lIns="0" rIns="0" tIns="0" bIns="0" anchor="t">
            <a:spAutoFit/>
          </a:bodyPr>
          <a:lstStyle/>
          <a:p>
            <a:pPr algn="l">
              <a:spcAft>
                <a:spcPts val="0"/>
              </a:spcAft>
            </a:pPr>
            <a:r>
              <a:rPr sz="1500" b="0" i="0">
                <a:solidFill>
                  <a:srgbClr val="1F2937"/>
                </a:solidFill>
                <a:latin typeface="Calibri"/>
              </a:rPr>
              <a:t>Active response: firewall the attacker</a:t>
            </a:r>
          </a:p>
        </p:txBody>
      </p:sp>
      <p:sp>
        <p:nvSpPr>
          <p:cNvPr id="28" name="TextBox 27"/>
          <p:cNvSpPr txBox="1"/>
          <p:nvPr/>
        </p:nvSpPr>
        <p:spPr>
          <a:xfrm>
            <a:off x="548640" y="5989320"/>
            <a:ext cx="11064240" cy="365760"/>
          </a:xfrm>
          <a:prstGeom prst="rect">
            <a:avLst/>
          </a:prstGeom>
          <a:noFill/>
        </p:spPr>
        <p:txBody>
          <a:bodyPr wrap="square" lIns="0" rIns="0" tIns="0" bIns="0" anchor="t">
            <a:spAutoFit/>
          </a:bodyPr>
          <a:lstStyle/>
          <a:p>
            <a:pPr algn="l">
              <a:spcAft>
                <a:spcPts val="0"/>
              </a:spcAft>
            </a:pPr>
            <a:r>
              <a:rPr sz="1400" b="1" i="0">
                <a:solidFill>
                  <a:srgbClr val="1B7F73"/>
                </a:solidFill>
                <a:latin typeface="Calibri"/>
              </a:rPr>
              <a:t>Thank you. Questions are welcome.   github.com/rohanpandey436/realtime-nids</a:t>
            </a:r>
          </a:p>
        </p:txBody>
      </p:sp>
      <p:sp>
        <p:nvSpPr>
          <p:cNvPr id="29" name="TextBox 28"/>
          <p:cNvSpPr txBox="1"/>
          <p:nvPr/>
        </p:nvSpPr>
        <p:spPr>
          <a:xfrm>
            <a:off x="548640" y="6419088"/>
            <a:ext cx="8229600" cy="274320"/>
          </a:xfrm>
          <a:prstGeom prst="rect">
            <a:avLst/>
          </a:prstGeom>
          <a:noFill/>
        </p:spPr>
        <p:txBody>
          <a:bodyPr wrap="square" lIns="0" rIns="0" tIns="0" bIns="0" anchor="t">
            <a:spAutoFit/>
          </a:bodyPr>
          <a:lstStyle/>
          <a:p>
            <a:pPr algn="l">
              <a:spcAft>
                <a:spcPts val="0"/>
              </a:spcAft>
            </a:pPr>
            <a:r>
              <a:rPr sz="1000" b="0" i="0">
                <a:solidFill>
                  <a:srgbClr val="5B6472"/>
                </a:solidFill>
                <a:latin typeface="Calibri"/>
              </a:rPr>
              <a:t>Real-Time NIDS  |  Rohan Pandey  |  Final Evaluation</a:t>
            </a:r>
          </a:p>
        </p:txBody>
      </p:sp>
      <p:sp>
        <p:nvSpPr>
          <p:cNvPr id="30" name="TextBox 29"/>
          <p:cNvSpPr txBox="1"/>
          <p:nvPr/>
        </p:nvSpPr>
        <p:spPr>
          <a:xfrm>
            <a:off x="10881360" y="6419088"/>
            <a:ext cx="731520" cy="274320"/>
          </a:xfrm>
          <a:prstGeom prst="rect">
            <a:avLst/>
          </a:prstGeom>
          <a:noFill/>
        </p:spPr>
        <p:txBody>
          <a:bodyPr wrap="square" lIns="0" rIns="0" tIns="0" bIns="0" anchor="t">
            <a:spAutoFit/>
          </a:bodyPr>
          <a:lstStyle/>
          <a:p>
            <a:pPr algn="r">
              <a:spcAft>
                <a:spcPts val="0"/>
              </a:spcAft>
            </a:pPr>
            <a:r>
              <a:rPr sz="1000" b="0" i="0">
                <a:solidFill>
                  <a:srgbClr val="5B6472"/>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